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タイトルテキスト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12" name="本文レベル1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タイトルテキスト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21" name="本文レベル1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2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タイトルテキスト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30" name="本文レベル1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3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タイトルテキスト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39" name="本文レベル1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タイトルテキスト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48" name="本文レベル1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タイトルテキスト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タイトルテキスト</a:t>
            </a:r>
          </a:p>
        </p:txBody>
      </p:sp>
      <p:sp>
        <p:nvSpPr>
          <p:cNvPr id="5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タイトルテキスト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73" name="本文レベル1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タイトルテキスト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本文レベル1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8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テキスト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タイトルテキスト</a:t>
            </a:r>
          </a:p>
        </p:txBody>
      </p:sp>
      <p:sp>
        <p:nvSpPr>
          <p:cNvPr id="3" name="本文レベル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1" y="0"/>
            <a:ext cx="411482" cy="6858000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98" name="Oval 3"/>
          <p:cNvGrpSpPr/>
          <p:nvPr/>
        </p:nvGrpSpPr>
        <p:grpSpPr>
          <a:xfrm>
            <a:off x="822960" y="914399"/>
            <a:ext cx="2194561" cy="2194562"/>
            <a:chOff x="0" y="0"/>
            <a:chExt cx="2194560" cy="2194560"/>
          </a:xfrm>
        </p:grpSpPr>
        <p:sp>
          <p:nvSpPr>
            <p:cNvPr id="96" name="円形"/>
            <p:cNvSpPr/>
            <p:nvPr/>
          </p:nvSpPr>
          <p:spPr>
            <a:xfrm>
              <a:off x="-1" y="-1"/>
              <a:ext cx="2194562" cy="2194562"/>
            </a:xfrm>
            <a:prstGeom prst="ellipse">
              <a:avLst/>
            </a:prstGeom>
            <a:solidFill>
              <a:srgbClr val="02809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7" name="0"/>
            <p:cNvSpPr txBox="1"/>
            <p:nvPr/>
          </p:nvSpPr>
          <p:spPr>
            <a:xfrm>
              <a:off x="321385" y="487679"/>
              <a:ext cx="1551790" cy="1219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80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0</a:t>
              </a:r>
            </a:p>
          </p:txBody>
        </p:sp>
      </p:grpSp>
      <p:sp>
        <p:nvSpPr>
          <p:cNvPr id="99" name="TextBox 4"/>
          <p:cNvSpPr txBox="1"/>
          <p:nvPr/>
        </p:nvSpPr>
        <p:spPr>
          <a:xfrm>
            <a:off x="3383279" y="1463039"/>
            <a:ext cx="804672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40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Claude の取得</a:t>
            </a:r>
          </a:p>
        </p:txBody>
      </p:sp>
      <p:sp>
        <p:nvSpPr>
          <p:cNvPr id="100" name="TextBox 5"/>
          <p:cNvSpPr txBox="1"/>
          <p:nvPr/>
        </p:nvSpPr>
        <p:spPr>
          <a:xfrm>
            <a:off x="3383279" y="3383279"/>
            <a:ext cx="804672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Claude Code を使うための準備（アカウント作成と有料プランへの加入）</a:t>
            </a:r>
          </a:p>
        </p:txBody>
      </p:sp>
      <p:sp>
        <p:nvSpPr>
          <p:cNvPr id="101" name="TextBox 6"/>
          <p:cNvSpPr txBox="1"/>
          <p:nvPr/>
        </p:nvSpPr>
        <p:spPr>
          <a:xfrm>
            <a:off x="822960" y="5943600"/>
            <a:ext cx="10058401" cy="17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200"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紙芝居ガイド（Windows + WSL / 初心者向け）　※画面枠は後でスクリーンショットを貼り付け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07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05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2809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6" name="STEP 1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1</a:t>
              </a:r>
            </a:p>
          </p:txBody>
        </p:sp>
      </p:grpSp>
      <p:sp>
        <p:nvSpPr>
          <p:cNvPr id="108" name="TextBox 4"/>
          <p:cNvSpPr txBox="1"/>
          <p:nvPr/>
        </p:nvSpPr>
        <p:spPr>
          <a:xfrm>
            <a:off x="2240280" y="352551"/>
            <a:ext cx="950976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Claude 公式サイトを開く</a:t>
            </a:r>
          </a:p>
        </p:txBody>
      </p:sp>
      <p:sp>
        <p:nvSpPr>
          <p:cNvPr id="109" name="TextBox 5"/>
          <p:cNvSpPr txBox="1"/>
          <p:nvPr/>
        </p:nvSpPr>
        <p:spPr>
          <a:xfrm>
            <a:off x="502919" y="1417319"/>
            <a:ext cx="512064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Webブラウザ（Edge や Chrome）で claude.ai を開きます。</a:t>
            </a:r>
          </a:p>
        </p:txBody>
      </p:sp>
      <p:sp>
        <p:nvSpPr>
          <p:cNvPr id="110" name="Rounded Rectangle 6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7"/>
          <p:cNvSpPr txBox="1"/>
          <p:nvPr/>
        </p:nvSpPr>
        <p:spPr>
          <a:xfrm>
            <a:off x="6126479" y="3400424"/>
            <a:ext cx="5440681" cy="514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claude.ai トップ画面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12" name="TextBox 8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Claude の取得</a:t>
            </a:r>
          </a:p>
        </p:txBody>
      </p:sp>
      <p:sp>
        <p:nvSpPr>
          <p:cNvPr id="113" name="TextBox 9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114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75178" y="1849110"/>
            <a:ext cx="5543284" cy="34564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20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18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2809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9" name="STEP 2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2</a:t>
              </a:r>
            </a:p>
          </p:txBody>
        </p:sp>
      </p:grpSp>
      <p:sp>
        <p:nvSpPr>
          <p:cNvPr id="121" name="TextBox 4"/>
          <p:cNvSpPr txBox="1"/>
          <p:nvPr/>
        </p:nvSpPr>
        <p:spPr>
          <a:xfrm>
            <a:off x="2240280" y="381127"/>
            <a:ext cx="9509760" cy="298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アカウントを作成する</a:t>
            </a:r>
          </a:p>
        </p:txBody>
      </p:sp>
      <p:sp>
        <p:nvSpPr>
          <p:cNvPr id="122" name="TextBox 5"/>
          <p:cNvSpPr txBox="1"/>
          <p:nvPr/>
        </p:nvSpPr>
        <p:spPr>
          <a:xfrm>
            <a:off x="502919" y="1417319"/>
            <a:ext cx="512064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「Sign up」からメールアドレス、または Google アカウントで登録します。</a:t>
            </a:r>
          </a:p>
        </p:txBody>
      </p:sp>
      <p:sp>
        <p:nvSpPr>
          <p:cNvPr id="123" name="Rounded Rectangle 6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7"/>
          <p:cNvSpPr txBox="1"/>
          <p:nvPr/>
        </p:nvSpPr>
        <p:spPr>
          <a:xfrm>
            <a:off x="6126479" y="3416300"/>
            <a:ext cx="544068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サインアップ画面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25" name="TextBox 8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Claude の取得</a:t>
            </a:r>
          </a:p>
        </p:txBody>
      </p:sp>
      <p:sp>
        <p:nvSpPr>
          <p:cNvPr id="126" name="TextBox 9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127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75178" y="1849110"/>
            <a:ext cx="5543285" cy="3456452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四角形"/>
          <p:cNvSpPr/>
          <p:nvPr/>
        </p:nvSpPr>
        <p:spPr>
          <a:xfrm>
            <a:off x="6762559" y="3970421"/>
            <a:ext cx="1809427" cy="273050"/>
          </a:xfrm>
          <a:prstGeom prst="rect">
            <a:avLst/>
          </a:prstGeom>
          <a:ln w="25400">
            <a:solidFill>
              <a:srgbClr val="FF26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  <p:sp>
        <p:nvSpPr>
          <p:cNvPr id="129" name="四角形"/>
          <p:cNvSpPr/>
          <p:nvPr/>
        </p:nvSpPr>
        <p:spPr>
          <a:xfrm>
            <a:off x="6762559" y="4353091"/>
            <a:ext cx="1809427" cy="523241"/>
          </a:xfrm>
          <a:prstGeom prst="rect">
            <a:avLst/>
          </a:prstGeom>
          <a:ln w="25400">
            <a:solidFill>
              <a:srgbClr val="FF26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35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33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2809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4" name="STEP 3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3</a:t>
              </a:r>
            </a:p>
          </p:txBody>
        </p:sp>
      </p:grpSp>
      <p:sp>
        <p:nvSpPr>
          <p:cNvPr id="136" name="TextBox 4"/>
          <p:cNvSpPr txBox="1"/>
          <p:nvPr/>
        </p:nvSpPr>
        <p:spPr>
          <a:xfrm>
            <a:off x="2240280" y="381127"/>
            <a:ext cx="9509760" cy="298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ログインする</a:t>
            </a:r>
          </a:p>
        </p:txBody>
      </p:sp>
      <p:sp>
        <p:nvSpPr>
          <p:cNvPr id="137" name="TextBox 5"/>
          <p:cNvSpPr txBox="1"/>
          <p:nvPr/>
        </p:nvSpPr>
        <p:spPr>
          <a:xfrm>
            <a:off x="502919" y="1417319"/>
            <a:ext cx="5120642" cy="222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作成したアカウントでログインします。</a:t>
            </a:r>
          </a:p>
        </p:txBody>
      </p:sp>
      <p:sp>
        <p:nvSpPr>
          <p:cNvPr id="138" name="Rounded Rectangle 6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7"/>
          <p:cNvSpPr txBox="1"/>
          <p:nvPr/>
        </p:nvSpPr>
        <p:spPr>
          <a:xfrm>
            <a:off x="6126479" y="3416300"/>
            <a:ext cx="544068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ログイン画面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40" name="TextBox 8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Claude の取得</a:t>
            </a:r>
          </a:p>
        </p:txBody>
      </p:sp>
      <p:sp>
        <p:nvSpPr>
          <p:cNvPr id="141" name="TextBox 9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4</a:t>
            </a:r>
          </a:p>
        </p:txBody>
      </p:sp>
      <p:pic>
        <p:nvPicPr>
          <p:cNvPr id="142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75178" y="1849110"/>
            <a:ext cx="5543285" cy="3456452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四角形"/>
          <p:cNvSpPr/>
          <p:nvPr/>
        </p:nvSpPr>
        <p:spPr>
          <a:xfrm>
            <a:off x="6762559" y="3970421"/>
            <a:ext cx="1809427" cy="273050"/>
          </a:xfrm>
          <a:prstGeom prst="rect">
            <a:avLst/>
          </a:prstGeom>
          <a:ln w="25400">
            <a:solidFill>
              <a:srgbClr val="FF26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  <p:sp>
        <p:nvSpPr>
          <p:cNvPr id="144" name="四角形"/>
          <p:cNvSpPr/>
          <p:nvPr/>
        </p:nvSpPr>
        <p:spPr>
          <a:xfrm>
            <a:off x="6762559" y="4353091"/>
            <a:ext cx="1809427" cy="523241"/>
          </a:xfrm>
          <a:prstGeom prst="rect">
            <a:avLst/>
          </a:prstGeom>
          <a:ln w="25400">
            <a:solidFill>
              <a:srgbClr val="FF260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50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48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2809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9" name="STEP 4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4</a:t>
              </a:r>
            </a:p>
          </p:txBody>
        </p:sp>
      </p:grpSp>
      <p:sp>
        <p:nvSpPr>
          <p:cNvPr id="151" name="TextBox 4"/>
          <p:cNvSpPr txBox="1"/>
          <p:nvPr/>
        </p:nvSpPr>
        <p:spPr>
          <a:xfrm>
            <a:off x="2240280" y="381127"/>
            <a:ext cx="9509760" cy="298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有料プランに加入する（重要）</a:t>
            </a:r>
          </a:p>
        </p:txBody>
      </p:sp>
      <p:sp>
        <p:nvSpPr>
          <p:cNvPr id="152" name="TextBox 5"/>
          <p:cNvSpPr txBox="1"/>
          <p:nvPr/>
        </p:nvSpPr>
        <p:spPr>
          <a:xfrm>
            <a:off x="502919" y="1417319"/>
            <a:ext cx="5120642" cy="986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Claude Code は無料プランでは使えません。設定 → 請求 → プランの調整 から Pro（または Max / Team）に加入します。</a:t>
            </a:r>
          </a:p>
        </p:txBody>
      </p:sp>
      <p:sp>
        <p:nvSpPr>
          <p:cNvPr id="153" name="Rounded Rectangle 6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7"/>
          <p:cNvSpPr txBox="1"/>
          <p:nvPr/>
        </p:nvSpPr>
        <p:spPr>
          <a:xfrm>
            <a:off x="6126479" y="3400424"/>
            <a:ext cx="5440681" cy="514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プラン選択（Pro / Max）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55" name="TextBox 8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Claude の取得</a:t>
            </a:r>
          </a:p>
        </p:txBody>
      </p:sp>
      <p:sp>
        <p:nvSpPr>
          <p:cNvPr id="156" name="TextBox 9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5</a:t>
            </a:r>
          </a:p>
        </p:txBody>
      </p:sp>
      <p:pic>
        <p:nvPicPr>
          <p:cNvPr id="157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62337" y="1609900"/>
            <a:ext cx="4039668" cy="40496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63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61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2809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2" name="STEP 5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5</a:t>
              </a:r>
            </a:p>
          </p:txBody>
        </p:sp>
      </p:grpSp>
      <p:sp>
        <p:nvSpPr>
          <p:cNvPr id="164" name="TextBox 4"/>
          <p:cNvSpPr txBox="1"/>
          <p:nvPr/>
        </p:nvSpPr>
        <p:spPr>
          <a:xfrm>
            <a:off x="2240280" y="381127"/>
            <a:ext cx="9509760" cy="298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（任意）デスクトップアプリを入手</a:t>
            </a:r>
          </a:p>
        </p:txBody>
      </p:sp>
      <p:sp>
        <p:nvSpPr>
          <p:cNvPr id="165" name="TextBox 5"/>
          <p:cNvSpPr txBox="1"/>
          <p:nvPr/>
        </p:nvSpPr>
        <p:spPr>
          <a:xfrm>
            <a:off x="502919" y="1417319"/>
            <a:ext cx="512064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Windows 版アプリは claude.com/download から入手できます（任意。ブラウザだけでも可）。</a:t>
            </a:r>
          </a:p>
        </p:txBody>
      </p:sp>
      <p:sp>
        <p:nvSpPr>
          <p:cNvPr id="166" name="Rounded Rectangle 6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7"/>
          <p:cNvSpPr txBox="1"/>
          <p:nvPr/>
        </p:nvSpPr>
        <p:spPr>
          <a:xfrm>
            <a:off x="6126479" y="3416300"/>
            <a:ext cx="544068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ダウンロードページ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68" name="TextBox 8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Claude の取得</a:t>
            </a:r>
          </a:p>
        </p:txBody>
      </p:sp>
      <p:sp>
        <p:nvSpPr>
          <p:cNvPr id="169" name="TextBox 9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170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31815" y="1596460"/>
            <a:ext cx="4284224" cy="40765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Rectangle 2"/>
          <p:cNvSpPr/>
          <p:nvPr/>
        </p:nvSpPr>
        <p:spPr>
          <a:xfrm>
            <a:off x="-1" y="-1"/>
            <a:ext cx="12191697" cy="1051562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76" name="Rounded Rectangle 3"/>
          <p:cNvGrpSpPr/>
          <p:nvPr/>
        </p:nvGrpSpPr>
        <p:grpSpPr>
          <a:xfrm>
            <a:off x="457200" y="256031"/>
            <a:ext cx="1554481" cy="548642"/>
            <a:chOff x="0" y="0"/>
            <a:chExt cx="1554480" cy="548640"/>
          </a:xfrm>
        </p:grpSpPr>
        <p:sp>
          <p:nvSpPr>
            <p:cNvPr id="174" name="角丸四角形"/>
            <p:cNvSpPr/>
            <p:nvPr/>
          </p:nvSpPr>
          <p:spPr>
            <a:xfrm>
              <a:off x="0" y="0"/>
              <a:ext cx="1554481" cy="548641"/>
            </a:xfrm>
            <a:prstGeom prst="roundRect">
              <a:avLst>
                <a:gd name="adj" fmla="val 16667"/>
              </a:avLst>
            </a:prstGeom>
            <a:solidFill>
              <a:srgbClr val="028090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spcBef>
                  <a:spcPts val="200"/>
                </a:spcBef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5" name="STEP 6"/>
            <p:cNvSpPr txBox="1"/>
            <p:nvPr/>
          </p:nvSpPr>
          <p:spPr>
            <a:xfrm>
              <a:off x="26781" y="153670"/>
              <a:ext cx="1500918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spcBef>
                  <a:spcPts val="200"/>
                </a:spcBef>
                <a:defRPr b="1" sz="1600">
                  <a:solidFill>
                    <a:srgbClr val="FFFFFF"/>
                  </a:solidFill>
                  <a:latin typeface="Meiryo"/>
                  <a:ea typeface="Meiryo"/>
                  <a:cs typeface="Meiryo"/>
                  <a:sym typeface="Meiryo"/>
                </a:defRPr>
              </a:lvl1pPr>
            </a:lstStyle>
            <a:p>
              <a:pPr/>
              <a:r>
                <a:t>STEP 6</a:t>
              </a:r>
            </a:p>
          </p:txBody>
        </p:sp>
      </p:grpSp>
      <p:sp>
        <p:nvSpPr>
          <p:cNvPr id="177" name="TextBox 4"/>
          <p:cNvSpPr txBox="1"/>
          <p:nvPr/>
        </p:nvSpPr>
        <p:spPr>
          <a:xfrm>
            <a:off x="2240280" y="381127"/>
            <a:ext cx="9509760" cy="2984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200"/>
              </a:spcBef>
              <a:defRPr b="1" sz="23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準備できたか確認</a:t>
            </a:r>
          </a:p>
        </p:txBody>
      </p:sp>
      <p:sp>
        <p:nvSpPr>
          <p:cNvPr id="178" name="TextBox 5"/>
          <p:cNvSpPr txBox="1"/>
          <p:nvPr/>
        </p:nvSpPr>
        <p:spPr>
          <a:xfrm>
            <a:off x="502919" y="1417319"/>
            <a:ext cx="512064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1700">
                <a:solidFill>
                  <a:srgbClr val="222633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ログインでき、プランが有効になっていれば準備完了。次は『1 Spec Kit のインストール』へ。</a:t>
            </a:r>
          </a:p>
        </p:txBody>
      </p:sp>
      <p:sp>
        <p:nvSpPr>
          <p:cNvPr id="179" name="Rounded Rectangle 6"/>
          <p:cNvSpPr/>
          <p:nvPr/>
        </p:nvSpPr>
        <p:spPr>
          <a:xfrm>
            <a:off x="5943600" y="1463039"/>
            <a:ext cx="5806441" cy="4343401"/>
          </a:xfrm>
          <a:prstGeom prst="roundRect">
            <a:avLst>
              <a:gd name="adj" fmla="val 16667"/>
            </a:avLst>
          </a:prstGeom>
          <a:solidFill>
            <a:srgbClr val="F2F4F8"/>
          </a:solidFill>
          <a:ln w="19050">
            <a:solidFill>
              <a:srgbClr val="B9C2D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7"/>
          <p:cNvSpPr txBox="1"/>
          <p:nvPr/>
        </p:nvSpPr>
        <p:spPr>
          <a:xfrm>
            <a:off x="6126479" y="3400424"/>
            <a:ext cx="5440681" cy="514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アカウント / プラン状態</a:t>
            </a:r>
          </a:p>
          <a:p>
            <a:pPr algn="ctr">
              <a:spcBef>
                <a:spcPts val="200"/>
              </a:spcBef>
              <a:defRPr sz="13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［ ここに実際の画面を貼り付け ］</a:t>
            </a:r>
          </a:p>
        </p:txBody>
      </p:sp>
      <p:sp>
        <p:nvSpPr>
          <p:cNvPr id="181" name="TextBox 8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Claude の取得</a:t>
            </a:r>
          </a:p>
        </p:txBody>
      </p:sp>
      <p:sp>
        <p:nvSpPr>
          <p:cNvPr id="182" name="TextBox 9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7</a:t>
            </a:r>
          </a:p>
        </p:txBody>
      </p:sp>
      <p:pic>
        <p:nvPicPr>
          <p:cNvPr id="183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88138" y="1599165"/>
            <a:ext cx="4717364" cy="4071150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四角形"/>
          <p:cNvSpPr/>
          <p:nvPr/>
        </p:nvSpPr>
        <p:spPr>
          <a:xfrm>
            <a:off x="8997950" y="3013075"/>
            <a:ext cx="704652" cy="273050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Rectangle 2"/>
          <p:cNvSpPr/>
          <p:nvPr/>
        </p:nvSpPr>
        <p:spPr>
          <a:xfrm>
            <a:off x="-1" y="-1"/>
            <a:ext cx="12191697" cy="411482"/>
          </a:xfrm>
          <a:prstGeom prst="rect">
            <a:avLst/>
          </a:prstGeom>
          <a:solidFill>
            <a:srgbClr val="02809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3"/>
          <p:cNvSpPr txBox="1"/>
          <p:nvPr/>
        </p:nvSpPr>
        <p:spPr>
          <a:xfrm>
            <a:off x="822960" y="914399"/>
            <a:ext cx="1051560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b="1" sz="3200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これで Claude の準備は完了</a:t>
            </a:r>
          </a:p>
        </p:txBody>
      </p:sp>
      <p:sp>
        <p:nvSpPr>
          <p:cNvPr id="189" name="TextBox 4"/>
          <p:cNvSpPr txBox="1"/>
          <p:nvPr/>
        </p:nvSpPr>
        <p:spPr>
          <a:xfrm>
            <a:off x="822960" y="2286000"/>
            <a:ext cx="10515601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✓ claude.ai でアカウントを作成した</a:t>
            </a:r>
          </a:p>
          <a:p>
            <a:pPr>
              <a:spcBef>
                <a:spcPts val="200"/>
              </a:spcBef>
              <a:defRPr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✓ Pro / Max などの有料プランに加入した（無料プランは不可）</a:t>
            </a:r>
          </a:p>
          <a:p>
            <a:pPr>
              <a:spcBef>
                <a:spcPts val="200"/>
              </a:spcBef>
              <a:defRPr>
                <a:solidFill>
                  <a:srgbClr val="CADCFC"/>
                </a:solidFill>
                <a:latin typeface="Meiryo"/>
                <a:ea typeface="Meiryo"/>
                <a:cs typeface="Meiryo"/>
                <a:sym typeface="Meiryo"/>
              </a:defRPr>
            </a:pPr>
            <a:r>
              <a:t>✓ 次は『1 GitHub Spec Kit のインストール』へ</a:t>
            </a:r>
          </a:p>
        </p:txBody>
      </p:sp>
      <p:sp>
        <p:nvSpPr>
          <p:cNvPr id="190" name="TextBox 5"/>
          <p:cNvSpPr txBox="1"/>
          <p:nvPr/>
        </p:nvSpPr>
        <p:spPr>
          <a:xfrm>
            <a:off x="457200" y="6446520"/>
            <a:ext cx="822960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200"/>
              </a:spcBef>
              <a:defRPr sz="9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JP Core / アドミニストレーションWG  —  Claude の取得</a:t>
            </a:r>
          </a:p>
        </p:txBody>
      </p:sp>
      <p:sp>
        <p:nvSpPr>
          <p:cNvPr id="191" name="TextBox 6"/>
          <p:cNvSpPr txBox="1"/>
          <p:nvPr/>
        </p:nvSpPr>
        <p:spPr>
          <a:xfrm>
            <a:off x="10972799" y="6446520"/>
            <a:ext cx="82296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200"/>
              </a:spcBef>
              <a:defRPr sz="1000">
                <a:solidFill>
                  <a:srgbClr val="6B7280"/>
                </a:solidFill>
                <a:latin typeface="Meiryo"/>
                <a:ea typeface="Meiryo"/>
                <a:cs typeface="Meiryo"/>
                <a:sym typeface="Meiryo"/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