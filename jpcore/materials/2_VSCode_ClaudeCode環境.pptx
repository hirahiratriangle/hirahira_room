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テキスト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12" name="本文レベル1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3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タイトルテキスト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21" name="本文レベル1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22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タイトルテキスト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タイトルテキスト</a:t>
            </a:r>
          </a:p>
        </p:txBody>
      </p:sp>
      <p:sp>
        <p:nvSpPr>
          <p:cNvPr id="30" name="本文レベル1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タイトルテキスト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39" name="本文レベル1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0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タイトルテキスト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48" name="本文レベル1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タイトルテキスト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5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タイトルテキスト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タイトルテキスト</a:t>
            </a:r>
          </a:p>
        </p:txBody>
      </p:sp>
      <p:sp>
        <p:nvSpPr>
          <p:cNvPr id="73" name="本文レベル1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タイトルテキスト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タイトルテキスト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本文レベル1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8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テキスト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タイトルテキスト</a:t>
            </a:r>
          </a:p>
        </p:txBody>
      </p:sp>
      <p:sp>
        <p:nvSpPr>
          <p:cNvPr id="3" name="本文レベル1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" name="スライド番号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Rectangle 2"/>
          <p:cNvSpPr/>
          <p:nvPr/>
        </p:nvSpPr>
        <p:spPr>
          <a:xfrm>
            <a:off x="-1" y="0"/>
            <a:ext cx="411482" cy="6858000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98" name="Oval 3"/>
          <p:cNvGrpSpPr/>
          <p:nvPr/>
        </p:nvGrpSpPr>
        <p:grpSpPr>
          <a:xfrm>
            <a:off x="822960" y="914399"/>
            <a:ext cx="2194561" cy="2194562"/>
            <a:chOff x="0" y="0"/>
            <a:chExt cx="2194560" cy="2194560"/>
          </a:xfrm>
        </p:grpSpPr>
        <p:sp>
          <p:nvSpPr>
            <p:cNvPr id="96" name="円形"/>
            <p:cNvSpPr/>
            <p:nvPr/>
          </p:nvSpPr>
          <p:spPr>
            <a:xfrm>
              <a:off x="-1" y="-1"/>
              <a:ext cx="2194562" cy="2194562"/>
            </a:xfrm>
            <a:prstGeom prst="ellipse">
              <a:avLst/>
            </a:prstGeom>
            <a:solidFill>
              <a:srgbClr val="065A82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2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7" name="2"/>
            <p:cNvSpPr txBox="1"/>
            <p:nvPr/>
          </p:nvSpPr>
          <p:spPr>
            <a:xfrm>
              <a:off x="321385" y="487679"/>
              <a:ext cx="1551790" cy="1219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spcBef>
                  <a:spcPts val="200"/>
                </a:spcBef>
                <a:defRPr b="1" sz="8000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99" name="TextBox 4"/>
          <p:cNvSpPr txBox="1"/>
          <p:nvPr/>
        </p:nvSpPr>
        <p:spPr>
          <a:xfrm>
            <a:off x="3383279" y="1463039"/>
            <a:ext cx="8046720" cy="137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b="1" sz="4000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VS Code 開発環境（Claude Code 実行環境）の構築</a:t>
            </a:r>
          </a:p>
        </p:txBody>
      </p:sp>
      <p:sp>
        <p:nvSpPr>
          <p:cNvPr id="100" name="TextBox 5"/>
          <p:cNvSpPr txBox="1"/>
          <p:nvPr/>
        </p:nvSpPr>
        <p:spPr>
          <a:xfrm>
            <a:off x="3383279" y="3383279"/>
            <a:ext cx="8046720" cy="6731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>
                <a:solidFill>
                  <a:srgbClr val="CADCFC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Windows の VS Code から Remote-WSL で WSL に接続し、Claude Code を GUI（拡張パネル）で使う</a:t>
            </a:r>
          </a:p>
        </p:txBody>
      </p:sp>
      <p:sp>
        <p:nvSpPr>
          <p:cNvPr id="101" name="TextBox 6"/>
          <p:cNvSpPr txBox="1"/>
          <p:nvPr/>
        </p:nvSpPr>
        <p:spPr>
          <a:xfrm>
            <a:off x="822960" y="5943600"/>
            <a:ext cx="100584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1200">
                <a:solidFill>
                  <a:srgbClr val="CADCFC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操作ガイド（Windows + WSL+VSCode+Claude Code）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Rectangle 2"/>
          <p:cNvSpPr/>
          <p:nvPr/>
        </p:nvSpPr>
        <p:spPr>
          <a:xfrm>
            <a:off x="-1" y="-1"/>
            <a:ext cx="12191697" cy="105156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07" name="Rounded Rectangle 3"/>
          <p:cNvGrpSpPr/>
          <p:nvPr/>
        </p:nvGrpSpPr>
        <p:grpSpPr>
          <a:xfrm>
            <a:off x="457200" y="256031"/>
            <a:ext cx="1554481" cy="548642"/>
            <a:chOff x="0" y="0"/>
            <a:chExt cx="1554480" cy="548640"/>
          </a:xfrm>
        </p:grpSpPr>
        <p:sp>
          <p:nvSpPr>
            <p:cNvPr id="105" name="角丸四角形"/>
            <p:cNvSpPr/>
            <p:nvPr/>
          </p:nvSpPr>
          <p:spPr>
            <a:xfrm>
              <a:off x="0" y="0"/>
              <a:ext cx="1554481" cy="548641"/>
            </a:xfrm>
            <a:prstGeom prst="roundRect">
              <a:avLst>
                <a:gd name="adj" fmla="val 16667"/>
              </a:avLst>
            </a:prstGeom>
            <a:solidFill>
              <a:srgbClr val="065A82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2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6" name="STEP 1"/>
            <p:cNvSpPr txBox="1"/>
            <p:nvPr/>
          </p:nvSpPr>
          <p:spPr>
            <a:xfrm>
              <a:off x="26781" y="153670"/>
              <a:ext cx="1500918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spcBef>
                  <a:spcPts val="200"/>
                </a:spcBef>
                <a:defRPr b="1" sz="1600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defRPr>
              </a:lvl1pPr>
            </a:lstStyle>
            <a:p>
              <a:pPr/>
              <a:r>
                <a:t>STEP 1</a:t>
              </a:r>
            </a:p>
          </p:txBody>
        </p:sp>
      </p:grpSp>
      <p:sp>
        <p:nvSpPr>
          <p:cNvPr id="108" name="TextBox 4"/>
          <p:cNvSpPr txBox="1"/>
          <p:nvPr/>
        </p:nvSpPr>
        <p:spPr>
          <a:xfrm>
            <a:off x="2240280" y="352551"/>
            <a:ext cx="950976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200"/>
              </a:spcBef>
              <a:defRPr b="1" sz="2300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VS Code を入れる</a:t>
            </a:r>
          </a:p>
        </p:txBody>
      </p:sp>
      <p:sp>
        <p:nvSpPr>
          <p:cNvPr id="109" name="TextBox 5"/>
          <p:cNvSpPr txBox="1"/>
          <p:nvPr/>
        </p:nvSpPr>
        <p:spPr>
          <a:xfrm>
            <a:off x="502919" y="1417319"/>
            <a:ext cx="5120642" cy="61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17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code.visualstudio.com からインストールします（バージョン 1.98 以上）。</a:t>
            </a:r>
          </a:p>
        </p:txBody>
      </p:sp>
      <p:sp>
        <p:nvSpPr>
          <p:cNvPr id="110" name="Rounded Rectangle 6"/>
          <p:cNvSpPr/>
          <p:nvPr/>
        </p:nvSpPr>
        <p:spPr>
          <a:xfrm>
            <a:off x="5943600" y="1463039"/>
            <a:ext cx="5806441" cy="4343401"/>
          </a:xfrm>
          <a:prstGeom prst="roundRect">
            <a:avLst>
              <a:gd name="adj" fmla="val 16667"/>
            </a:avLst>
          </a:prstGeom>
          <a:solidFill>
            <a:srgbClr val="F2F4F8"/>
          </a:solidFill>
          <a:ln w="19050">
            <a:solidFill>
              <a:srgbClr val="B9C2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TextBox 7"/>
          <p:cNvSpPr txBox="1"/>
          <p:nvPr/>
        </p:nvSpPr>
        <p:spPr>
          <a:xfrm>
            <a:off x="6126479" y="3400424"/>
            <a:ext cx="5440681" cy="514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200"/>
              </a:spcBef>
              <a:defRPr sz="13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VS Code ダウンロード</a:t>
            </a:r>
          </a:p>
          <a:p>
            <a:pPr algn="ctr">
              <a:spcBef>
                <a:spcPts val="200"/>
              </a:spcBef>
              <a:defRPr sz="13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［ ここに実際の画面を貼り付け ］</a:t>
            </a:r>
          </a:p>
        </p:txBody>
      </p:sp>
      <p:sp>
        <p:nvSpPr>
          <p:cNvPr id="112" name="TextBox 8"/>
          <p:cNvSpPr txBox="1"/>
          <p:nvPr/>
        </p:nvSpPr>
        <p:spPr>
          <a:xfrm>
            <a:off x="457200" y="6446520"/>
            <a:ext cx="8229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9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JP Core / アドミニストレーションWG  —  VS Code 開発環境（Claude Code 実行環境）の構築</a:t>
            </a:r>
          </a:p>
        </p:txBody>
      </p:sp>
      <p:sp>
        <p:nvSpPr>
          <p:cNvPr id="113" name="TextBox 9"/>
          <p:cNvSpPr txBox="1"/>
          <p:nvPr/>
        </p:nvSpPr>
        <p:spPr>
          <a:xfrm>
            <a:off x="10972799" y="6446520"/>
            <a:ext cx="8229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200"/>
              </a:spcBef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114" name="ペーストされたムービー.png" descr="ペーストされたムービ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28934" y="1714635"/>
            <a:ext cx="4914254" cy="3885690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四角形"/>
          <p:cNvSpPr/>
          <p:nvPr/>
        </p:nvSpPr>
        <p:spPr>
          <a:xfrm>
            <a:off x="7931150" y="3810000"/>
            <a:ext cx="1884422" cy="330200"/>
          </a:xfrm>
          <a:prstGeom prst="rect">
            <a:avLst/>
          </a:prstGeom>
          <a:ln w="25400">
            <a:solidFill>
              <a:srgbClr val="FF26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Rectangle 2"/>
          <p:cNvSpPr/>
          <p:nvPr/>
        </p:nvSpPr>
        <p:spPr>
          <a:xfrm>
            <a:off x="-1" y="-1"/>
            <a:ext cx="12191697" cy="105156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21" name="Rounded Rectangle 3"/>
          <p:cNvGrpSpPr/>
          <p:nvPr/>
        </p:nvGrpSpPr>
        <p:grpSpPr>
          <a:xfrm>
            <a:off x="457200" y="256031"/>
            <a:ext cx="1554481" cy="548642"/>
            <a:chOff x="0" y="0"/>
            <a:chExt cx="1554480" cy="548640"/>
          </a:xfrm>
        </p:grpSpPr>
        <p:sp>
          <p:nvSpPr>
            <p:cNvPr id="119" name="角丸四角形"/>
            <p:cNvSpPr/>
            <p:nvPr/>
          </p:nvSpPr>
          <p:spPr>
            <a:xfrm>
              <a:off x="0" y="0"/>
              <a:ext cx="1554481" cy="548641"/>
            </a:xfrm>
            <a:prstGeom prst="roundRect">
              <a:avLst>
                <a:gd name="adj" fmla="val 16667"/>
              </a:avLst>
            </a:prstGeom>
            <a:solidFill>
              <a:srgbClr val="065A82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2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0" name="STEP 2"/>
            <p:cNvSpPr txBox="1"/>
            <p:nvPr/>
          </p:nvSpPr>
          <p:spPr>
            <a:xfrm>
              <a:off x="26781" y="153670"/>
              <a:ext cx="1500918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spcBef>
                  <a:spcPts val="200"/>
                </a:spcBef>
                <a:defRPr b="1" sz="1600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defRPr>
              </a:lvl1pPr>
            </a:lstStyle>
            <a:p>
              <a:pPr/>
              <a:r>
                <a:t>STEP 2</a:t>
              </a:r>
            </a:p>
          </p:txBody>
        </p:sp>
      </p:grpSp>
      <p:sp>
        <p:nvSpPr>
          <p:cNvPr id="122" name="TextBox 4"/>
          <p:cNvSpPr txBox="1"/>
          <p:nvPr/>
        </p:nvSpPr>
        <p:spPr>
          <a:xfrm>
            <a:off x="2240280" y="352551"/>
            <a:ext cx="950976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200"/>
              </a:spcBef>
              <a:defRPr b="1" sz="2300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「WSL」拡張を入れる</a:t>
            </a:r>
          </a:p>
        </p:txBody>
      </p:sp>
      <p:sp>
        <p:nvSpPr>
          <p:cNvPr id="123" name="TextBox 5"/>
          <p:cNvSpPr txBox="1"/>
          <p:nvPr/>
        </p:nvSpPr>
        <p:spPr>
          <a:xfrm>
            <a:off x="502919" y="1417319"/>
            <a:ext cx="5120642" cy="61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17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VS Code で Ctrl + Shift + X を押し、Microsoft の「WSL」拡張を検索して Install します。</a:t>
            </a:r>
          </a:p>
        </p:txBody>
      </p:sp>
      <p:sp>
        <p:nvSpPr>
          <p:cNvPr id="124" name="Rounded Rectangle 6"/>
          <p:cNvSpPr/>
          <p:nvPr/>
        </p:nvSpPr>
        <p:spPr>
          <a:xfrm>
            <a:off x="5943600" y="1463039"/>
            <a:ext cx="5806441" cy="4343401"/>
          </a:xfrm>
          <a:prstGeom prst="roundRect">
            <a:avLst>
              <a:gd name="adj" fmla="val 16667"/>
            </a:avLst>
          </a:prstGeom>
          <a:solidFill>
            <a:srgbClr val="F2F4F8"/>
          </a:solidFill>
          <a:ln w="19050">
            <a:solidFill>
              <a:srgbClr val="B9C2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TextBox 7"/>
          <p:cNvSpPr txBox="1"/>
          <p:nvPr/>
        </p:nvSpPr>
        <p:spPr>
          <a:xfrm>
            <a:off x="6126479" y="3400424"/>
            <a:ext cx="5440681" cy="514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200"/>
              </a:spcBef>
              <a:defRPr sz="13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WSL 拡張のインストール</a:t>
            </a:r>
          </a:p>
          <a:p>
            <a:pPr algn="ctr">
              <a:spcBef>
                <a:spcPts val="200"/>
              </a:spcBef>
              <a:defRPr sz="13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［ ここに実際の画面を貼り付け ］</a:t>
            </a:r>
          </a:p>
        </p:txBody>
      </p:sp>
      <p:sp>
        <p:nvSpPr>
          <p:cNvPr id="126" name="TextBox 8"/>
          <p:cNvSpPr txBox="1"/>
          <p:nvPr/>
        </p:nvSpPr>
        <p:spPr>
          <a:xfrm>
            <a:off x="457200" y="6446520"/>
            <a:ext cx="8229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9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JP Core / アドミニストレーションWG  —  VS Code 開発環境（Claude Code 実行環境）の構築</a:t>
            </a:r>
          </a:p>
        </p:txBody>
      </p:sp>
      <p:sp>
        <p:nvSpPr>
          <p:cNvPr id="127" name="TextBox 9"/>
          <p:cNvSpPr txBox="1"/>
          <p:nvPr/>
        </p:nvSpPr>
        <p:spPr>
          <a:xfrm>
            <a:off x="10972799" y="6446520"/>
            <a:ext cx="8229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200"/>
              </a:spcBef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3</a:t>
            </a:r>
          </a:p>
        </p:txBody>
      </p:sp>
      <p:pic>
        <p:nvPicPr>
          <p:cNvPr id="128" name="ペーストされたムービー.png" descr="ペーストされたムービ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26480" y="1906381"/>
            <a:ext cx="5440681" cy="3502438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四角形"/>
          <p:cNvSpPr/>
          <p:nvPr/>
        </p:nvSpPr>
        <p:spPr>
          <a:xfrm>
            <a:off x="8211820" y="2697078"/>
            <a:ext cx="320792" cy="127001"/>
          </a:xfrm>
          <a:prstGeom prst="rect">
            <a:avLst/>
          </a:prstGeom>
          <a:ln w="25400">
            <a:solidFill>
              <a:srgbClr val="FF26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Rectangle 2"/>
          <p:cNvSpPr/>
          <p:nvPr/>
        </p:nvSpPr>
        <p:spPr>
          <a:xfrm>
            <a:off x="-1" y="-1"/>
            <a:ext cx="12191697" cy="105156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35" name="Rounded Rectangle 3"/>
          <p:cNvGrpSpPr/>
          <p:nvPr/>
        </p:nvGrpSpPr>
        <p:grpSpPr>
          <a:xfrm>
            <a:off x="457200" y="256031"/>
            <a:ext cx="1554481" cy="548642"/>
            <a:chOff x="0" y="0"/>
            <a:chExt cx="1554480" cy="548640"/>
          </a:xfrm>
        </p:grpSpPr>
        <p:sp>
          <p:nvSpPr>
            <p:cNvPr id="133" name="角丸四角形"/>
            <p:cNvSpPr/>
            <p:nvPr/>
          </p:nvSpPr>
          <p:spPr>
            <a:xfrm>
              <a:off x="0" y="0"/>
              <a:ext cx="1554481" cy="548641"/>
            </a:xfrm>
            <a:prstGeom prst="roundRect">
              <a:avLst>
                <a:gd name="adj" fmla="val 16667"/>
              </a:avLst>
            </a:prstGeom>
            <a:solidFill>
              <a:srgbClr val="065A82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2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4" name="STEP 3"/>
            <p:cNvSpPr txBox="1"/>
            <p:nvPr/>
          </p:nvSpPr>
          <p:spPr>
            <a:xfrm>
              <a:off x="26781" y="153670"/>
              <a:ext cx="1500918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spcBef>
                  <a:spcPts val="200"/>
                </a:spcBef>
                <a:defRPr b="1" sz="1600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defRPr>
              </a:lvl1pPr>
            </a:lstStyle>
            <a:p>
              <a:pPr/>
              <a:r>
                <a:t>STEP 3</a:t>
              </a:r>
            </a:p>
          </p:txBody>
        </p:sp>
      </p:grpSp>
      <p:sp>
        <p:nvSpPr>
          <p:cNvPr id="136" name="TextBox 4"/>
          <p:cNvSpPr txBox="1"/>
          <p:nvPr/>
        </p:nvSpPr>
        <p:spPr>
          <a:xfrm>
            <a:off x="2240280" y="352551"/>
            <a:ext cx="950976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200"/>
              </a:spcBef>
              <a:defRPr b="1" sz="2300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WSL に接続する</a:t>
            </a:r>
          </a:p>
        </p:txBody>
      </p:sp>
      <p:sp>
        <p:nvSpPr>
          <p:cNvPr id="137" name="TextBox 5"/>
          <p:cNvSpPr txBox="1"/>
          <p:nvPr/>
        </p:nvSpPr>
        <p:spPr>
          <a:xfrm>
            <a:off x="502919" y="1417319"/>
            <a:ext cx="5120642" cy="982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17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左下の緑色「&gt;&lt;」をクリック →「Connect to WSL」。または WSL（Ubuntu）のターミナルで code . と入力しても開けます。</a:t>
            </a:r>
          </a:p>
        </p:txBody>
      </p:sp>
      <p:sp>
        <p:nvSpPr>
          <p:cNvPr id="138" name="Rounded Rectangle 6"/>
          <p:cNvSpPr/>
          <p:nvPr/>
        </p:nvSpPr>
        <p:spPr>
          <a:xfrm>
            <a:off x="502919" y="3246120"/>
            <a:ext cx="5120642" cy="2377441"/>
          </a:xfrm>
          <a:prstGeom prst="roundRect">
            <a:avLst>
              <a:gd name="adj" fmla="val 16667"/>
            </a:avLst>
          </a:prstGeom>
          <a:solidFill>
            <a:srgbClr val="1215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TextBox 7"/>
          <p:cNvSpPr txBox="1"/>
          <p:nvPr/>
        </p:nvSpPr>
        <p:spPr>
          <a:xfrm>
            <a:off x="685799" y="3337559"/>
            <a:ext cx="484632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b="1" sz="1100">
                <a:solidFill>
                  <a:srgbClr val="CADCFC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▌WSL（Ubuntu）から開く場合</a:t>
            </a:r>
          </a:p>
        </p:txBody>
      </p:sp>
      <p:sp>
        <p:nvSpPr>
          <p:cNvPr id="140" name="TextBox 8"/>
          <p:cNvSpPr txBox="1"/>
          <p:nvPr/>
        </p:nvSpPr>
        <p:spPr>
          <a:xfrm>
            <a:off x="685800" y="3703320"/>
            <a:ext cx="48006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code .</a:t>
            </a:r>
          </a:p>
        </p:txBody>
      </p:sp>
      <p:sp>
        <p:nvSpPr>
          <p:cNvPr id="141" name="Rounded Rectangle 9"/>
          <p:cNvSpPr/>
          <p:nvPr/>
        </p:nvSpPr>
        <p:spPr>
          <a:xfrm>
            <a:off x="5943600" y="1463039"/>
            <a:ext cx="5806441" cy="4343401"/>
          </a:xfrm>
          <a:prstGeom prst="roundRect">
            <a:avLst>
              <a:gd name="adj" fmla="val 16667"/>
            </a:avLst>
          </a:prstGeom>
          <a:solidFill>
            <a:srgbClr val="F2F4F8"/>
          </a:solidFill>
          <a:ln w="19050">
            <a:solidFill>
              <a:srgbClr val="B9C2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TextBox 10"/>
          <p:cNvSpPr txBox="1"/>
          <p:nvPr/>
        </p:nvSpPr>
        <p:spPr>
          <a:xfrm>
            <a:off x="6126479" y="3400424"/>
            <a:ext cx="5440681" cy="514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200"/>
              </a:spcBef>
              <a:defRPr sz="13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接続後は左下が WSL: Ubuntu 表示</a:t>
            </a:r>
          </a:p>
          <a:p>
            <a:pPr algn="ctr">
              <a:spcBef>
                <a:spcPts val="200"/>
              </a:spcBef>
              <a:defRPr sz="13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［ ここに実際の画面を貼り付け ］</a:t>
            </a:r>
          </a:p>
        </p:txBody>
      </p:sp>
      <p:sp>
        <p:nvSpPr>
          <p:cNvPr id="143" name="TextBox 11"/>
          <p:cNvSpPr txBox="1"/>
          <p:nvPr/>
        </p:nvSpPr>
        <p:spPr>
          <a:xfrm>
            <a:off x="457200" y="6446520"/>
            <a:ext cx="8229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9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JP Core / アドミニストレーションWG  —  VS Code 開発環境（Claude Code 実行環境）の構築</a:t>
            </a:r>
          </a:p>
        </p:txBody>
      </p:sp>
      <p:sp>
        <p:nvSpPr>
          <p:cNvPr id="144" name="TextBox 12"/>
          <p:cNvSpPr txBox="1"/>
          <p:nvPr/>
        </p:nvSpPr>
        <p:spPr>
          <a:xfrm>
            <a:off x="10972799" y="6446520"/>
            <a:ext cx="8229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200"/>
              </a:spcBef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Rectangle 2"/>
          <p:cNvSpPr/>
          <p:nvPr/>
        </p:nvSpPr>
        <p:spPr>
          <a:xfrm>
            <a:off x="-1" y="-1"/>
            <a:ext cx="12191697" cy="105156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50" name="Rounded Rectangle 3"/>
          <p:cNvGrpSpPr/>
          <p:nvPr/>
        </p:nvGrpSpPr>
        <p:grpSpPr>
          <a:xfrm>
            <a:off x="457200" y="256031"/>
            <a:ext cx="1554481" cy="548642"/>
            <a:chOff x="0" y="0"/>
            <a:chExt cx="1554480" cy="548640"/>
          </a:xfrm>
        </p:grpSpPr>
        <p:sp>
          <p:nvSpPr>
            <p:cNvPr id="148" name="角丸四角形"/>
            <p:cNvSpPr/>
            <p:nvPr/>
          </p:nvSpPr>
          <p:spPr>
            <a:xfrm>
              <a:off x="0" y="0"/>
              <a:ext cx="1554481" cy="548641"/>
            </a:xfrm>
            <a:prstGeom prst="roundRect">
              <a:avLst>
                <a:gd name="adj" fmla="val 16667"/>
              </a:avLst>
            </a:prstGeom>
            <a:solidFill>
              <a:srgbClr val="065A82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2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9" name="STEP 4"/>
            <p:cNvSpPr txBox="1"/>
            <p:nvPr/>
          </p:nvSpPr>
          <p:spPr>
            <a:xfrm>
              <a:off x="26781" y="153670"/>
              <a:ext cx="1500918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spcBef>
                  <a:spcPts val="200"/>
                </a:spcBef>
                <a:defRPr b="1" sz="1600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defRPr>
              </a:lvl1pPr>
            </a:lstStyle>
            <a:p>
              <a:pPr/>
              <a:r>
                <a:t>STEP 4</a:t>
              </a:r>
            </a:p>
          </p:txBody>
        </p:sp>
      </p:grpSp>
      <p:sp>
        <p:nvSpPr>
          <p:cNvPr id="151" name="TextBox 4"/>
          <p:cNvSpPr txBox="1"/>
          <p:nvPr/>
        </p:nvSpPr>
        <p:spPr>
          <a:xfrm>
            <a:off x="2240280" y="381127"/>
            <a:ext cx="9509760" cy="298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200"/>
              </a:spcBef>
              <a:defRPr b="1" sz="2300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リポジトリを開く</a:t>
            </a:r>
          </a:p>
        </p:txBody>
      </p:sp>
      <p:sp>
        <p:nvSpPr>
          <p:cNvPr id="152" name="TextBox 5"/>
          <p:cNvSpPr txBox="1"/>
          <p:nvPr/>
        </p:nvSpPr>
        <p:spPr>
          <a:xfrm>
            <a:off x="502919" y="1417319"/>
            <a:ext cx="5120642" cy="620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17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ファイル → フォルダーを開く で、WSL 内にクローンした jp-core-v1x を開きます。</a:t>
            </a:r>
          </a:p>
        </p:txBody>
      </p:sp>
      <p:sp>
        <p:nvSpPr>
          <p:cNvPr id="153" name="Rounded Rectangle 6"/>
          <p:cNvSpPr/>
          <p:nvPr/>
        </p:nvSpPr>
        <p:spPr>
          <a:xfrm>
            <a:off x="502919" y="3246120"/>
            <a:ext cx="5120642" cy="2377441"/>
          </a:xfrm>
          <a:prstGeom prst="roundRect">
            <a:avLst>
              <a:gd name="adj" fmla="val 16667"/>
            </a:avLst>
          </a:prstGeom>
          <a:solidFill>
            <a:srgbClr val="1215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TextBox 7"/>
          <p:cNvSpPr txBox="1"/>
          <p:nvPr/>
        </p:nvSpPr>
        <p:spPr>
          <a:xfrm>
            <a:off x="685799" y="3337559"/>
            <a:ext cx="4846322" cy="146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b="1" sz="1100">
                <a:solidFill>
                  <a:srgbClr val="CADCFC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▌メニュー操作</a:t>
            </a:r>
          </a:p>
        </p:txBody>
      </p:sp>
      <p:sp>
        <p:nvSpPr>
          <p:cNvPr id="155" name="TextBox 8"/>
          <p:cNvSpPr txBox="1"/>
          <p:nvPr/>
        </p:nvSpPr>
        <p:spPr>
          <a:xfrm>
            <a:off x="685800" y="3703320"/>
            <a:ext cx="48006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ファイル &gt; フォルダーを開く &gt; jp-core-v1x</a:t>
            </a:r>
          </a:p>
        </p:txBody>
      </p:sp>
      <p:sp>
        <p:nvSpPr>
          <p:cNvPr id="156" name="Rounded Rectangle 9"/>
          <p:cNvSpPr/>
          <p:nvPr/>
        </p:nvSpPr>
        <p:spPr>
          <a:xfrm>
            <a:off x="5943600" y="1463039"/>
            <a:ext cx="5806441" cy="4343401"/>
          </a:xfrm>
          <a:prstGeom prst="roundRect">
            <a:avLst>
              <a:gd name="adj" fmla="val 16667"/>
            </a:avLst>
          </a:prstGeom>
          <a:solidFill>
            <a:srgbClr val="F2F4F8"/>
          </a:solidFill>
          <a:ln w="19050">
            <a:solidFill>
              <a:srgbClr val="B9C2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10"/>
          <p:cNvSpPr txBox="1"/>
          <p:nvPr/>
        </p:nvSpPr>
        <p:spPr>
          <a:xfrm>
            <a:off x="6126479" y="3416300"/>
            <a:ext cx="5440681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200"/>
              </a:spcBef>
              <a:defRPr sz="13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フォルダを開く</a:t>
            </a:r>
          </a:p>
          <a:p>
            <a:pPr algn="ctr">
              <a:spcBef>
                <a:spcPts val="200"/>
              </a:spcBef>
              <a:defRPr sz="13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［ ここに実際の画面を貼り付け ］</a:t>
            </a:r>
          </a:p>
        </p:txBody>
      </p:sp>
      <p:sp>
        <p:nvSpPr>
          <p:cNvPr id="158" name="TextBox 11"/>
          <p:cNvSpPr txBox="1"/>
          <p:nvPr/>
        </p:nvSpPr>
        <p:spPr>
          <a:xfrm>
            <a:off x="457200" y="6446520"/>
            <a:ext cx="8229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9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JP Core / アドミニストレーションWG  —  VS Code 開発環境（Claude Code 実行環境）の構築</a:t>
            </a:r>
          </a:p>
        </p:txBody>
      </p:sp>
      <p:sp>
        <p:nvSpPr>
          <p:cNvPr id="159" name="TextBox 12"/>
          <p:cNvSpPr txBox="1"/>
          <p:nvPr/>
        </p:nvSpPr>
        <p:spPr>
          <a:xfrm>
            <a:off x="10972799" y="6446520"/>
            <a:ext cx="8229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200"/>
              </a:spcBef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5</a:t>
            </a:r>
          </a:p>
        </p:txBody>
      </p:sp>
      <p:pic>
        <p:nvPicPr>
          <p:cNvPr id="160" name="ペーストされたムービー.png" descr="ペーストされたムービ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20753" y="1896544"/>
            <a:ext cx="5440681" cy="350243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Rectangle 2"/>
          <p:cNvSpPr/>
          <p:nvPr/>
        </p:nvSpPr>
        <p:spPr>
          <a:xfrm>
            <a:off x="-1" y="-1"/>
            <a:ext cx="12191697" cy="105156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66" name="Rounded Rectangle 3"/>
          <p:cNvGrpSpPr/>
          <p:nvPr/>
        </p:nvGrpSpPr>
        <p:grpSpPr>
          <a:xfrm>
            <a:off x="457200" y="256031"/>
            <a:ext cx="1554481" cy="548642"/>
            <a:chOff x="0" y="0"/>
            <a:chExt cx="1554480" cy="548640"/>
          </a:xfrm>
        </p:grpSpPr>
        <p:sp>
          <p:nvSpPr>
            <p:cNvPr id="164" name="角丸四角形"/>
            <p:cNvSpPr/>
            <p:nvPr/>
          </p:nvSpPr>
          <p:spPr>
            <a:xfrm>
              <a:off x="0" y="0"/>
              <a:ext cx="1554481" cy="548641"/>
            </a:xfrm>
            <a:prstGeom prst="roundRect">
              <a:avLst>
                <a:gd name="adj" fmla="val 16667"/>
              </a:avLst>
            </a:prstGeom>
            <a:solidFill>
              <a:srgbClr val="065A82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2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5" name="STEP 5"/>
            <p:cNvSpPr txBox="1"/>
            <p:nvPr/>
          </p:nvSpPr>
          <p:spPr>
            <a:xfrm>
              <a:off x="26781" y="153670"/>
              <a:ext cx="1500918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spcBef>
                  <a:spcPts val="200"/>
                </a:spcBef>
                <a:defRPr b="1" sz="1600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defRPr>
              </a:lvl1pPr>
            </a:lstStyle>
            <a:p>
              <a:pPr/>
              <a:r>
                <a:t>STEP 5</a:t>
              </a:r>
            </a:p>
          </p:txBody>
        </p:sp>
      </p:grpSp>
      <p:sp>
        <p:nvSpPr>
          <p:cNvPr id="167" name="TextBox 4"/>
          <p:cNvSpPr txBox="1"/>
          <p:nvPr/>
        </p:nvSpPr>
        <p:spPr>
          <a:xfrm>
            <a:off x="2240280" y="352551"/>
            <a:ext cx="950976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200"/>
              </a:spcBef>
              <a:defRPr b="1" sz="2300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「Claude Code」拡張を入れる</a:t>
            </a:r>
          </a:p>
        </p:txBody>
      </p:sp>
      <p:sp>
        <p:nvSpPr>
          <p:cNvPr id="168" name="TextBox 5"/>
          <p:cNvSpPr txBox="1"/>
          <p:nvPr/>
        </p:nvSpPr>
        <p:spPr>
          <a:xfrm>
            <a:off x="502919" y="1417319"/>
            <a:ext cx="5120642" cy="977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17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Ctrl + Shift + X で「Claude Code」を検索し Install します。WSL 接続側に入り、本体（CLI）も同梱されるので GUI で使えます。</a:t>
            </a:r>
          </a:p>
        </p:txBody>
      </p:sp>
      <p:sp>
        <p:nvSpPr>
          <p:cNvPr id="169" name="Rounded Rectangle 6"/>
          <p:cNvSpPr/>
          <p:nvPr/>
        </p:nvSpPr>
        <p:spPr>
          <a:xfrm>
            <a:off x="5943600" y="1463039"/>
            <a:ext cx="5806441" cy="4343401"/>
          </a:xfrm>
          <a:prstGeom prst="roundRect">
            <a:avLst>
              <a:gd name="adj" fmla="val 16667"/>
            </a:avLst>
          </a:prstGeom>
          <a:solidFill>
            <a:srgbClr val="F2F4F8"/>
          </a:solidFill>
          <a:ln w="19050">
            <a:solidFill>
              <a:srgbClr val="B9C2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" name="TextBox 7"/>
          <p:cNvSpPr txBox="1"/>
          <p:nvPr/>
        </p:nvSpPr>
        <p:spPr>
          <a:xfrm>
            <a:off x="6126479" y="3400424"/>
            <a:ext cx="5440681" cy="514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200"/>
              </a:spcBef>
              <a:defRPr sz="13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Claude Code 拡張のインストール</a:t>
            </a:r>
          </a:p>
          <a:p>
            <a:pPr algn="ctr">
              <a:spcBef>
                <a:spcPts val="200"/>
              </a:spcBef>
              <a:defRPr sz="13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［ ここに実際の画面を貼り付け ］</a:t>
            </a:r>
          </a:p>
        </p:txBody>
      </p:sp>
      <p:sp>
        <p:nvSpPr>
          <p:cNvPr id="171" name="TextBox 8"/>
          <p:cNvSpPr txBox="1"/>
          <p:nvPr/>
        </p:nvSpPr>
        <p:spPr>
          <a:xfrm>
            <a:off x="457200" y="6446520"/>
            <a:ext cx="8229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9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JP Core / アドミニストレーションWG  —  VS Code 開発環境（Claude Code 実行環境）の構築</a:t>
            </a:r>
          </a:p>
        </p:txBody>
      </p:sp>
      <p:sp>
        <p:nvSpPr>
          <p:cNvPr id="172" name="TextBox 9"/>
          <p:cNvSpPr txBox="1"/>
          <p:nvPr/>
        </p:nvSpPr>
        <p:spPr>
          <a:xfrm>
            <a:off x="10972799" y="6446520"/>
            <a:ext cx="8229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200"/>
              </a:spcBef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6</a:t>
            </a:r>
          </a:p>
        </p:txBody>
      </p:sp>
      <p:pic>
        <p:nvPicPr>
          <p:cNvPr id="173" name="ペーストされたムービー.png" descr="ペーストされたムービ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51880" y="1919081"/>
            <a:ext cx="5440681" cy="3502438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四角形"/>
          <p:cNvSpPr/>
          <p:nvPr/>
        </p:nvSpPr>
        <p:spPr>
          <a:xfrm>
            <a:off x="8616950" y="2705100"/>
            <a:ext cx="383084" cy="141338"/>
          </a:xfrm>
          <a:prstGeom prst="rect">
            <a:avLst/>
          </a:prstGeom>
          <a:ln w="25400">
            <a:solidFill>
              <a:srgbClr val="FF26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Rectangle 2"/>
          <p:cNvSpPr/>
          <p:nvPr/>
        </p:nvSpPr>
        <p:spPr>
          <a:xfrm>
            <a:off x="-1" y="-1"/>
            <a:ext cx="12191697" cy="105156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80" name="Rounded Rectangle 3"/>
          <p:cNvGrpSpPr/>
          <p:nvPr/>
        </p:nvGrpSpPr>
        <p:grpSpPr>
          <a:xfrm>
            <a:off x="457200" y="256031"/>
            <a:ext cx="1554481" cy="548642"/>
            <a:chOff x="0" y="0"/>
            <a:chExt cx="1554480" cy="548640"/>
          </a:xfrm>
        </p:grpSpPr>
        <p:sp>
          <p:nvSpPr>
            <p:cNvPr id="178" name="角丸四角形"/>
            <p:cNvSpPr/>
            <p:nvPr/>
          </p:nvSpPr>
          <p:spPr>
            <a:xfrm>
              <a:off x="0" y="0"/>
              <a:ext cx="1554481" cy="548641"/>
            </a:xfrm>
            <a:prstGeom prst="roundRect">
              <a:avLst>
                <a:gd name="adj" fmla="val 16667"/>
              </a:avLst>
            </a:prstGeom>
            <a:solidFill>
              <a:srgbClr val="065A82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2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9" name="STEP 6"/>
            <p:cNvSpPr txBox="1"/>
            <p:nvPr/>
          </p:nvSpPr>
          <p:spPr>
            <a:xfrm>
              <a:off x="26781" y="153670"/>
              <a:ext cx="1500918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spcBef>
                  <a:spcPts val="200"/>
                </a:spcBef>
                <a:defRPr b="1" sz="1600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defRPr>
              </a:lvl1pPr>
            </a:lstStyle>
            <a:p>
              <a:pPr/>
              <a:r>
                <a:t>STEP 6</a:t>
              </a:r>
            </a:p>
          </p:txBody>
        </p:sp>
      </p:grpSp>
      <p:sp>
        <p:nvSpPr>
          <p:cNvPr id="181" name="TextBox 4"/>
          <p:cNvSpPr txBox="1"/>
          <p:nvPr/>
        </p:nvSpPr>
        <p:spPr>
          <a:xfrm>
            <a:off x="2240280" y="352551"/>
            <a:ext cx="950976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200"/>
              </a:spcBef>
              <a:defRPr b="1" sz="2300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Claude Code パネルを開く</a:t>
            </a:r>
          </a:p>
        </p:txBody>
      </p:sp>
      <p:sp>
        <p:nvSpPr>
          <p:cNvPr id="182" name="TextBox 5"/>
          <p:cNvSpPr txBox="1"/>
          <p:nvPr/>
        </p:nvSpPr>
        <p:spPr>
          <a:xfrm>
            <a:off x="502919" y="1417319"/>
            <a:ext cx="5120642" cy="3680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7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Ctrl + Shift + P でコマンドパレットを開き「Claude Code」と入力 → 表示された「Claude Code: Open in New Tab」を選びます。案内に従い資料0のアカウント（有料プラン）で認可します。</a:t>
            </a:r>
            <a:br/>
            <a:br/>
            <a:r>
              <a:t>　①「Claude.ai Subscription」を選ぶ</a:t>
            </a:r>
          </a:p>
          <a:p>
            <a:pPr>
              <a:spcBef>
                <a:spcPts val="200"/>
              </a:spcBef>
              <a:defRPr sz="17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　② ブラウザが開く</a:t>
            </a:r>
          </a:p>
          <a:p>
            <a:pPr>
              <a:spcBef>
                <a:spcPts val="200"/>
              </a:spcBef>
              <a:defRPr sz="17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　③ 有料プランのアカウントで認可</a:t>
            </a:r>
            <a:br/>
            <a:br/>
            <a:r>
              <a:t>＊途中、ブラウザでSERENAという画面がが開きますがそのまま閉じます。解説参照。</a:t>
            </a:r>
          </a:p>
        </p:txBody>
      </p:sp>
      <p:sp>
        <p:nvSpPr>
          <p:cNvPr id="183" name="Rounded Rectangle 6"/>
          <p:cNvSpPr/>
          <p:nvPr/>
        </p:nvSpPr>
        <p:spPr>
          <a:xfrm>
            <a:off x="5943600" y="1463039"/>
            <a:ext cx="5806441" cy="4343401"/>
          </a:xfrm>
          <a:prstGeom prst="roundRect">
            <a:avLst>
              <a:gd name="adj" fmla="val 16667"/>
            </a:avLst>
          </a:prstGeom>
          <a:solidFill>
            <a:srgbClr val="F2F4F8"/>
          </a:solidFill>
          <a:ln w="19050">
            <a:solidFill>
              <a:srgbClr val="B9C2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TextBox 7"/>
          <p:cNvSpPr txBox="1"/>
          <p:nvPr/>
        </p:nvSpPr>
        <p:spPr>
          <a:xfrm>
            <a:off x="6126479" y="3400424"/>
            <a:ext cx="5440681" cy="514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200"/>
              </a:spcBef>
              <a:defRPr sz="13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Claude Code パネル</a:t>
            </a:r>
          </a:p>
          <a:p>
            <a:pPr algn="ctr">
              <a:spcBef>
                <a:spcPts val="200"/>
              </a:spcBef>
              <a:defRPr sz="13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［ ここに実際の画面を貼り付け ］</a:t>
            </a:r>
          </a:p>
        </p:txBody>
      </p:sp>
      <p:sp>
        <p:nvSpPr>
          <p:cNvPr id="185" name="TextBox 8"/>
          <p:cNvSpPr txBox="1"/>
          <p:nvPr/>
        </p:nvSpPr>
        <p:spPr>
          <a:xfrm>
            <a:off x="457200" y="6446520"/>
            <a:ext cx="8229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9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JP Core / アドミニストレーションWG  —  VS Code 開発環境（Claude Code 実行環境）の構築</a:t>
            </a:r>
          </a:p>
        </p:txBody>
      </p:sp>
      <p:sp>
        <p:nvSpPr>
          <p:cNvPr id="186" name="TextBox 9"/>
          <p:cNvSpPr txBox="1"/>
          <p:nvPr/>
        </p:nvSpPr>
        <p:spPr>
          <a:xfrm>
            <a:off x="10972799" y="6446520"/>
            <a:ext cx="8229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200"/>
              </a:spcBef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7</a:t>
            </a:r>
          </a:p>
        </p:txBody>
      </p:sp>
      <p:pic>
        <p:nvPicPr>
          <p:cNvPr id="187" name="ペーストされたムービー.png" descr="ペーストされたムービ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16417" y="1816626"/>
            <a:ext cx="5460806" cy="35153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0" name="Rectangle 2"/>
          <p:cNvSpPr/>
          <p:nvPr/>
        </p:nvSpPr>
        <p:spPr>
          <a:xfrm>
            <a:off x="-1" y="-1"/>
            <a:ext cx="12191697" cy="105156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93" name="Rounded Rectangle 3"/>
          <p:cNvGrpSpPr/>
          <p:nvPr/>
        </p:nvGrpSpPr>
        <p:grpSpPr>
          <a:xfrm>
            <a:off x="457200" y="256031"/>
            <a:ext cx="1554481" cy="548642"/>
            <a:chOff x="0" y="0"/>
            <a:chExt cx="1554480" cy="548640"/>
          </a:xfrm>
        </p:grpSpPr>
        <p:sp>
          <p:nvSpPr>
            <p:cNvPr id="191" name="角丸四角形"/>
            <p:cNvSpPr/>
            <p:nvPr/>
          </p:nvSpPr>
          <p:spPr>
            <a:xfrm>
              <a:off x="0" y="0"/>
              <a:ext cx="1554481" cy="548641"/>
            </a:xfrm>
            <a:prstGeom prst="roundRect">
              <a:avLst>
                <a:gd name="adj" fmla="val 16667"/>
              </a:avLst>
            </a:prstGeom>
            <a:solidFill>
              <a:srgbClr val="065A82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2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2" name="解説"/>
            <p:cNvSpPr txBox="1"/>
            <p:nvPr/>
          </p:nvSpPr>
          <p:spPr>
            <a:xfrm>
              <a:off x="26781" y="172720"/>
              <a:ext cx="1500918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spcBef>
                  <a:spcPts val="200"/>
                </a:spcBef>
                <a:defRPr b="1" sz="1600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defRPr>
              </a:lvl1pPr>
            </a:lstStyle>
            <a:p>
              <a:pPr/>
              <a:r>
                <a:t>解説</a:t>
              </a:r>
            </a:p>
          </p:txBody>
        </p:sp>
      </p:grpSp>
      <p:sp>
        <p:nvSpPr>
          <p:cNvPr id="194" name="TextBox 4"/>
          <p:cNvSpPr txBox="1"/>
          <p:nvPr/>
        </p:nvSpPr>
        <p:spPr>
          <a:xfrm>
            <a:off x="2240279" y="365251"/>
            <a:ext cx="95097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200"/>
              </a:spcBef>
              <a:defRPr b="1" sz="2200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Serena とは — リポジトリで自動起動</a:t>
            </a:r>
          </a:p>
        </p:txBody>
      </p:sp>
      <p:sp>
        <p:nvSpPr>
          <p:cNvPr id="195" name="Rounded Rectangle 5"/>
          <p:cNvSpPr/>
          <p:nvPr/>
        </p:nvSpPr>
        <p:spPr>
          <a:xfrm>
            <a:off x="548640" y="1371600"/>
            <a:ext cx="5394960" cy="4526280"/>
          </a:xfrm>
          <a:prstGeom prst="roundRect">
            <a:avLst>
              <a:gd name="adj" fmla="val 16667"/>
            </a:avLst>
          </a:prstGeom>
          <a:solidFill>
            <a:srgbClr val="F2F4F8"/>
          </a:solidFill>
          <a:ln w="15875">
            <a:solidFill>
              <a:srgbClr val="2C5F2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98" name="Rounded Rectangle 6"/>
          <p:cNvGrpSpPr/>
          <p:nvPr/>
        </p:nvGrpSpPr>
        <p:grpSpPr>
          <a:xfrm>
            <a:off x="548640" y="1371600"/>
            <a:ext cx="5394960" cy="658369"/>
            <a:chOff x="0" y="0"/>
            <a:chExt cx="5394959" cy="658368"/>
          </a:xfrm>
        </p:grpSpPr>
        <p:sp>
          <p:nvSpPr>
            <p:cNvPr id="196" name="角丸四角形"/>
            <p:cNvSpPr/>
            <p:nvPr/>
          </p:nvSpPr>
          <p:spPr>
            <a:xfrm>
              <a:off x="0" y="0"/>
              <a:ext cx="5394960" cy="658369"/>
            </a:xfrm>
            <a:prstGeom prst="roundRect">
              <a:avLst>
                <a:gd name="adj" fmla="val 16667"/>
              </a:avLst>
            </a:prstGeom>
            <a:solidFill>
              <a:srgbClr val="2C5F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2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7" name="Serena とは"/>
            <p:cNvSpPr txBox="1"/>
            <p:nvPr/>
          </p:nvSpPr>
          <p:spPr>
            <a:xfrm>
              <a:off x="32139" y="214884"/>
              <a:ext cx="5330682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spcBef>
                  <a:spcPts val="200"/>
                </a:spcBef>
                <a:defRPr b="1" sz="1500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defRPr>
              </a:lvl1pPr>
            </a:lstStyle>
            <a:p>
              <a:pPr/>
              <a:r>
                <a:t>Serena とは</a:t>
              </a:r>
            </a:p>
          </p:txBody>
        </p:sp>
      </p:grpSp>
      <p:sp>
        <p:nvSpPr>
          <p:cNvPr id="199" name="TextBox 7"/>
          <p:cNvSpPr txBox="1"/>
          <p:nvPr/>
        </p:nvSpPr>
        <p:spPr>
          <a:xfrm>
            <a:off x="822958" y="2286000"/>
            <a:ext cx="4892042" cy="2137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5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・コードを意味的に扱う</a:t>
            </a:r>
          </a:p>
          <a:p>
            <a:pPr>
              <a:spcBef>
                <a:spcPts val="200"/>
              </a:spcBef>
              <a:defRPr sz="15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　AI 用ツールキット（MCP サーバー）</a:t>
            </a:r>
          </a:p>
          <a:p>
            <a:pPr>
              <a:spcBef>
                <a:spcPts val="200"/>
              </a:spcBef>
              <a:defRPr sz="15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・シンボル検索・参照箇所の特定</a:t>
            </a:r>
          </a:p>
          <a:p>
            <a:pPr>
              <a:spcBef>
                <a:spcPts val="200"/>
              </a:spcBef>
              <a:defRPr sz="15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・ピンポイントな部分編集</a:t>
            </a:r>
          </a:p>
          <a:p>
            <a:pPr>
              <a:spcBef>
                <a:spcPts val="200"/>
              </a:spcBef>
              <a:defRPr sz="15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pPr>
          </a:p>
          <a:p>
            <a:pPr>
              <a:spcBef>
                <a:spcPts val="200"/>
              </a:spcBef>
              <a:defRPr sz="15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→ 大規模な FSH でも該当箇所を</a:t>
            </a:r>
          </a:p>
          <a:p>
            <a:pPr>
              <a:spcBef>
                <a:spcPts val="200"/>
              </a:spcBef>
              <a:defRPr sz="15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　 正確に扱えるようにする</a:t>
            </a:r>
          </a:p>
        </p:txBody>
      </p:sp>
      <p:sp>
        <p:nvSpPr>
          <p:cNvPr id="200" name="Rounded Rectangle 8"/>
          <p:cNvSpPr/>
          <p:nvPr/>
        </p:nvSpPr>
        <p:spPr>
          <a:xfrm>
            <a:off x="6263640" y="1371600"/>
            <a:ext cx="5394960" cy="4526280"/>
          </a:xfrm>
          <a:prstGeom prst="roundRect">
            <a:avLst>
              <a:gd name="adj" fmla="val 16667"/>
            </a:avLst>
          </a:prstGeom>
          <a:solidFill>
            <a:srgbClr val="F2F4F8"/>
          </a:solidFill>
          <a:ln w="15875">
            <a:solidFill>
              <a:srgbClr val="065A8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03" name="Rounded Rectangle 9"/>
          <p:cNvGrpSpPr/>
          <p:nvPr/>
        </p:nvGrpSpPr>
        <p:grpSpPr>
          <a:xfrm>
            <a:off x="6263640" y="1371600"/>
            <a:ext cx="5394960" cy="658369"/>
            <a:chOff x="0" y="0"/>
            <a:chExt cx="5394959" cy="658368"/>
          </a:xfrm>
        </p:grpSpPr>
        <p:sp>
          <p:nvSpPr>
            <p:cNvPr id="201" name="角丸四角形"/>
            <p:cNvSpPr/>
            <p:nvPr/>
          </p:nvSpPr>
          <p:spPr>
            <a:xfrm>
              <a:off x="0" y="0"/>
              <a:ext cx="5394960" cy="658369"/>
            </a:xfrm>
            <a:prstGeom prst="roundRect">
              <a:avLst>
                <a:gd name="adj" fmla="val 16667"/>
              </a:avLst>
            </a:prstGeom>
            <a:solidFill>
              <a:srgbClr val="065A82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2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2" name="リポジトリで自動起動するよう設定済み"/>
            <p:cNvSpPr txBox="1"/>
            <p:nvPr/>
          </p:nvSpPr>
          <p:spPr>
            <a:xfrm>
              <a:off x="32139" y="230759"/>
              <a:ext cx="5330682" cy="1968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spcBef>
                  <a:spcPts val="200"/>
                </a:spcBef>
                <a:defRPr b="1" sz="1500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defRPr>
              </a:lvl1pPr>
            </a:lstStyle>
            <a:p>
              <a:pPr/>
              <a:r>
                <a:t>リポジトリで自動起動するよう設定済み</a:t>
              </a:r>
            </a:p>
          </p:txBody>
        </p:sp>
      </p:grpSp>
      <p:sp>
        <p:nvSpPr>
          <p:cNvPr id="204" name="TextBox 10"/>
          <p:cNvSpPr txBox="1"/>
          <p:nvPr/>
        </p:nvSpPr>
        <p:spPr>
          <a:xfrm>
            <a:off x="6537959" y="2286000"/>
            <a:ext cx="4892041" cy="2165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5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・.mcp.json に設定済み</a:t>
            </a:r>
          </a:p>
          <a:p>
            <a:pPr>
              <a:spcBef>
                <a:spcPts val="200"/>
              </a:spcBef>
              <a:defRPr sz="15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・パネルを開くと uvx で</a:t>
            </a:r>
          </a:p>
          <a:p>
            <a:pPr>
              <a:spcBef>
                <a:spcPts val="200"/>
              </a:spcBef>
              <a:defRPr sz="15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　自動取得・自動起動</a:t>
            </a:r>
          </a:p>
          <a:p>
            <a:pPr>
              <a:spcBef>
                <a:spcPts val="200"/>
              </a:spcBef>
              <a:defRPr sz="15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・個別インストールは不要</a:t>
            </a:r>
          </a:p>
          <a:p>
            <a:pPr>
              <a:spcBef>
                <a:spcPts val="200"/>
              </a:spcBef>
              <a:defRPr sz="15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　（uv があればOK）</a:t>
            </a:r>
          </a:p>
          <a:p>
            <a:pPr>
              <a:spcBef>
                <a:spcPts val="200"/>
              </a:spcBef>
              <a:defRPr sz="15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pPr>
          </a:p>
          <a:p>
            <a:pPr>
              <a:spcBef>
                <a:spcPts val="200"/>
              </a:spcBef>
              <a:defRPr sz="15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※ 初回はダッシュボードが開く</a:t>
            </a:r>
          </a:p>
        </p:txBody>
      </p:sp>
      <p:sp>
        <p:nvSpPr>
          <p:cNvPr id="205" name="TextBox 11"/>
          <p:cNvSpPr txBox="1"/>
          <p:nvPr/>
        </p:nvSpPr>
        <p:spPr>
          <a:xfrm>
            <a:off x="457200" y="6446520"/>
            <a:ext cx="8229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9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JP Core / アドミニストレーションWG  —  VS Code 開発環境（Claude Code 実行環境）の構築</a:t>
            </a:r>
          </a:p>
        </p:txBody>
      </p:sp>
      <p:sp>
        <p:nvSpPr>
          <p:cNvPr id="206" name="TextBox 12"/>
          <p:cNvSpPr txBox="1"/>
          <p:nvPr/>
        </p:nvSpPr>
        <p:spPr>
          <a:xfrm>
            <a:off x="10972800" y="6446520"/>
            <a:ext cx="8229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200"/>
              </a:spcBef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2F4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" name="Rectangle 2"/>
          <p:cNvSpPr/>
          <p:nvPr/>
        </p:nvSpPr>
        <p:spPr>
          <a:xfrm>
            <a:off x="-1" y="2194559"/>
            <a:ext cx="12191697" cy="2468882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" name="TextBox 3"/>
          <p:cNvSpPr txBox="1"/>
          <p:nvPr/>
        </p:nvSpPr>
        <p:spPr>
          <a:xfrm>
            <a:off x="914399" y="2468879"/>
            <a:ext cx="1033272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セットアップ完了 → ここから spec-kit を使い始める</a:t>
            </a:r>
          </a:p>
        </p:txBody>
      </p:sp>
      <p:sp>
        <p:nvSpPr>
          <p:cNvPr id="211" name="TextBox 4"/>
          <p:cNvSpPr txBox="1"/>
          <p:nvPr/>
        </p:nvSpPr>
        <p:spPr>
          <a:xfrm>
            <a:off x="914399" y="3108960"/>
            <a:ext cx="10332722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b="1" sz="3200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Claude Code パネルに /speckit.specify と入力して開始</a:t>
            </a:r>
          </a:p>
        </p:txBody>
      </p:sp>
      <p:sp>
        <p:nvSpPr>
          <p:cNvPr id="212" name="TextBox 5"/>
          <p:cNvSpPr txBox="1"/>
          <p:nvPr/>
        </p:nvSpPr>
        <p:spPr>
          <a:xfrm>
            <a:off x="457200" y="6446520"/>
            <a:ext cx="8229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9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JP Core / アドミニストレーションWG  —  VS Code 開発環境（Claude Code 実行環境）の構築</a:t>
            </a:r>
          </a:p>
        </p:txBody>
      </p:sp>
      <p:sp>
        <p:nvSpPr>
          <p:cNvPr id="213" name="TextBox 6"/>
          <p:cNvSpPr txBox="1"/>
          <p:nvPr/>
        </p:nvSpPr>
        <p:spPr>
          <a:xfrm>
            <a:off x="10972799" y="6446520"/>
            <a:ext cx="8229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200"/>
              </a:spcBef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" name="Rectangle 2"/>
          <p:cNvSpPr/>
          <p:nvPr/>
        </p:nvSpPr>
        <p:spPr>
          <a:xfrm>
            <a:off x="-1" y="-1"/>
            <a:ext cx="12191697" cy="411482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TextBox 3"/>
          <p:cNvSpPr txBox="1"/>
          <p:nvPr/>
        </p:nvSpPr>
        <p:spPr>
          <a:xfrm>
            <a:off x="822960" y="914399"/>
            <a:ext cx="10515601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b="1" sz="3200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VS Code 環境の構築完了（GUI / Remote-WSL）</a:t>
            </a:r>
          </a:p>
        </p:txBody>
      </p:sp>
      <p:sp>
        <p:nvSpPr>
          <p:cNvPr id="218" name="TextBox 4"/>
          <p:cNvSpPr txBox="1"/>
          <p:nvPr/>
        </p:nvSpPr>
        <p:spPr>
          <a:xfrm>
            <a:off x="822960" y="2286000"/>
            <a:ext cx="10515601" cy="153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>
                <a:solidFill>
                  <a:srgbClr val="CADCFC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✓ VS Code に「WSL」「Claude Code」拡張を入れて WSL に接続</a:t>
            </a:r>
          </a:p>
          <a:p>
            <a:pPr>
              <a:spcBef>
                <a:spcPts val="200"/>
              </a:spcBef>
              <a:defRPr>
                <a:solidFill>
                  <a:srgbClr val="CADCFC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✓ WSL 内の jp-core-v1x を開く</a:t>
            </a:r>
          </a:p>
          <a:p>
            <a:pPr>
              <a:spcBef>
                <a:spcPts val="200"/>
              </a:spcBef>
              <a:defRPr>
                <a:solidFill>
                  <a:srgbClr val="CADCFC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✓ GUIパネルにてClaude Codeにサインインする。</a:t>
            </a:r>
          </a:p>
          <a:p>
            <a:pPr>
              <a:spcBef>
                <a:spcPts val="200"/>
              </a:spcBef>
              <a:defRPr>
                <a:solidFill>
                  <a:srgbClr val="CADCFC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✓ spec kit の使い方は『資料3』へ</a:t>
            </a:r>
          </a:p>
        </p:txBody>
      </p:sp>
      <p:sp>
        <p:nvSpPr>
          <p:cNvPr id="219" name="TextBox 5"/>
          <p:cNvSpPr txBox="1"/>
          <p:nvPr/>
        </p:nvSpPr>
        <p:spPr>
          <a:xfrm>
            <a:off x="457200" y="6446520"/>
            <a:ext cx="8229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9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JP Core / アドミニストレーションWG  —  VS Code 開発環境（Claude Code 実行環境）の構築</a:t>
            </a:r>
          </a:p>
        </p:txBody>
      </p:sp>
      <p:sp>
        <p:nvSpPr>
          <p:cNvPr id="220" name="TextBox 6"/>
          <p:cNvSpPr txBox="1"/>
          <p:nvPr/>
        </p:nvSpPr>
        <p:spPr>
          <a:xfrm>
            <a:off x="10972799" y="6446520"/>
            <a:ext cx="8229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200"/>
              </a:spcBef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