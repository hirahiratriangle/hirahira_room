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タイトルテキスト"/>
          <p:cNvSpPr txBox="1"/>
          <p:nvPr>
            <p:ph type="title"/>
          </p:nvPr>
        </p:nvSpPr>
        <p:spPr>
          <a:xfrm>
            <a:off x="685800" y="2130425"/>
            <a:ext cx="7772400" cy="1470025"/>
          </a:xfrm>
          <a:prstGeom prst="rect">
            <a:avLst/>
          </a:prstGeom>
        </p:spPr>
        <p:txBody>
          <a:bodyPr/>
          <a:lstStyle/>
          <a:p>
            <a:pPr/>
            <a:r>
              <a:t>タイトルテキスト</a:t>
            </a:r>
          </a:p>
        </p:txBody>
      </p:sp>
      <p:sp>
        <p:nvSpPr>
          <p:cNvPr id="12" name="本文レベル1…"/>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0" algn="ctr">
              <a:buSzTx/>
              <a:buFontTx/>
              <a:buNone/>
              <a:defRPr>
                <a:solidFill>
                  <a:srgbClr val="888888"/>
                </a:solidFill>
              </a:defRPr>
            </a:lvl2pPr>
            <a:lvl3pPr marL="0" indent="0" algn="ctr">
              <a:buSzTx/>
              <a:buFontTx/>
              <a:buNone/>
              <a:defRPr>
                <a:solidFill>
                  <a:srgbClr val="888888"/>
                </a:solidFill>
              </a:defRPr>
            </a:lvl3pPr>
            <a:lvl4pPr marL="0" indent="0" algn="ctr">
              <a:buSzTx/>
              <a:buFontTx/>
              <a:buNone/>
              <a:defRPr>
                <a:solidFill>
                  <a:srgbClr val="888888"/>
                </a:solidFill>
              </a:defRPr>
            </a:lvl4pPr>
            <a:lvl5pPr marL="0" indent="0" algn="ctr">
              <a:buSzTx/>
              <a:buFontTx/>
              <a:buNone/>
              <a:defRPr>
                <a:solidFill>
                  <a:srgbClr val="888888"/>
                </a:solidFill>
              </a:defRPr>
            </a:lvl5pPr>
          </a:lstStyle>
          <a:p>
            <a:pPr/>
            <a:r>
              <a:t>本文レベル1</a:t>
            </a:r>
          </a:p>
          <a:p>
            <a:pPr lvl="1"/>
            <a:r>
              <a:t>本文レベル2</a:t>
            </a:r>
          </a:p>
          <a:p>
            <a:pPr lvl="2"/>
            <a:r>
              <a:t>本文レベル3</a:t>
            </a:r>
          </a:p>
          <a:p>
            <a:pPr lvl="3"/>
            <a:r>
              <a:t>本文レベル4</a:t>
            </a:r>
          </a:p>
          <a:p>
            <a:pPr lvl="4"/>
            <a:r>
              <a:t>本文レベル5</a:t>
            </a:r>
          </a:p>
        </p:txBody>
      </p:sp>
      <p:sp>
        <p:nvSpPr>
          <p:cNvPr id="13"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タイトルテキスト"/>
          <p:cNvSpPr txBox="1"/>
          <p:nvPr>
            <p:ph type="title"/>
          </p:nvPr>
        </p:nvSpPr>
        <p:spPr>
          <a:prstGeom prst="rect">
            <a:avLst/>
          </a:prstGeom>
        </p:spPr>
        <p:txBody>
          <a:bodyPr/>
          <a:lstStyle/>
          <a:p>
            <a:pPr/>
            <a:r>
              <a:t>タイトルテキスト</a:t>
            </a:r>
          </a:p>
        </p:txBody>
      </p:sp>
      <p:sp>
        <p:nvSpPr>
          <p:cNvPr id="21" name="本文レベル1…"/>
          <p:cNvSpPr txBox="1"/>
          <p:nvPr>
            <p:ph type="body" idx="1"/>
          </p:nvPr>
        </p:nvSpPr>
        <p:spPr>
          <a:prstGeom prst="rect">
            <a:avLst/>
          </a:prstGeom>
        </p:spPr>
        <p:txBody>
          <a:bodyPr/>
          <a:lstStyle/>
          <a:p>
            <a:pPr/>
            <a:r>
              <a:t>本文レベル1</a:t>
            </a:r>
          </a:p>
          <a:p>
            <a:pPr lvl="1"/>
            <a:r>
              <a:t>本文レベル2</a:t>
            </a:r>
          </a:p>
          <a:p>
            <a:pPr lvl="2"/>
            <a:r>
              <a:t>本文レベル3</a:t>
            </a:r>
          </a:p>
          <a:p>
            <a:pPr lvl="3"/>
            <a:r>
              <a:t>本文レベル4</a:t>
            </a:r>
          </a:p>
          <a:p>
            <a:pPr lvl="4"/>
            <a:r>
              <a:t>本文レベル5</a:t>
            </a:r>
          </a:p>
        </p:txBody>
      </p:sp>
      <p:sp>
        <p:nvSpPr>
          <p:cNvPr id="22"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タイトルテキスト"/>
          <p:cNvSpPr txBox="1"/>
          <p:nvPr>
            <p:ph type="title"/>
          </p:nvPr>
        </p:nvSpPr>
        <p:spPr>
          <a:xfrm>
            <a:off x="722312" y="4406900"/>
            <a:ext cx="7772401" cy="1362075"/>
          </a:xfrm>
          <a:prstGeom prst="rect">
            <a:avLst/>
          </a:prstGeom>
        </p:spPr>
        <p:txBody>
          <a:bodyPr anchor="t"/>
          <a:lstStyle>
            <a:lvl1pPr algn="l">
              <a:defRPr b="1" cap="all" sz="4000"/>
            </a:lvl1pPr>
          </a:lstStyle>
          <a:p>
            <a:pPr/>
            <a:r>
              <a:t>タイトルテキスト</a:t>
            </a:r>
          </a:p>
        </p:txBody>
      </p:sp>
      <p:sp>
        <p:nvSpPr>
          <p:cNvPr id="30" name="本文レベル1…"/>
          <p:cNvSpPr txBox="1"/>
          <p:nvPr>
            <p:ph type="body" sz="quarter" idx="1"/>
          </p:nvPr>
        </p:nvSpPr>
        <p:spPr>
          <a:xfrm>
            <a:off x="722312" y="2906713"/>
            <a:ext cx="7772401" cy="1500206"/>
          </a:xfrm>
          <a:prstGeom prst="rect">
            <a:avLst/>
          </a:prstGeom>
        </p:spPr>
        <p:txBody>
          <a:bodyPr anchor="b"/>
          <a:lstStyle>
            <a:lvl1pPr marL="0" indent="0">
              <a:spcBef>
                <a:spcPts val="400"/>
              </a:spcBef>
              <a:buSzTx/>
              <a:buFontTx/>
              <a:buNone/>
              <a:defRPr sz="2000">
                <a:solidFill>
                  <a:srgbClr val="888888"/>
                </a:solidFill>
              </a:defRPr>
            </a:lvl1pPr>
            <a:lvl2pPr marL="0" indent="0">
              <a:spcBef>
                <a:spcPts val="400"/>
              </a:spcBef>
              <a:buSzTx/>
              <a:buFontTx/>
              <a:buNone/>
              <a:defRPr sz="2000">
                <a:solidFill>
                  <a:srgbClr val="888888"/>
                </a:solidFill>
              </a:defRPr>
            </a:lvl2pPr>
            <a:lvl3pPr marL="0" indent="0">
              <a:spcBef>
                <a:spcPts val="400"/>
              </a:spcBef>
              <a:buSzTx/>
              <a:buFontTx/>
              <a:buNone/>
              <a:defRPr sz="2000">
                <a:solidFill>
                  <a:srgbClr val="888888"/>
                </a:solidFill>
              </a:defRPr>
            </a:lvl3pPr>
            <a:lvl4pPr marL="0" indent="0">
              <a:spcBef>
                <a:spcPts val="400"/>
              </a:spcBef>
              <a:buSzTx/>
              <a:buFontTx/>
              <a:buNone/>
              <a:defRPr sz="2000">
                <a:solidFill>
                  <a:srgbClr val="888888"/>
                </a:solidFill>
              </a:defRPr>
            </a:lvl4pPr>
            <a:lvl5pPr marL="0" indent="0">
              <a:spcBef>
                <a:spcPts val="400"/>
              </a:spcBef>
              <a:buSzTx/>
              <a:buFontTx/>
              <a:buNone/>
              <a:defRPr sz="2000">
                <a:solidFill>
                  <a:srgbClr val="888888"/>
                </a:solidFill>
              </a:defRPr>
            </a:lvl5pPr>
          </a:lstStyle>
          <a:p>
            <a:pPr/>
            <a:r>
              <a:t>本文レベル1</a:t>
            </a:r>
          </a:p>
          <a:p>
            <a:pPr lvl="1"/>
            <a:r>
              <a:t>本文レベル2</a:t>
            </a:r>
          </a:p>
          <a:p>
            <a:pPr lvl="2"/>
            <a:r>
              <a:t>本文レベル3</a:t>
            </a:r>
          </a:p>
          <a:p>
            <a:pPr lvl="3"/>
            <a:r>
              <a:t>本文レベル4</a:t>
            </a:r>
          </a:p>
          <a:p>
            <a:pPr lvl="4"/>
            <a:r>
              <a:t>本文レベル5</a:t>
            </a:r>
          </a:p>
        </p:txBody>
      </p:sp>
      <p:sp>
        <p:nvSpPr>
          <p:cNvPr id="31"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タイトルテキスト"/>
          <p:cNvSpPr txBox="1"/>
          <p:nvPr>
            <p:ph type="title"/>
          </p:nvPr>
        </p:nvSpPr>
        <p:spPr>
          <a:prstGeom prst="rect">
            <a:avLst/>
          </a:prstGeom>
        </p:spPr>
        <p:txBody>
          <a:bodyPr/>
          <a:lstStyle/>
          <a:p>
            <a:pPr/>
            <a:r>
              <a:t>タイトルテキスト</a:t>
            </a:r>
          </a:p>
        </p:txBody>
      </p:sp>
      <p:sp>
        <p:nvSpPr>
          <p:cNvPr id="39" name="本文レベル1…"/>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8" indent="-320038">
              <a:spcBef>
                <a:spcPts val="600"/>
              </a:spcBef>
              <a:defRPr sz="2800"/>
            </a:lvl3pPr>
            <a:lvl4pPr marL="1727200" indent="-355600">
              <a:spcBef>
                <a:spcPts val="600"/>
              </a:spcBef>
              <a:defRPr sz="2800"/>
            </a:lvl4pPr>
            <a:lvl5pPr marL="2184400" indent="-355600">
              <a:spcBef>
                <a:spcPts val="600"/>
              </a:spcBef>
              <a:defRPr sz="2800"/>
            </a:lvl5pPr>
          </a:lstStyle>
          <a:p>
            <a:pPr/>
            <a:r>
              <a:t>本文レベル1</a:t>
            </a:r>
          </a:p>
          <a:p>
            <a:pPr lvl="1"/>
            <a:r>
              <a:t>本文レベル2</a:t>
            </a:r>
          </a:p>
          <a:p>
            <a:pPr lvl="2"/>
            <a:r>
              <a:t>本文レベル3</a:t>
            </a:r>
          </a:p>
          <a:p>
            <a:pPr lvl="3"/>
            <a:r>
              <a:t>本文レベル4</a:t>
            </a:r>
          </a:p>
          <a:p>
            <a:pPr lvl="4"/>
            <a:r>
              <a:t>本文レベル5</a:t>
            </a:r>
          </a:p>
        </p:txBody>
      </p:sp>
      <p:sp>
        <p:nvSpPr>
          <p:cNvPr id="40"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タイトルテキスト"/>
          <p:cNvSpPr txBox="1"/>
          <p:nvPr>
            <p:ph type="title"/>
          </p:nvPr>
        </p:nvSpPr>
        <p:spPr>
          <a:prstGeom prst="rect">
            <a:avLst/>
          </a:prstGeom>
        </p:spPr>
        <p:txBody>
          <a:bodyPr/>
          <a:lstStyle/>
          <a:p>
            <a:pPr/>
            <a:r>
              <a:t>タイトルテキスト</a:t>
            </a:r>
          </a:p>
        </p:txBody>
      </p:sp>
      <p:sp>
        <p:nvSpPr>
          <p:cNvPr id="48" name="本文レベル1…"/>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0">
              <a:spcBef>
                <a:spcPts val="500"/>
              </a:spcBef>
              <a:buSzTx/>
              <a:buFontTx/>
              <a:buNone/>
              <a:defRPr b="1" sz="2400"/>
            </a:lvl2pPr>
            <a:lvl3pPr marL="0" indent="0">
              <a:spcBef>
                <a:spcPts val="500"/>
              </a:spcBef>
              <a:buSzTx/>
              <a:buFontTx/>
              <a:buNone/>
              <a:defRPr b="1" sz="2400"/>
            </a:lvl3pPr>
            <a:lvl4pPr marL="0" indent="0">
              <a:spcBef>
                <a:spcPts val="500"/>
              </a:spcBef>
              <a:buSzTx/>
              <a:buFontTx/>
              <a:buNone/>
              <a:defRPr b="1" sz="2400"/>
            </a:lvl4pPr>
            <a:lvl5pPr marL="0" indent="0">
              <a:spcBef>
                <a:spcPts val="500"/>
              </a:spcBef>
              <a:buSzTx/>
              <a:buFontTx/>
              <a:buNone/>
              <a:defRPr b="1" sz="2400"/>
            </a:lvl5pPr>
          </a:lstStyle>
          <a:p>
            <a:pPr/>
            <a:r>
              <a:t>本文レベル1</a:t>
            </a:r>
          </a:p>
          <a:p>
            <a:pPr lvl="1"/>
            <a:r>
              <a:t>本文レベル2</a:t>
            </a:r>
          </a:p>
          <a:p>
            <a:pPr lvl="2"/>
            <a:r>
              <a:t>本文レベル3</a:t>
            </a:r>
          </a:p>
          <a:p>
            <a:pPr lvl="3"/>
            <a:r>
              <a:t>本文レベル4</a:t>
            </a:r>
          </a:p>
          <a:p>
            <a:pPr lvl="4"/>
            <a:r>
              <a:t>本文レベル5</a:t>
            </a:r>
          </a:p>
        </p:txBody>
      </p:sp>
      <p:sp>
        <p:nvSpPr>
          <p:cNvPr id="49" name="Text Placeholder 4"/>
          <p:cNvSpPr/>
          <p:nvPr>
            <p:ph type="body" sz="quarter" idx="21"/>
          </p:nvPr>
        </p:nvSpPr>
        <p:spPr>
          <a:xfrm>
            <a:off x="4645025" y="1535111"/>
            <a:ext cx="4041775" cy="639782"/>
          </a:xfrm>
          <a:prstGeom prst="rect">
            <a:avLst/>
          </a:prstGeom>
        </p:spPr>
        <p:txBody>
          <a:bodyPr anchor="b"/>
          <a:lstStyle/>
          <a:p>
            <a:pPr/>
          </a:p>
        </p:txBody>
      </p:sp>
      <p:sp>
        <p:nvSpPr>
          <p:cNvPr id="50"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タイトルテキスト"/>
          <p:cNvSpPr txBox="1"/>
          <p:nvPr>
            <p:ph type="title"/>
          </p:nvPr>
        </p:nvSpPr>
        <p:spPr>
          <a:prstGeom prst="rect">
            <a:avLst/>
          </a:prstGeom>
        </p:spPr>
        <p:txBody>
          <a:bodyPr/>
          <a:lstStyle/>
          <a:p>
            <a:pPr/>
            <a:r>
              <a:t>タイトルテキスト</a:t>
            </a:r>
          </a:p>
        </p:txBody>
      </p:sp>
      <p:sp>
        <p:nvSpPr>
          <p:cNvPr id="58"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タイトルテキスト"/>
          <p:cNvSpPr txBox="1"/>
          <p:nvPr>
            <p:ph type="title"/>
          </p:nvPr>
        </p:nvSpPr>
        <p:spPr>
          <a:xfrm>
            <a:off x="457200" y="273050"/>
            <a:ext cx="3008316" cy="1162050"/>
          </a:xfrm>
          <a:prstGeom prst="rect">
            <a:avLst/>
          </a:prstGeom>
        </p:spPr>
        <p:txBody>
          <a:bodyPr anchor="b"/>
          <a:lstStyle>
            <a:lvl1pPr algn="l">
              <a:defRPr b="1" sz="2000"/>
            </a:lvl1pPr>
          </a:lstStyle>
          <a:p>
            <a:pPr/>
            <a:r>
              <a:t>タイトルテキスト</a:t>
            </a:r>
          </a:p>
        </p:txBody>
      </p:sp>
      <p:sp>
        <p:nvSpPr>
          <p:cNvPr id="73" name="本文レベル1…"/>
          <p:cNvSpPr txBox="1"/>
          <p:nvPr>
            <p:ph type="body" sz="half" idx="1"/>
          </p:nvPr>
        </p:nvSpPr>
        <p:spPr>
          <a:xfrm>
            <a:off x="3575050" y="273050"/>
            <a:ext cx="5111750" cy="5853113"/>
          </a:xfrm>
          <a:prstGeom prst="rect">
            <a:avLst/>
          </a:prstGeom>
        </p:spPr>
        <p:txBody>
          <a:bodyPr/>
          <a:lstStyle/>
          <a:p>
            <a:pPr/>
            <a:r>
              <a:t>本文レベル1</a:t>
            </a:r>
          </a:p>
          <a:p>
            <a:pPr lvl="1"/>
            <a:r>
              <a:t>本文レベル2</a:t>
            </a:r>
          </a:p>
          <a:p>
            <a:pPr lvl="2"/>
            <a:r>
              <a:t>本文レベル3</a:t>
            </a:r>
          </a:p>
          <a:p>
            <a:pPr lvl="3"/>
            <a:r>
              <a:t>本文レベル4</a:t>
            </a:r>
          </a:p>
          <a:p>
            <a:pPr lvl="4"/>
            <a:r>
              <a:t>本文レベル5</a:t>
            </a:r>
          </a:p>
        </p:txBody>
      </p:sp>
      <p:sp>
        <p:nvSpPr>
          <p:cNvPr id="74" name="Text Placeholder 3"/>
          <p:cNvSpPr/>
          <p:nvPr>
            <p:ph type="body" sz="quarter" idx="21"/>
          </p:nvPr>
        </p:nvSpPr>
        <p:spPr>
          <a:xfrm>
            <a:off x="457198" y="1435100"/>
            <a:ext cx="3008317" cy="4691063"/>
          </a:xfrm>
          <a:prstGeom prst="rect">
            <a:avLst/>
          </a:prstGeom>
        </p:spPr>
        <p:txBody>
          <a:bodyPr/>
          <a:lstStyle/>
          <a:p>
            <a:pPr/>
          </a:p>
        </p:txBody>
      </p:sp>
      <p:sp>
        <p:nvSpPr>
          <p:cNvPr id="75"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タイトルテキスト"/>
          <p:cNvSpPr txBox="1"/>
          <p:nvPr>
            <p:ph type="title"/>
          </p:nvPr>
        </p:nvSpPr>
        <p:spPr>
          <a:xfrm>
            <a:off x="1792288" y="4800600"/>
            <a:ext cx="5486404" cy="566738"/>
          </a:xfrm>
          <a:prstGeom prst="rect">
            <a:avLst/>
          </a:prstGeom>
        </p:spPr>
        <p:txBody>
          <a:bodyPr anchor="b"/>
          <a:lstStyle>
            <a:lvl1pPr algn="l">
              <a:defRPr b="1" sz="2000"/>
            </a:lvl1pPr>
          </a:lstStyle>
          <a:p>
            <a:pPr/>
            <a:r>
              <a:t>タイトルテキスト</a:t>
            </a:r>
          </a:p>
        </p:txBody>
      </p:sp>
      <p:sp>
        <p:nvSpPr>
          <p:cNvPr id="83" name="Picture Placeholder 2"/>
          <p:cNvSpPr/>
          <p:nvPr>
            <p:ph type="pic" sz="half" idx="21"/>
          </p:nvPr>
        </p:nvSpPr>
        <p:spPr>
          <a:xfrm>
            <a:off x="1792288" y="612775"/>
            <a:ext cx="5486404" cy="4114800"/>
          </a:xfrm>
          <a:prstGeom prst="rect">
            <a:avLst/>
          </a:prstGeom>
        </p:spPr>
        <p:txBody>
          <a:bodyPr lIns="91439" tIns="45719" rIns="91439" bIns="45719">
            <a:noAutofit/>
          </a:bodyPr>
          <a:lstStyle/>
          <a:p>
            <a:pPr/>
          </a:p>
        </p:txBody>
      </p:sp>
      <p:sp>
        <p:nvSpPr>
          <p:cNvPr id="84" name="本文レベル1…"/>
          <p:cNvSpPr txBox="1"/>
          <p:nvPr>
            <p:ph type="body" sz="quarter" idx="1"/>
          </p:nvPr>
        </p:nvSpPr>
        <p:spPr>
          <a:xfrm>
            <a:off x="1792288" y="5367337"/>
            <a:ext cx="5486404" cy="804881"/>
          </a:xfrm>
          <a:prstGeom prst="rect">
            <a:avLst/>
          </a:prstGeom>
        </p:spPr>
        <p:txBody>
          <a:bodyPr/>
          <a:lstStyle>
            <a:lvl1pPr marL="0" indent="0">
              <a:spcBef>
                <a:spcPts val="300"/>
              </a:spcBef>
              <a:buSzTx/>
              <a:buFontTx/>
              <a:buNone/>
              <a:defRPr sz="1400"/>
            </a:lvl1pPr>
            <a:lvl2pPr marL="0" indent="0">
              <a:spcBef>
                <a:spcPts val="300"/>
              </a:spcBef>
              <a:buSzTx/>
              <a:buFontTx/>
              <a:buNone/>
              <a:defRPr sz="1400"/>
            </a:lvl2pPr>
            <a:lvl3pPr marL="0" indent="0">
              <a:spcBef>
                <a:spcPts val="300"/>
              </a:spcBef>
              <a:buSzTx/>
              <a:buFontTx/>
              <a:buNone/>
              <a:defRPr sz="1400"/>
            </a:lvl3pPr>
            <a:lvl4pPr marL="0" indent="0">
              <a:spcBef>
                <a:spcPts val="300"/>
              </a:spcBef>
              <a:buSzTx/>
              <a:buFontTx/>
              <a:buNone/>
              <a:defRPr sz="1400"/>
            </a:lvl4pPr>
            <a:lvl5pPr marL="0" indent="0">
              <a:spcBef>
                <a:spcPts val="300"/>
              </a:spcBef>
              <a:buSzTx/>
              <a:buFontTx/>
              <a:buNone/>
              <a:defRPr sz="1400"/>
            </a:lvl5pPr>
          </a:lstStyle>
          <a:p>
            <a:pPr/>
            <a:r>
              <a:t>本文レベル1</a:t>
            </a:r>
          </a:p>
          <a:p>
            <a:pPr lvl="1"/>
            <a:r>
              <a:t>本文レベル2</a:t>
            </a:r>
          </a:p>
          <a:p>
            <a:pPr lvl="2"/>
            <a:r>
              <a:t>本文レベル3</a:t>
            </a:r>
          </a:p>
          <a:p>
            <a:pPr lvl="3"/>
            <a:r>
              <a:t>本文レベル4</a:t>
            </a:r>
          </a:p>
          <a:p>
            <a:pPr lvl="4"/>
            <a:r>
              <a:t>本文レベル5</a:t>
            </a:r>
          </a:p>
        </p:txBody>
      </p:sp>
      <p:sp>
        <p:nvSpPr>
          <p:cNvPr id="85"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タイトルテキスト"/>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タイトルテキスト</a:t>
            </a:r>
          </a:p>
        </p:txBody>
      </p:sp>
      <p:sp>
        <p:nvSpPr>
          <p:cNvPr id="3" name="本文レベル1…"/>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本文レベル1</a:t>
            </a:r>
          </a:p>
          <a:p>
            <a:pPr lvl="1"/>
            <a:r>
              <a:t>本文レベル2</a:t>
            </a:r>
          </a:p>
          <a:p>
            <a:pPr lvl="2"/>
            <a:r>
              <a:t>本文レベル3</a:t>
            </a:r>
          </a:p>
          <a:p>
            <a:pPr lvl="3"/>
            <a:r>
              <a:t>本文レベル4</a:t>
            </a:r>
          </a:p>
          <a:p>
            <a:pPr lvl="4"/>
            <a:r>
              <a:t>本文レベル5</a:t>
            </a:r>
          </a:p>
        </p:txBody>
      </p:sp>
      <p:sp>
        <p:nvSpPr>
          <p:cNvPr id="4" name="スライド番号"/>
          <p:cNvSpPr txBox="1"/>
          <p:nvPr>
            <p:ph type="sldNum" sz="quarter" idx="2"/>
          </p:nvPr>
        </p:nvSpPr>
        <p:spPr>
          <a:xfrm>
            <a:off x="8428181" y="6414762"/>
            <a:ext cx="258620" cy="248302"/>
          </a:xfrm>
          <a:prstGeom prst="rect">
            <a:avLst/>
          </a:prstGeom>
          <a:ln w="12700">
            <a:miter lim="400000"/>
          </a:ln>
        </p:spPr>
        <p:txBody>
          <a:bodyPr wrap="none" lIns="45718" tIns="45718" rIns="45718" bIns="45718"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1"/>
          <p:cNvSpPr/>
          <p:nvPr/>
        </p:nvSpPr>
        <p:spPr>
          <a:xfrm>
            <a:off x="-1" y="0"/>
            <a:ext cx="12191697" cy="6858000"/>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5" name="Rectangle 2"/>
          <p:cNvSpPr/>
          <p:nvPr/>
        </p:nvSpPr>
        <p:spPr>
          <a:xfrm>
            <a:off x="-2" y="0"/>
            <a:ext cx="411484" cy="6858000"/>
          </a:xfrm>
          <a:prstGeom prst="rect">
            <a:avLst/>
          </a:prstGeom>
          <a:solidFill>
            <a:srgbClr val="B85042"/>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98" name="Oval 3"/>
          <p:cNvGrpSpPr/>
          <p:nvPr/>
        </p:nvGrpSpPr>
        <p:grpSpPr>
          <a:xfrm>
            <a:off x="822934" y="914371"/>
            <a:ext cx="2194614" cy="2194619"/>
            <a:chOff x="-1" y="0"/>
            <a:chExt cx="2194613" cy="2194617"/>
          </a:xfrm>
        </p:grpSpPr>
        <p:sp>
          <p:nvSpPr>
            <p:cNvPr id="96" name="円形"/>
            <p:cNvSpPr/>
            <p:nvPr/>
          </p:nvSpPr>
          <p:spPr>
            <a:xfrm>
              <a:off x="-2" y="-1"/>
              <a:ext cx="2194615" cy="2194619"/>
            </a:xfrm>
            <a:prstGeom prst="ellipse">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97" name="3"/>
            <p:cNvSpPr txBox="1"/>
            <p:nvPr/>
          </p:nvSpPr>
          <p:spPr>
            <a:xfrm>
              <a:off x="321390" y="487684"/>
              <a:ext cx="1551817" cy="1219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8000">
                  <a:solidFill>
                    <a:srgbClr val="FFFFFF"/>
                  </a:solidFill>
                  <a:latin typeface="Meiryo"/>
                  <a:ea typeface="Meiryo"/>
                  <a:cs typeface="Meiryo"/>
                  <a:sym typeface="Meiryo"/>
                </a:defRPr>
              </a:lvl1pPr>
            </a:lstStyle>
            <a:p>
              <a:pPr/>
              <a:r>
                <a:t>3</a:t>
              </a:r>
            </a:p>
          </p:txBody>
        </p:sp>
      </p:grpSp>
      <p:sp>
        <p:nvSpPr>
          <p:cNvPr id="99" name="TextBox 4"/>
          <p:cNvSpPr txBox="1"/>
          <p:nvPr/>
        </p:nvSpPr>
        <p:spPr>
          <a:xfrm>
            <a:off x="3383279" y="1463031"/>
            <a:ext cx="8046720" cy="1371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4000">
                <a:solidFill>
                  <a:srgbClr val="FFFFFF"/>
                </a:solidFill>
                <a:latin typeface="Meiryo"/>
                <a:ea typeface="Meiryo"/>
                <a:cs typeface="Meiryo"/>
                <a:sym typeface="Meiryo"/>
              </a:defRPr>
            </a:lvl1pPr>
          </a:lstStyle>
          <a:p>
            <a:pPr/>
            <a:r>
              <a:t>Issue の手動改善 手順書（ケース別）</a:t>
            </a:r>
          </a:p>
        </p:txBody>
      </p:sp>
      <p:sp>
        <p:nvSpPr>
          <p:cNvPr id="100" name="TextBox 5"/>
          <p:cNvSpPr txBox="1"/>
          <p:nvPr/>
        </p:nvSpPr>
        <p:spPr>
          <a:xfrm>
            <a:off x="3383279" y="3383279"/>
            <a:ext cx="804672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a:solidFill>
                  <a:srgbClr val="CADCFC"/>
                </a:solidFill>
                <a:latin typeface="Meiryo"/>
                <a:ea typeface="Meiryo"/>
                <a:cs typeface="Meiryo"/>
                <a:sym typeface="Meiryo"/>
              </a:defRPr>
            </a:lvl1pPr>
          </a:lstStyle>
          <a:p>
            <a:pPr/>
            <a:r>
              <a:t>spec-kit で 1 Issue = 1 サイクル。ケースに応じて工程を使い分ける</a:t>
            </a:r>
          </a:p>
        </p:txBody>
      </p:sp>
      <p:sp>
        <p:nvSpPr>
          <p:cNvPr id="101" name="TextBox 6"/>
          <p:cNvSpPr txBox="1"/>
          <p:nvPr/>
        </p:nvSpPr>
        <p:spPr>
          <a:xfrm>
            <a:off x="822960" y="5943600"/>
            <a:ext cx="1005840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200">
                <a:solidFill>
                  <a:srgbClr val="CADCFC"/>
                </a:solidFill>
                <a:latin typeface="Meiryo"/>
                <a:ea typeface="Meiryo"/>
                <a:cs typeface="Meiryo"/>
                <a:sym typeface="Meiryo"/>
              </a:defRPr>
            </a:lvl1pPr>
          </a:lstStyle>
          <a:p>
            <a:pPr/>
            <a:r>
              <a:t>操作ガイド（Windows + WSL+VSCode+Claude Code）</a:t>
            </a:r>
          </a:p>
        </p:txBody>
      </p:sp>
      <p:sp>
        <p:nvSpPr>
          <p:cNvPr id="102" name="スライド番号"/>
          <p:cNvSpPr txBox="1"/>
          <p:nvPr>
            <p:ph type="sldNum" sz="quarter" idx="4294967295"/>
          </p:nvPr>
        </p:nvSpPr>
        <p:spPr>
          <a:xfrm>
            <a:off x="8505421" y="6414761"/>
            <a:ext cx="181378" cy="24830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5"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108" name="Rounded Rectangle 3"/>
          <p:cNvGrpSpPr/>
          <p:nvPr/>
        </p:nvGrpSpPr>
        <p:grpSpPr>
          <a:xfrm>
            <a:off x="457167" y="256006"/>
            <a:ext cx="1554537" cy="548687"/>
            <a:chOff x="0" y="-1"/>
            <a:chExt cx="1554536" cy="548685"/>
          </a:xfrm>
        </p:grpSpPr>
        <p:sp>
          <p:nvSpPr>
            <p:cNvPr id="106"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107" name="概要"/>
            <p:cNvSpPr txBox="1"/>
            <p:nvPr/>
          </p:nvSpPr>
          <p:spPr>
            <a:xfrm>
              <a:off x="26788" y="172728"/>
              <a:ext cx="1500956"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概要</a:t>
              </a:r>
            </a:p>
          </p:txBody>
        </p:sp>
      </p:grpSp>
      <p:sp>
        <p:nvSpPr>
          <p:cNvPr id="109"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spec-kit のコマンドとプロセス（概要）</a:t>
            </a:r>
          </a:p>
        </p:txBody>
      </p:sp>
      <p:sp>
        <p:nvSpPr>
          <p:cNvPr id="110" name="Rounded Rectangle 5"/>
          <p:cNvSpPr/>
          <p:nvPr/>
        </p:nvSpPr>
        <p:spPr>
          <a:xfrm>
            <a:off x="548640" y="1371600"/>
            <a:ext cx="5440680" cy="4480560"/>
          </a:xfrm>
          <a:prstGeom prst="roundRect">
            <a:avLst>
              <a:gd name="adj" fmla="val 16667"/>
            </a:avLst>
          </a:prstGeom>
          <a:solidFill>
            <a:srgbClr val="F2F4F8"/>
          </a:solidFill>
          <a:ln w="15875">
            <a:solidFill>
              <a:srgbClr val="B8504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1" name="TextBox 6"/>
          <p:cNvSpPr txBox="1"/>
          <p:nvPr/>
        </p:nvSpPr>
        <p:spPr>
          <a:xfrm>
            <a:off x="822957" y="1645920"/>
            <a:ext cx="4937767"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2000">
                <a:solidFill>
                  <a:srgbClr val="B85042"/>
                </a:solidFill>
                <a:latin typeface="Meiryo"/>
                <a:ea typeface="Meiryo"/>
                <a:cs typeface="Meiryo"/>
                <a:sym typeface="Meiryo"/>
              </a:defRPr>
            </a:lvl1pPr>
          </a:lstStyle>
          <a:p>
            <a:pPr/>
            <a:r>
              <a:t>/speckit.specify とは</a:t>
            </a:r>
          </a:p>
        </p:txBody>
      </p:sp>
      <p:sp>
        <p:nvSpPr>
          <p:cNvPr id="112" name="TextBox 7"/>
          <p:cNvSpPr txBox="1"/>
          <p:nvPr/>
        </p:nvSpPr>
        <p:spPr>
          <a:xfrm>
            <a:off x="822955" y="2331720"/>
            <a:ext cx="4983489" cy="21753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500">
                <a:solidFill>
                  <a:srgbClr val="222633"/>
                </a:solidFill>
                <a:latin typeface="Meiryo"/>
                <a:ea typeface="Meiryo"/>
                <a:cs typeface="Meiryo"/>
                <a:sym typeface="Meiryo"/>
              </a:defRPr>
            </a:pPr>
            <a:r>
              <a:t>Issue の『何を・なぜ』を自然言語で書くと、AI が仕様書（spec）を作るコマンドです。</a:t>
            </a:r>
          </a:p>
          <a:p>
            <a:pPr>
              <a:spcBef>
                <a:spcPts val="200"/>
              </a:spcBef>
              <a:defRPr sz="1500">
                <a:solidFill>
                  <a:srgbClr val="222633"/>
                </a:solidFill>
                <a:latin typeface="Meiryo"/>
                <a:ea typeface="Meiryo"/>
                <a:cs typeface="Meiryo"/>
                <a:sym typeface="Meiryo"/>
              </a:defRPr>
            </a:pPr>
          </a:p>
          <a:p>
            <a:pPr>
              <a:spcBef>
                <a:spcPts val="200"/>
              </a:spcBef>
              <a:defRPr sz="1500">
                <a:solidFill>
                  <a:srgbClr val="222633"/>
                </a:solidFill>
                <a:latin typeface="Meiryo"/>
                <a:ea typeface="Meiryo"/>
                <a:cs typeface="Meiryo"/>
                <a:sym typeface="Meiryo"/>
              </a:defRPr>
            </a:pPr>
            <a:r>
              <a:t>・技術的な『どうやって』は書かない（plan 以降で扱う）</a:t>
            </a:r>
          </a:p>
          <a:p>
            <a:pPr>
              <a:spcBef>
                <a:spcPts val="200"/>
              </a:spcBef>
              <a:defRPr sz="1500">
                <a:solidFill>
                  <a:srgbClr val="222633"/>
                </a:solidFill>
                <a:latin typeface="Meiryo"/>
                <a:ea typeface="Meiryo"/>
                <a:cs typeface="Meiryo"/>
                <a:sym typeface="Meiryo"/>
              </a:defRPr>
            </a:pPr>
            <a:r>
              <a:t>・曖昧な点は [NEEDS CLARIFICATION] で印を付ける</a:t>
            </a:r>
          </a:p>
          <a:p>
            <a:pPr>
              <a:spcBef>
                <a:spcPts val="200"/>
              </a:spcBef>
              <a:defRPr sz="1500">
                <a:solidFill>
                  <a:srgbClr val="222633"/>
                </a:solidFill>
                <a:latin typeface="Meiryo"/>
                <a:ea typeface="Meiryo"/>
                <a:cs typeface="Meiryo"/>
                <a:sym typeface="Meiryo"/>
              </a:defRPr>
            </a:pPr>
            <a:r>
              <a:t>・この仕様を土台に plan → implement へ段階的に進む</a:t>
            </a:r>
          </a:p>
          <a:p>
            <a:pPr>
              <a:spcBef>
                <a:spcPts val="200"/>
              </a:spcBef>
              <a:defRPr sz="1500">
                <a:solidFill>
                  <a:srgbClr val="222633"/>
                </a:solidFill>
                <a:latin typeface="Meiryo"/>
                <a:ea typeface="Meiryo"/>
                <a:cs typeface="Meiryo"/>
                <a:sym typeface="Meiryo"/>
              </a:defRPr>
            </a:pPr>
            <a:r>
              <a:t>・各段階の出力は人間がレビューする</a:t>
            </a:r>
          </a:p>
        </p:txBody>
      </p:sp>
      <p:sp>
        <p:nvSpPr>
          <p:cNvPr id="113" name="TextBox 8"/>
          <p:cNvSpPr txBox="1"/>
          <p:nvPr/>
        </p:nvSpPr>
        <p:spPr>
          <a:xfrm>
            <a:off x="6355079" y="1417319"/>
            <a:ext cx="5303528"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a:solidFill>
                  <a:srgbClr val="B85042"/>
                </a:solidFill>
                <a:latin typeface="Meiryo"/>
                <a:ea typeface="Meiryo"/>
                <a:cs typeface="Meiryo"/>
                <a:sym typeface="Meiryo"/>
              </a:defRPr>
            </a:lvl1pPr>
          </a:lstStyle>
          <a:p>
            <a:pPr/>
            <a:r>
              <a:t>spec-kit の流れ（コマンド）</a:t>
            </a:r>
          </a:p>
        </p:txBody>
      </p:sp>
      <p:sp>
        <p:nvSpPr>
          <p:cNvPr id="114" name="TextBox 9"/>
          <p:cNvSpPr txBox="1"/>
          <p:nvPr/>
        </p:nvSpPr>
        <p:spPr>
          <a:xfrm>
            <a:off x="6355079" y="2011677"/>
            <a:ext cx="5394967" cy="2305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500">
                <a:solidFill>
                  <a:srgbClr val="222633"/>
                </a:solidFill>
                <a:latin typeface="Consolas"/>
                <a:ea typeface="Consolas"/>
                <a:cs typeface="Consolas"/>
                <a:sym typeface="Consolas"/>
              </a:defRPr>
            </a:lvl1pPr>
          </a:lstStyle>
          <a:p>
            <a:pPr/>
            <a:r>
              <a:t>▸ /speckit.specify</a:t>
            </a:r>
          </a:p>
        </p:txBody>
      </p:sp>
      <p:sp>
        <p:nvSpPr>
          <p:cNvPr id="115" name="TextBox 10"/>
          <p:cNvSpPr txBox="1"/>
          <p:nvPr/>
        </p:nvSpPr>
        <p:spPr>
          <a:xfrm>
            <a:off x="6693406" y="2313432"/>
            <a:ext cx="5029206"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200">
                <a:solidFill>
                  <a:srgbClr val="6B7280"/>
                </a:solidFill>
                <a:latin typeface="Meiryo"/>
                <a:ea typeface="Meiryo"/>
                <a:cs typeface="Meiryo"/>
                <a:sym typeface="Meiryo"/>
              </a:defRPr>
            </a:lvl1pPr>
          </a:lstStyle>
          <a:p>
            <a:pPr/>
            <a:r>
              <a:t>仕様（何を・なぜ）を作る</a:t>
            </a:r>
          </a:p>
        </p:txBody>
      </p:sp>
      <p:sp>
        <p:nvSpPr>
          <p:cNvPr id="116" name="TextBox 11"/>
          <p:cNvSpPr txBox="1"/>
          <p:nvPr/>
        </p:nvSpPr>
        <p:spPr>
          <a:xfrm>
            <a:off x="6355079" y="2560320"/>
            <a:ext cx="5394967" cy="2305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500">
                <a:solidFill>
                  <a:srgbClr val="222633"/>
                </a:solidFill>
                <a:latin typeface="Consolas"/>
                <a:ea typeface="Consolas"/>
                <a:cs typeface="Consolas"/>
                <a:sym typeface="Consolas"/>
              </a:defRPr>
            </a:lvl1pPr>
          </a:lstStyle>
          <a:p>
            <a:pPr/>
            <a:r>
              <a:t>▸ /speckit.clarify</a:t>
            </a:r>
          </a:p>
        </p:txBody>
      </p:sp>
      <p:sp>
        <p:nvSpPr>
          <p:cNvPr id="117" name="TextBox 12"/>
          <p:cNvSpPr txBox="1"/>
          <p:nvPr/>
        </p:nvSpPr>
        <p:spPr>
          <a:xfrm>
            <a:off x="6693406" y="2862072"/>
            <a:ext cx="5029206"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200">
                <a:solidFill>
                  <a:srgbClr val="6B7280"/>
                </a:solidFill>
                <a:latin typeface="Meiryo"/>
                <a:ea typeface="Meiryo"/>
                <a:cs typeface="Meiryo"/>
                <a:sym typeface="Meiryo"/>
              </a:defRPr>
            </a:lvl1pPr>
          </a:lstStyle>
          <a:p>
            <a:pPr/>
            <a:r>
              <a:t>曖昧点を AI が質問（複雑時）</a:t>
            </a:r>
          </a:p>
        </p:txBody>
      </p:sp>
      <p:sp>
        <p:nvSpPr>
          <p:cNvPr id="118" name="TextBox 13"/>
          <p:cNvSpPr txBox="1"/>
          <p:nvPr/>
        </p:nvSpPr>
        <p:spPr>
          <a:xfrm>
            <a:off x="6355079" y="3108960"/>
            <a:ext cx="5394967" cy="2305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500">
                <a:solidFill>
                  <a:srgbClr val="222633"/>
                </a:solidFill>
                <a:latin typeface="Consolas"/>
                <a:ea typeface="Consolas"/>
                <a:cs typeface="Consolas"/>
                <a:sym typeface="Consolas"/>
              </a:defRPr>
            </a:lvl1pPr>
          </a:lstStyle>
          <a:p>
            <a:pPr/>
            <a:r>
              <a:t>▸ /speckit.plan</a:t>
            </a:r>
          </a:p>
        </p:txBody>
      </p:sp>
      <p:sp>
        <p:nvSpPr>
          <p:cNvPr id="119" name="TextBox 14"/>
          <p:cNvSpPr txBox="1"/>
          <p:nvPr/>
        </p:nvSpPr>
        <p:spPr>
          <a:xfrm>
            <a:off x="6693406" y="3410710"/>
            <a:ext cx="5029206"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200">
                <a:solidFill>
                  <a:srgbClr val="6B7280"/>
                </a:solidFill>
                <a:latin typeface="Meiryo"/>
                <a:ea typeface="Meiryo"/>
                <a:cs typeface="Meiryo"/>
                <a:sym typeface="Meiryo"/>
              </a:defRPr>
            </a:lvl1pPr>
          </a:lstStyle>
          <a:p>
            <a:pPr/>
            <a:r>
              <a:t>技術計画（どうやって）を作る</a:t>
            </a:r>
          </a:p>
        </p:txBody>
      </p:sp>
      <p:sp>
        <p:nvSpPr>
          <p:cNvPr id="120" name="TextBox 15"/>
          <p:cNvSpPr txBox="1"/>
          <p:nvPr/>
        </p:nvSpPr>
        <p:spPr>
          <a:xfrm>
            <a:off x="6355079" y="3657598"/>
            <a:ext cx="5394967" cy="2305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500">
                <a:solidFill>
                  <a:srgbClr val="222633"/>
                </a:solidFill>
                <a:latin typeface="Consolas"/>
                <a:ea typeface="Consolas"/>
                <a:cs typeface="Consolas"/>
                <a:sym typeface="Consolas"/>
              </a:defRPr>
            </a:lvl1pPr>
          </a:lstStyle>
          <a:p>
            <a:pPr/>
            <a:r>
              <a:t>▸ /speckit.tasks</a:t>
            </a:r>
          </a:p>
        </p:txBody>
      </p:sp>
      <p:sp>
        <p:nvSpPr>
          <p:cNvPr id="121" name="TextBox 16"/>
          <p:cNvSpPr txBox="1"/>
          <p:nvPr/>
        </p:nvSpPr>
        <p:spPr>
          <a:xfrm>
            <a:off x="6693406" y="3959352"/>
            <a:ext cx="5029206"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200">
                <a:solidFill>
                  <a:srgbClr val="6B7280"/>
                </a:solidFill>
                <a:latin typeface="Meiryo"/>
                <a:ea typeface="Meiryo"/>
                <a:cs typeface="Meiryo"/>
                <a:sym typeface="Meiryo"/>
              </a:defRPr>
            </a:lvl1pPr>
          </a:lstStyle>
          <a:p>
            <a:pPr/>
            <a:r>
              <a:t>作業を小さく分解する</a:t>
            </a:r>
          </a:p>
        </p:txBody>
      </p:sp>
      <p:sp>
        <p:nvSpPr>
          <p:cNvPr id="122" name="TextBox 17"/>
          <p:cNvSpPr txBox="1"/>
          <p:nvPr/>
        </p:nvSpPr>
        <p:spPr>
          <a:xfrm>
            <a:off x="6355079" y="4206240"/>
            <a:ext cx="5394967" cy="2305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500">
                <a:solidFill>
                  <a:srgbClr val="222633"/>
                </a:solidFill>
                <a:latin typeface="Consolas"/>
                <a:ea typeface="Consolas"/>
                <a:cs typeface="Consolas"/>
                <a:sym typeface="Consolas"/>
              </a:defRPr>
            </a:lvl1pPr>
          </a:lstStyle>
          <a:p>
            <a:pPr/>
            <a:r>
              <a:t>▸ /speckit.analyze</a:t>
            </a:r>
          </a:p>
        </p:txBody>
      </p:sp>
      <p:sp>
        <p:nvSpPr>
          <p:cNvPr id="123" name="TextBox 18"/>
          <p:cNvSpPr txBox="1"/>
          <p:nvPr/>
        </p:nvSpPr>
        <p:spPr>
          <a:xfrm>
            <a:off x="6693406" y="4507991"/>
            <a:ext cx="5029206"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200">
                <a:solidFill>
                  <a:srgbClr val="6B7280"/>
                </a:solidFill>
                <a:latin typeface="Meiryo"/>
                <a:ea typeface="Meiryo"/>
                <a:cs typeface="Meiryo"/>
                <a:sym typeface="Meiryo"/>
              </a:defRPr>
            </a:lvl1pPr>
          </a:lstStyle>
          <a:p>
            <a:pPr/>
            <a:r>
              <a:t>整合性・抜けを検証する</a:t>
            </a:r>
          </a:p>
        </p:txBody>
      </p:sp>
      <p:sp>
        <p:nvSpPr>
          <p:cNvPr id="124" name="TextBox 19"/>
          <p:cNvSpPr txBox="1"/>
          <p:nvPr/>
        </p:nvSpPr>
        <p:spPr>
          <a:xfrm>
            <a:off x="6355079" y="4754879"/>
            <a:ext cx="5394967" cy="2305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500">
                <a:solidFill>
                  <a:srgbClr val="222633"/>
                </a:solidFill>
                <a:latin typeface="Consolas"/>
                <a:ea typeface="Consolas"/>
                <a:cs typeface="Consolas"/>
                <a:sym typeface="Consolas"/>
              </a:defRPr>
            </a:lvl1pPr>
          </a:lstStyle>
          <a:p>
            <a:pPr/>
            <a:r>
              <a:t>▸ /speckit.implement</a:t>
            </a:r>
          </a:p>
        </p:txBody>
      </p:sp>
      <p:sp>
        <p:nvSpPr>
          <p:cNvPr id="125" name="TextBox 20"/>
          <p:cNvSpPr txBox="1"/>
          <p:nvPr/>
        </p:nvSpPr>
        <p:spPr>
          <a:xfrm>
            <a:off x="6693406" y="5056630"/>
            <a:ext cx="5029206"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200">
                <a:solidFill>
                  <a:srgbClr val="6B7280"/>
                </a:solidFill>
                <a:latin typeface="Meiryo"/>
                <a:ea typeface="Meiryo"/>
                <a:cs typeface="Meiryo"/>
                <a:sym typeface="Meiryo"/>
              </a:defRPr>
            </a:lvl1pPr>
          </a:lstStyle>
          <a:p>
            <a:pPr/>
            <a:r>
              <a:t>実装（ファイル編集）する</a:t>
            </a:r>
          </a:p>
        </p:txBody>
      </p:sp>
      <p:sp>
        <p:nvSpPr>
          <p:cNvPr id="126" name="TextBox 21"/>
          <p:cNvSpPr txBox="1"/>
          <p:nvPr/>
        </p:nvSpPr>
        <p:spPr>
          <a:xfrm>
            <a:off x="6355079" y="5303518"/>
            <a:ext cx="5394967" cy="2305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500">
                <a:solidFill>
                  <a:srgbClr val="222633"/>
                </a:solidFill>
                <a:latin typeface="Consolas"/>
                <a:ea typeface="Consolas"/>
                <a:cs typeface="Consolas"/>
                <a:sym typeface="Consolas"/>
              </a:defRPr>
            </a:lvl1pPr>
          </a:lstStyle>
          <a:p>
            <a:pPr/>
            <a:r>
              <a:t>▸ /speckit.checklist</a:t>
            </a:r>
          </a:p>
        </p:txBody>
      </p:sp>
      <p:sp>
        <p:nvSpPr>
          <p:cNvPr id="127" name="TextBox 22"/>
          <p:cNvSpPr txBox="1"/>
          <p:nvPr/>
        </p:nvSpPr>
        <p:spPr>
          <a:xfrm>
            <a:off x="6693406" y="5605271"/>
            <a:ext cx="5029206"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200">
                <a:solidFill>
                  <a:srgbClr val="6B7280"/>
                </a:solidFill>
                <a:latin typeface="Meiryo"/>
                <a:ea typeface="Meiryo"/>
                <a:cs typeface="Meiryo"/>
                <a:sym typeface="Meiryo"/>
              </a:defRPr>
            </a:lvl1pPr>
          </a:lstStyle>
          <a:p>
            <a:pPr/>
            <a:r>
              <a:t>品質を最終チェックする</a:t>
            </a:r>
          </a:p>
        </p:txBody>
      </p:sp>
      <p:sp>
        <p:nvSpPr>
          <p:cNvPr id="128" name="TextBox 23"/>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129" name="スライド番号"/>
          <p:cNvSpPr txBox="1"/>
          <p:nvPr>
            <p:ph type="sldNum" sz="quarter" idx="4294967295"/>
          </p:nvPr>
        </p:nvSpPr>
        <p:spPr>
          <a:xfrm>
            <a:off x="11618928" y="6400801"/>
            <a:ext cx="181378" cy="24830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2"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135" name="Rounded Rectangle 3"/>
          <p:cNvGrpSpPr/>
          <p:nvPr/>
        </p:nvGrpSpPr>
        <p:grpSpPr>
          <a:xfrm>
            <a:off x="457176" y="256014"/>
            <a:ext cx="1554522" cy="548674"/>
            <a:chOff x="-1" y="0"/>
            <a:chExt cx="1554521" cy="548673"/>
          </a:xfrm>
        </p:grpSpPr>
        <p:sp>
          <p:nvSpPr>
            <p:cNvPr id="133" name="角丸四角形"/>
            <p:cNvSpPr/>
            <p:nvPr/>
          </p:nvSpPr>
          <p:spPr>
            <a:xfrm>
              <a:off x="-2" y="-1"/>
              <a:ext cx="1554522" cy="548674"/>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134" name="事前設定"/>
            <p:cNvSpPr txBox="1"/>
            <p:nvPr/>
          </p:nvSpPr>
          <p:spPr>
            <a:xfrm>
              <a:off x="26784" y="172726"/>
              <a:ext cx="1500946"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事前設定</a:t>
              </a:r>
            </a:p>
          </p:txBody>
        </p:sp>
      </p:grpSp>
      <p:sp>
        <p:nvSpPr>
          <p:cNvPr id="136" name="TextBox 4"/>
          <p:cNvSpPr txBox="1"/>
          <p:nvPr/>
        </p:nvSpPr>
        <p:spPr>
          <a:xfrm>
            <a:off x="2240279" y="352551"/>
            <a:ext cx="950976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spec-kit の出力を日本語にする（CLAUDE.md）</a:t>
            </a:r>
          </a:p>
        </p:txBody>
      </p:sp>
      <p:sp>
        <p:nvSpPr>
          <p:cNvPr id="137" name="TextBox 5"/>
          <p:cNvSpPr txBox="1"/>
          <p:nvPr/>
        </p:nvSpPr>
        <p:spPr>
          <a:xfrm>
            <a:off x="502908" y="1417318"/>
            <a:ext cx="5120664" cy="13017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spec-kit の出力を日本語にするため、CLAUDE.md にルールを追記します。</a:t>
            </a:r>
          </a:p>
          <a:p>
            <a:pPr>
              <a:spcBef>
                <a:spcPts val="200"/>
              </a:spcBef>
              <a:defRPr sz="1700">
                <a:solidFill>
                  <a:srgbClr val="FF2600"/>
                </a:solidFill>
                <a:latin typeface="Meiryo"/>
                <a:ea typeface="Meiryo"/>
                <a:cs typeface="Meiryo"/>
                <a:sym typeface="Meiryo"/>
              </a:defRPr>
            </a:pPr>
            <a:r>
              <a:t>厳守：この CLAUDE.md 変更はローカルのみ・push しない。</a:t>
            </a:r>
          </a:p>
        </p:txBody>
      </p:sp>
      <p:sp>
        <p:nvSpPr>
          <p:cNvPr id="138" name="Rounded Rectangle 6"/>
          <p:cNvSpPr/>
          <p:nvPr/>
        </p:nvSpPr>
        <p:spPr>
          <a:xfrm>
            <a:off x="502919" y="32461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9" name="TextBox 7"/>
          <p:cNvSpPr txBox="1"/>
          <p:nvPr/>
        </p:nvSpPr>
        <p:spPr>
          <a:xfrm>
            <a:off x="685789" y="3337559"/>
            <a:ext cx="484634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▌CLAUDE.md に追記（ローカルのみ）</a:t>
            </a:r>
          </a:p>
        </p:txBody>
      </p:sp>
      <p:sp>
        <p:nvSpPr>
          <p:cNvPr id="140" name="TextBox 8"/>
          <p:cNvSpPr txBox="1"/>
          <p:nvPr/>
        </p:nvSpPr>
        <p:spPr>
          <a:xfrm>
            <a:off x="685800" y="3703320"/>
            <a:ext cx="4800600" cy="1333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 出力ルール</a:t>
            </a:r>
          </a:p>
          <a:p>
            <a:pPr>
              <a:spcBef>
                <a:spcPts val="200"/>
              </a:spcBef>
              <a:defRPr sz="1300">
                <a:solidFill>
                  <a:srgbClr val="FFFFFF"/>
                </a:solidFill>
                <a:latin typeface="Consolas"/>
                <a:ea typeface="Consolas"/>
                <a:cs typeface="Consolas"/>
                <a:sym typeface="Consolas"/>
              </a:defRPr>
            </a:pPr>
            <a:r>
              <a:t>- すべての出力、計画、タスクリスト、および会話の応答には日本語を使用してください。</a:t>
            </a:r>
          </a:p>
          <a:p>
            <a:pPr>
              <a:spcBef>
                <a:spcPts val="200"/>
              </a:spcBef>
              <a:defRPr sz="1300">
                <a:solidFill>
                  <a:srgbClr val="FFFFFF"/>
                </a:solidFill>
                <a:latin typeface="Consolas"/>
                <a:ea typeface="Consolas"/>
                <a:cs typeface="Consolas"/>
                <a:sym typeface="Consolas"/>
              </a:defRPr>
            </a:pPr>
            <a:r>
              <a:t>- markdownファイルへの記述および仕様の定義もすべて日本語で行ってください。</a:t>
            </a:r>
          </a:p>
        </p:txBody>
      </p:sp>
      <p:sp>
        <p:nvSpPr>
          <p:cNvPr id="141"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2" name="TextBox 10"/>
          <p:cNvSpPr txBox="1"/>
          <p:nvPr/>
        </p:nvSpPr>
        <p:spPr>
          <a:xfrm>
            <a:off x="6126479" y="3400423"/>
            <a:ext cx="5440694" cy="5143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CLAUDE.md（push しない）</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143"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pic>
        <p:nvPicPr>
          <p:cNvPr id="144" name="ペーストされたムービー.png" descr="ペーストされたムービー.png"/>
          <p:cNvPicPr>
            <a:picLocks noChangeAspect="1"/>
          </p:cNvPicPr>
          <p:nvPr/>
        </p:nvPicPr>
        <p:blipFill>
          <a:blip r:embed="rId2">
            <a:extLst/>
          </a:blip>
          <a:stretch>
            <a:fillRect/>
          </a:stretch>
        </p:blipFill>
        <p:spPr>
          <a:xfrm>
            <a:off x="6125290" y="1986776"/>
            <a:ext cx="5440682" cy="3422247"/>
          </a:xfrm>
          <a:prstGeom prst="rect">
            <a:avLst/>
          </a:prstGeom>
          <a:ln w="12700">
            <a:miter lim="400000"/>
          </a:ln>
        </p:spPr>
      </p:pic>
      <p:sp>
        <p:nvSpPr>
          <p:cNvPr id="145" name="四角形"/>
          <p:cNvSpPr/>
          <p:nvPr/>
        </p:nvSpPr>
        <p:spPr>
          <a:xfrm>
            <a:off x="7467934" y="4460873"/>
            <a:ext cx="3398497" cy="488957"/>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p>
        </p:txBody>
      </p:sp>
      <p:sp>
        <p:nvSpPr>
          <p:cNvPr id="146" name="スライド番号"/>
          <p:cNvSpPr txBox="1"/>
          <p:nvPr>
            <p:ph type="sldNum" sz="quarter" idx="4294967295"/>
          </p:nvPr>
        </p:nvSpPr>
        <p:spPr>
          <a:xfrm>
            <a:off x="11616921" y="6392219"/>
            <a:ext cx="181378"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9" name="Rectangle 2"/>
          <p:cNvSpPr/>
          <p:nvPr/>
        </p:nvSpPr>
        <p:spPr>
          <a:xfrm>
            <a:off x="-6202" y="4571"/>
            <a:ext cx="12191704"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152" name="Rounded Rectangle 3"/>
          <p:cNvGrpSpPr/>
          <p:nvPr/>
        </p:nvGrpSpPr>
        <p:grpSpPr>
          <a:xfrm>
            <a:off x="457191" y="256025"/>
            <a:ext cx="1554497" cy="548654"/>
            <a:chOff x="-1" y="-1"/>
            <a:chExt cx="1554495" cy="548652"/>
          </a:xfrm>
        </p:grpSpPr>
        <p:sp>
          <p:nvSpPr>
            <p:cNvPr id="150" name="角丸四角形"/>
            <p:cNvSpPr/>
            <p:nvPr/>
          </p:nvSpPr>
          <p:spPr>
            <a:xfrm>
              <a:off x="-2" y="-2"/>
              <a:ext cx="1554497" cy="548654"/>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300"/>
                </a:spcBef>
                <a:defRPr>
                  <a:solidFill>
                    <a:srgbClr val="FFFFFF"/>
                  </a:solidFill>
                </a:defRPr>
              </a:pPr>
            </a:p>
          </p:txBody>
        </p:sp>
        <p:sp>
          <p:nvSpPr>
            <p:cNvPr id="151" name="共通"/>
            <p:cNvSpPr txBox="1"/>
            <p:nvPr/>
          </p:nvSpPr>
          <p:spPr>
            <a:xfrm>
              <a:off x="26782" y="172721"/>
              <a:ext cx="1500927"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300"/>
                </a:spcBef>
                <a:defRPr b="1" sz="1600">
                  <a:solidFill>
                    <a:srgbClr val="FFFFFF"/>
                  </a:solidFill>
                  <a:latin typeface="Meiryo"/>
                  <a:ea typeface="Meiryo"/>
                  <a:cs typeface="Meiryo"/>
                  <a:sym typeface="Meiryo"/>
                </a:defRPr>
              </a:lvl1pPr>
            </a:lstStyle>
            <a:p>
              <a:pPr/>
              <a:r>
                <a:t>共通</a:t>
              </a:r>
            </a:p>
          </p:txBody>
        </p:sp>
      </p:grpSp>
      <p:sp>
        <p:nvSpPr>
          <p:cNvPr id="153" name="TextBox 4"/>
          <p:cNvSpPr txBox="1"/>
          <p:nvPr/>
        </p:nvSpPr>
        <p:spPr>
          <a:xfrm>
            <a:off x="-5451910" y="1595337"/>
            <a:ext cx="950976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300"/>
              </a:spcBef>
              <a:defRPr b="1" sz="2300">
                <a:solidFill>
                  <a:srgbClr val="FFFFFF"/>
                </a:solidFill>
                <a:latin typeface="Meiryo"/>
                <a:ea typeface="Meiryo"/>
                <a:cs typeface="Meiryo"/>
                <a:sym typeface="Meiryo"/>
              </a:defRPr>
            </a:lvl1pPr>
          </a:lstStyle>
          <a:p>
            <a:pPr/>
            <a:r>
              <a:t>Claude Code へのプロンプト入力（共通）</a:t>
            </a:r>
          </a:p>
        </p:txBody>
      </p:sp>
      <p:sp>
        <p:nvSpPr>
          <p:cNvPr id="154" name="TextBox 5"/>
          <p:cNvSpPr txBox="1"/>
          <p:nvPr/>
        </p:nvSpPr>
        <p:spPr>
          <a:xfrm>
            <a:off x="502920" y="1371600"/>
            <a:ext cx="5440680" cy="364490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600">
                <a:solidFill>
                  <a:srgbClr val="222633"/>
                </a:solidFill>
                <a:latin typeface="Meiryo"/>
                <a:ea typeface="Meiryo"/>
                <a:cs typeface="Meiryo"/>
                <a:sym typeface="Meiryo"/>
              </a:defRPr>
            </a:pPr>
            <a:r>
              <a:t>① Claude Code パネルを開く</a:t>
            </a:r>
          </a:p>
          <a:p>
            <a:pPr>
              <a:spcBef>
                <a:spcPts val="300"/>
              </a:spcBef>
              <a:defRPr sz="1600">
                <a:solidFill>
                  <a:srgbClr val="222633"/>
                </a:solidFill>
                <a:latin typeface="Meiryo"/>
                <a:ea typeface="Meiryo"/>
                <a:cs typeface="Meiryo"/>
                <a:sym typeface="Meiryo"/>
              </a:defRPr>
            </a:pPr>
            <a:r>
              <a:t>　Ctrl + Shift + P →「Claude Code: Open in New Tab 」</a:t>
            </a:r>
          </a:p>
          <a:p>
            <a:pPr>
              <a:spcBef>
                <a:spcPts val="300"/>
              </a:spcBef>
              <a:defRPr sz="1600">
                <a:solidFill>
                  <a:srgbClr val="222633"/>
                </a:solidFill>
                <a:latin typeface="Meiryo"/>
                <a:ea typeface="Meiryo"/>
                <a:cs typeface="Meiryo"/>
                <a:sym typeface="Meiryo"/>
              </a:defRPr>
            </a:pPr>
          </a:p>
          <a:p>
            <a:pPr>
              <a:spcBef>
                <a:spcPts val="300"/>
              </a:spcBef>
              <a:defRPr sz="1600">
                <a:solidFill>
                  <a:srgbClr val="222633"/>
                </a:solidFill>
                <a:latin typeface="Meiryo"/>
                <a:ea typeface="Meiryo"/>
                <a:cs typeface="Meiryo"/>
                <a:sym typeface="Meiryo"/>
              </a:defRPr>
            </a:pPr>
            <a:r>
              <a:t>② 入力欄に指示（プロンプト）を書いて Enter で送信</a:t>
            </a:r>
          </a:p>
          <a:p>
            <a:pPr>
              <a:spcBef>
                <a:spcPts val="300"/>
              </a:spcBef>
              <a:defRPr sz="1600">
                <a:solidFill>
                  <a:srgbClr val="222633"/>
                </a:solidFill>
                <a:latin typeface="Meiryo"/>
                <a:ea typeface="Meiryo"/>
                <a:cs typeface="Meiryo"/>
                <a:sym typeface="Meiryo"/>
              </a:defRPr>
            </a:pPr>
          </a:p>
          <a:p>
            <a:pPr>
              <a:spcBef>
                <a:spcPts val="300"/>
              </a:spcBef>
              <a:defRPr sz="1600">
                <a:solidFill>
                  <a:srgbClr val="222633"/>
                </a:solidFill>
                <a:latin typeface="Meiryo"/>
                <a:ea typeface="Meiryo"/>
                <a:cs typeface="Meiryo"/>
                <a:sym typeface="Meiryo"/>
              </a:defRPr>
            </a:pPr>
            <a:r>
              <a:t>③「/」でコマンド候補（/speckit.* など）</a:t>
            </a:r>
          </a:p>
          <a:p>
            <a:pPr>
              <a:spcBef>
                <a:spcPts val="300"/>
              </a:spcBef>
              <a:defRPr sz="1600">
                <a:solidFill>
                  <a:srgbClr val="222633"/>
                </a:solidFill>
                <a:latin typeface="Meiryo"/>
                <a:ea typeface="Meiryo"/>
                <a:cs typeface="Meiryo"/>
                <a:sym typeface="Meiryo"/>
              </a:defRPr>
            </a:pPr>
            <a:r>
              <a:t>　→ 選んで続けて指示を書く</a:t>
            </a:r>
          </a:p>
          <a:p>
            <a:pPr>
              <a:spcBef>
                <a:spcPts val="300"/>
              </a:spcBef>
              <a:defRPr sz="1600">
                <a:solidFill>
                  <a:srgbClr val="222633"/>
                </a:solidFill>
                <a:latin typeface="Meiryo"/>
                <a:ea typeface="Meiryo"/>
                <a:cs typeface="Meiryo"/>
                <a:sym typeface="Meiryo"/>
              </a:defRPr>
            </a:pPr>
          </a:p>
          <a:p>
            <a:pPr>
              <a:spcBef>
                <a:spcPts val="300"/>
              </a:spcBef>
              <a:defRPr sz="1600">
                <a:solidFill>
                  <a:srgbClr val="222633"/>
                </a:solidFill>
                <a:latin typeface="Meiryo"/>
                <a:ea typeface="Meiryo"/>
                <a:cs typeface="Meiryo"/>
                <a:sym typeface="Meiryo"/>
              </a:defRPr>
            </a:pPr>
            <a:r>
              <a:t>④ 複数行は Shift + Enter／参照は @ファイル名</a:t>
            </a:r>
          </a:p>
          <a:p>
            <a:pPr>
              <a:spcBef>
                <a:spcPts val="300"/>
              </a:spcBef>
              <a:defRPr sz="1600">
                <a:solidFill>
                  <a:srgbClr val="222633"/>
                </a:solidFill>
                <a:latin typeface="Meiryo"/>
                <a:ea typeface="Meiryo"/>
                <a:cs typeface="Meiryo"/>
                <a:sym typeface="Meiryo"/>
              </a:defRPr>
            </a:pPr>
          </a:p>
          <a:p>
            <a:pPr>
              <a:spcBef>
                <a:spcPts val="300"/>
              </a:spcBef>
              <a:defRPr sz="1600">
                <a:solidFill>
                  <a:srgbClr val="222633"/>
                </a:solidFill>
                <a:latin typeface="Meiryo"/>
                <a:ea typeface="Meiryo"/>
                <a:cs typeface="Meiryo"/>
                <a:sym typeface="Meiryo"/>
              </a:defRPr>
            </a:pPr>
            <a:r>
              <a:t>⑤ スクリーンショットを貼って質問も可（画像アップ）</a:t>
            </a:r>
          </a:p>
        </p:txBody>
      </p:sp>
      <p:sp>
        <p:nvSpPr>
          <p:cNvPr id="155" name="Rounded Rectangle 6"/>
          <p:cNvSpPr/>
          <p:nvPr/>
        </p:nvSpPr>
        <p:spPr>
          <a:xfrm>
            <a:off x="401319" y="5212079"/>
            <a:ext cx="5440682" cy="685806"/>
          </a:xfrm>
          <a:prstGeom prst="roundRect">
            <a:avLst>
              <a:gd name="adj" fmla="val 16667"/>
            </a:avLst>
          </a:prstGeom>
          <a:solidFill>
            <a:srgbClr val="F2F4F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6" name="TextBox 7"/>
          <p:cNvSpPr txBox="1"/>
          <p:nvPr/>
        </p:nvSpPr>
        <p:spPr>
          <a:xfrm>
            <a:off x="584197" y="5344667"/>
            <a:ext cx="5120646"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300"/>
              </a:spcBef>
              <a:defRPr sz="1300">
                <a:solidFill>
                  <a:srgbClr val="222633"/>
                </a:solidFill>
                <a:latin typeface="Meiryo"/>
                <a:ea typeface="Meiryo"/>
                <a:cs typeface="Meiryo"/>
                <a:sym typeface="Meiryo"/>
              </a:defRPr>
            </a:lvl1pPr>
          </a:lstStyle>
          <a:p>
            <a:pPr/>
            <a:r>
              <a:t>※ /speckit.* も普通の文章も、この入力欄に入れて送るのは全ケース共通。</a:t>
            </a:r>
          </a:p>
        </p:txBody>
      </p:sp>
      <p:sp>
        <p:nvSpPr>
          <p:cNvPr id="157" name="Rounded Rectangle 8"/>
          <p:cNvSpPr/>
          <p:nvPr/>
        </p:nvSpPr>
        <p:spPr>
          <a:xfrm>
            <a:off x="6035040" y="1463038"/>
            <a:ext cx="5715006"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58" name="TextBox 9"/>
          <p:cNvSpPr txBox="1"/>
          <p:nvPr/>
        </p:nvSpPr>
        <p:spPr>
          <a:xfrm>
            <a:off x="6217918" y="3394073"/>
            <a:ext cx="5349248" cy="5270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300"/>
              </a:spcBef>
              <a:defRPr sz="1300">
                <a:solidFill>
                  <a:srgbClr val="6B7280"/>
                </a:solidFill>
                <a:latin typeface="Meiryo"/>
                <a:ea typeface="Meiryo"/>
                <a:cs typeface="Meiryo"/>
                <a:sym typeface="Meiryo"/>
              </a:defRPr>
            </a:pPr>
            <a:r>
              <a:t>Claude Code パネルの入力欄</a:t>
            </a:r>
          </a:p>
          <a:p>
            <a:pPr algn="ctr">
              <a:spcBef>
                <a:spcPts val="300"/>
              </a:spcBef>
              <a:defRPr sz="1300">
                <a:solidFill>
                  <a:srgbClr val="6B7280"/>
                </a:solidFill>
                <a:latin typeface="Meiryo"/>
                <a:ea typeface="Meiryo"/>
                <a:cs typeface="Meiryo"/>
                <a:sym typeface="Meiryo"/>
              </a:defRPr>
            </a:pPr>
            <a:r>
              <a:t>［ ここに実際の画面を貼り付け ］</a:t>
            </a:r>
          </a:p>
        </p:txBody>
      </p:sp>
      <p:sp>
        <p:nvSpPr>
          <p:cNvPr id="159" name="TextBox 10"/>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3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pic>
        <p:nvPicPr>
          <p:cNvPr id="160" name="ペーストされたムービー.png" descr="ペーストされたムービー.png"/>
          <p:cNvPicPr>
            <a:picLocks noChangeAspect="1"/>
          </p:cNvPicPr>
          <p:nvPr/>
        </p:nvPicPr>
        <p:blipFill>
          <a:blip r:embed="rId2">
            <a:extLst/>
          </a:blip>
          <a:stretch>
            <a:fillRect/>
          </a:stretch>
        </p:blipFill>
        <p:spPr>
          <a:xfrm>
            <a:off x="6217920" y="1925322"/>
            <a:ext cx="5349243" cy="3464556"/>
          </a:xfrm>
          <a:prstGeom prst="rect">
            <a:avLst/>
          </a:prstGeom>
          <a:ln w="12700">
            <a:miter lim="400000"/>
          </a:ln>
        </p:spPr>
      </p:pic>
      <p:sp>
        <p:nvSpPr>
          <p:cNvPr id="161" name="四角形"/>
          <p:cNvSpPr/>
          <p:nvPr/>
        </p:nvSpPr>
        <p:spPr>
          <a:xfrm>
            <a:off x="8222701" y="4948799"/>
            <a:ext cx="2620409" cy="3302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p>
        </p:txBody>
      </p:sp>
      <p:sp>
        <p:nvSpPr>
          <p:cNvPr id="162" name="TextBox 4"/>
          <p:cNvSpPr txBox="1"/>
          <p:nvPr/>
        </p:nvSpPr>
        <p:spPr>
          <a:xfrm>
            <a:off x="2240279" y="352552"/>
            <a:ext cx="950976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Claude Code へプロンプトを入力する</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65"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168" name="Rounded Rectangle 3"/>
          <p:cNvGrpSpPr/>
          <p:nvPr/>
        </p:nvGrpSpPr>
        <p:grpSpPr>
          <a:xfrm>
            <a:off x="457167" y="256006"/>
            <a:ext cx="1554537" cy="548687"/>
            <a:chOff x="0" y="-1"/>
            <a:chExt cx="1554536" cy="548685"/>
          </a:xfrm>
        </p:grpSpPr>
        <p:sp>
          <p:nvSpPr>
            <p:cNvPr id="166"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167" name="目次"/>
            <p:cNvSpPr txBox="1"/>
            <p:nvPr/>
          </p:nvSpPr>
          <p:spPr>
            <a:xfrm>
              <a:off x="26788" y="172728"/>
              <a:ext cx="1500956"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目次</a:t>
              </a:r>
            </a:p>
          </p:txBody>
        </p:sp>
      </p:grpSp>
      <p:sp>
        <p:nvSpPr>
          <p:cNvPr id="169" name="TextBox 4"/>
          <p:cNvSpPr txBox="1"/>
          <p:nvPr/>
        </p:nvSpPr>
        <p:spPr>
          <a:xfrm>
            <a:off x="2240280" y="381127"/>
            <a:ext cx="9509760" cy="2984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共通とケースの一覧</a:t>
            </a:r>
          </a:p>
        </p:txBody>
      </p:sp>
      <p:grpSp>
        <p:nvGrpSpPr>
          <p:cNvPr id="172" name="Rounded Rectangle 5"/>
          <p:cNvGrpSpPr/>
          <p:nvPr/>
        </p:nvGrpSpPr>
        <p:grpSpPr>
          <a:xfrm>
            <a:off x="640051" y="1444730"/>
            <a:ext cx="1417368" cy="713275"/>
            <a:chOff x="-1" y="-1"/>
            <a:chExt cx="1417366" cy="713274"/>
          </a:xfrm>
        </p:grpSpPr>
        <p:sp>
          <p:nvSpPr>
            <p:cNvPr id="170" name="角丸四角形"/>
            <p:cNvSpPr/>
            <p:nvPr/>
          </p:nvSpPr>
          <p:spPr>
            <a:xfrm>
              <a:off x="-2" y="-2"/>
              <a:ext cx="1417368" cy="713275"/>
            </a:xfrm>
            <a:prstGeom prst="roundRect">
              <a:avLst>
                <a:gd name="adj" fmla="val 16667"/>
              </a:avLst>
            </a:prstGeom>
            <a:solidFill>
              <a:srgbClr val="1E2761"/>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171" name="共通"/>
            <p:cNvSpPr txBox="1"/>
            <p:nvPr/>
          </p:nvSpPr>
          <p:spPr>
            <a:xfrm>
              <a:off x="34821" y="242319"/>
              <a:ext cx="1347727" cy="228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a:solidFill>
                    <a:srgbClr val="FFFFFF"/>
                  </a:solidFill>
                  <a:latin typeface="Meiryo"/>
                  <a:ea typeface="Meiryo"/>
                  <a:cs typeface="Meiryo"/>
                  <a:sym typeface="Meiryo"/>
                </a:defRPr>
              </a:lvl1pPr>
            </a:lstStyle>
            <a:p>
              <a:pPr/>
              <a:r>
                <a:t>共通</a:t>
              </a:r>
            </a:p>
          </p:txBody>
        </p:sp>
      </p:grpSp>
      <p:sp>
        <p:nvSpPr>
          <p:cNvPr id="173" name="TextBox 6"/>
          <p:cNvSpPr txBox="1"/>
          <p:nvPr/>
        </p:nvSpPr>
        <p:spPr>
          <a:xfrm>
            <a:off x="2285999" y="1389888"/>
            <a:ext cx="9326882" cy="2476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900">
                <a:solidFill>
                  <a:srgbClr val="222633"/>
                </a:solidFill>
                <a:latin typeface="Meiryo"/>
                <a:ea typeface="Meiryo"/>
                <a:cs typeface="Meiryo"/>
                <a:sym typeface="Meiryo"/>
              </a:defRPr>
            </a:lvl1pPr>
          </a:lstStyle>
          <a:p>
            <a:pPr/>
            <a:r>
              <a:t>共通の流れ（全ケース）</a:t>
            </a:r>
          </a:p>
        </p:txBody>
      </p:sp>
      <p:sp>
        <p:nvSpPr>
          <p:cNvPr id="174" name="TextBox 7"/>
          <p:cNvSpPr txBox="1"/>
          <p:nvPr/>
        </p:nvSpPr>
        <p:spPr>
          <a:xfrm>
            <a:off x="2285999" y="1847088"/>
            <a:ext cx="9326882" cy="2063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6B7280"/>
                </a:solidFill>
                <a:latin typeface="Meiryo"/>
                <a:ea typeface="Meiryo"/>
                <a:cs typeface="Meiryo"/>
                <a:sym typeface="Meiryo"/>
              </a:defRPr>
            </a:lvl1pPr>
          </a:lstStyle>
          <a:p>
            <a:pPr/>
            <a:r>
              <a:t>specify → clarify → plan → tasks → analyze → implement → sushi build → checklist → 人間レビュー</a:t>
            </a:r>
          </a:p>
        </p:txBody>
      </p:sp>
      <p:grpSp>
        <p:nvGrpSpPr>
          <p:cNvPr id="177" name="Rounded Rectangle 8"/>
          <p:cNvGrpSpPr/>
          <p:nvPr/>
        </p:nvGrpSpPr>
        <p:grpSpPr>
          <a:xfrm>
            <a:off x="640051" y="2377416"/>
            <a:ext cx="1417368" cy="713273"/>
            <a:chOff x="-1" y="-1"/>
            <a:chExt cx="1417366" cy="713272"/>
          </a:xfrm>
        </p:grpSpPr>
        <p:sp>
          <p:nvSpPr>
            <p:cNvPr id="175" name="角丸四角形"/>
            <p:cNvSpPr/>
            <p:nvPr/>
          </p:nvSpPr>
          <p:spPr>
            <a:xfrm>
              <a:off x="-2" y="-2"/>
              <a:ext cx="1417368" cy="713273"/>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176" name="A"/>
            <p:cNvSpPr txBox="1"/>
            <p:nvPr/>
          </p:nvSpPr>
          <p:spPr>
            <a:xfrm>
              <a:off x="34821" y="216918"/>
              <a:ext cx="134772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a:solidFill>
                    <a:srgbClr val="FFFFFF"/>
                  </a:solidFill>
                  <a:latin typeface="Meiryo"/>
                  <a:ea typeface="Meiryo"/>
                  <a:cs typeface="Meiryo"/>
                  <a:sym typeface="Meiryo"/>
                </a:defRPr>
              </a:lvl1pPr>
            </a:lstStyle>
            <a:p>
              <a:pPr/>
              <a:r>
                <a:t>A</a:t>
              </a:r>
            </a:p>
          </p:txBody>
        </p:sp>
      </p:grpSp>
      <p:sp>
        <p:nvSpPr>
          <p:cNvPr id="178" name="TextBox 9"/>
          <p:cNvSpPr txBox="1"/>
          <p:nvPr/>
        </p:nvSpPr>
        <p:spPr>
          <a:xfrm>
            <a:off x="2285999" y="2322576"/>
            <a:ext cx="93268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900">
                <a:solidFill>
                  <a:srgbClr val="222633"/>
                </a:solidFill>
                <a:latin typeface="Meiryo"/>
                <a:ea typeface="Meiryo"/>
                <a:cs typeface="Meiryo"/>
                <a:sym typeface="Meiryo"/>
              </a:defRPr>
            </a:lvl1pPr>
          </a:lstStyle>
          <a:p>
            <a:pPr/>
            <a:r>
              <a:t>ケース A（軽量パス）</a:t>
            </a:r>
          </a:p>
        </p:txBody>
      </p:sp>
      <p:sp>
        <p:nvSpPr>
          <p:cNvPr id="179" name="TextBox 10"/>
          <p:cNvSpPr txBox="1"/>
          <p:nvPr/>
        </p:nvSpPr>
        <p:spPr>
          <a:xfrm>
            <a:off x="2285999" y="2779776"/>
            <a:ext cx="932688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6B7280"/>
                </a:solidFill>
                <a:latin typeface="Meiryo"/>
                <a:ea typeface="Meiryo"/>
                <a:cs typeface="Meiryo"/>
                <a:sym typeface="Meiryo"/>
              </a:defRPr>
            </a:lvl1pPr>
          </a:lstStyle>
          <a:p>
            <a:pPr/>
            <a:r>
              <a:t>タイポ・文言・コメントの修正（例 #925 / #1058）。clarify / analyze は省略</a:t>
            </a:r>
          </a:p>
        </p:txBody>
      </p:sp>
      <p:grpSp>
        <p:nvGrpSpPr>
          <p:cNvPr id="182" name="Rounded Rectangle 11"/>
          <p:cNvGrpSpPr/>
          <p:nvPr/>
        </p:nvGrpSpPr>
        <p:grpSpPr>
          <a:xfrm>
            <a:off x="640051" y="3310103"/>
            <a:ext cx="1417368" cy="713277"/>
            <a:chOff x="-1" y="0"/>
            <a:chExt cx="1417366" cy="713275"/>
          </a:xfrm>
        </p:grpSpPr>
        <p:sp>
          <p:nvSpPr>
            <p:cNvPr id="180" name="角丸四角形"/>
            <p:cNvSpPr/>
            <p:nvPr/>
          </p:nvSpPr>
          <p:spPr>
            <a:xfrm>
              <a:off x="-2" y="-1"/>
              <a:ext cx="1417368" cy="71327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181" name="B"/>
            <p:cNvSpPr txBox="1"/>
            <p:nvPr/>
          </p:nvSpPr>
          <p:spPr>
            <a:xfrm>
              <a:off x="34821" y="216919"/>
              <a:ext cx="134772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a:solidFill>
                    <a:srgbClr val="FFFFFF"/>
                  </a:solidFill>
                  <a:latin typeface="Meiryo"/>
                  <a:ea typeface="Meiryo"/>
                  <a:cs typeface="Meiryo"/>
                  <a:sym typeface="Meiryo"/>
                </a:defRPr>
              </a:lvl1pPr>
            </a:lstStyle>
            <a:p>
              <a:pPr/>
              <a:r>
                <a:t>B</a:t>
              </a:r>
            </a:p>
          </p:txBody>
        </p:sp>
      </p:grpSp>
      <p:sp>
        <p:nvSpPr>
          <p:cNvPr id="183" name="TextBox 12"/>
          <p:cNvSpPr txBox="1"/>
          <p:nvPr/>
        </p:nvSpPr>
        <p:spPr>
          <a:xfrm>
            <a:off x="2285999" y="3255264"/>
            <a:ext cx="93268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900">
                <a:solidFill>
                  <a:srgbClr val="222633"/>
                </a:solidFill>
                <a:latin typeface="Meiryo"/>
                <a:ea typeface="Meiryo"/>
                <a:cs typeface="Meiryo"/>
                <a:sym typeface="Meiryo"/>
              </a:defRPr>
            </a:lvl1pPr>
          </a:lstStyle>
          <a:p>
            <a:pPr/>
            <a:r>
              <a:t>ケース B（フルパス）</a:t>
            </a:r>
          </a:p>
        </p:txBody>
      </p:sp>
      <p:sp>
        <p:nvSpPr>
          <p:cNvPr id="184" name="TextBox 13"/>
          <p:cNvSpPr txBox="1"/>
          <p:nvPr/>
        </p:nvSpPr>
        <p:spPr>
          <a:xfrm>
            <a:off x="2285999" y="3712464"/>
            <a:ext cx="932688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6B7280"/>
                </a:solidFill>
                <a:latin typeface="Meiryo"/>
                <a:ea typeface="Meiryo"/>
                <a:cs typeface="Meiryo"/>
                <a:sym typeface="Meiryo"/>
              </a:defRPr>
            </a:lvl1pPr>
          </a:lstStyle>
          <a:p>
            <a:pPr/>
            <a:r>
              <a:t>構造・cardinality など仕様変更（例 #954 / #938）。破壊的変更に注意</a:t>
            </a:r>
          </a:p>
        </p:txBody>
      </p:sp>
      <p:grpSp>
        <p:nvGrpSpPr>
          <p:cNvPr id="187" name="Rounded Rectangle 14"/>
          <p:cNvGrpSpPr/>
          <p:nvPr/>
        </p:nvGrpSpPr>
        <p:grpSpPr>
          <a:xfrm>
            <a:off x="640051" y="4242790"/>
            <a:ext cx="1417368" cy="713275"/>
            <a:chOff x="-1" y="0"/>
            <a:chExt cx="1417366" cy="713274"/>
          </a:xfrm>
        </p:grpSpPr>
        <p:sp>
          <p:nvSpPr>
            <p:cNvPr id="185" name="角丸四角形"/>
            <p:cNvSpPr/>
            <p:nvPr/>
          </p:nvSpPr>
          <p:spPr>
            <a:xfrm>
              <a:off x="-2" y="-1"/>
              <a:ext cx="1417368" cy="713275"/>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186" name="C"/>
            <p:cNvSpPr txBox="1"/>
            <p:nvPr/>
          </p:nvSpPr>
          <p:spPr>
            <a:xfrm>
              <a:off x="34821" y="216918"/>
              <a:ext cx="134772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a:solidFill>
                    <a:srgbClr val="FFFFFF"/>
                  </a:solidFill>
                  <a:latin typeface="Meiryo"/>
                  <a:ea typeface="Meiryo"/>
                  <a:cs typeface="Meiryo"/>
                  <a:sym typeface="Meiryo"/>
                </a:defRPr>
              </a:lvl1pPr>
            </a:lstStyle>
            <a:p>
              <a:pPr/>
              <a:r>
                <a:t>C</a:t>
              </a:r>
            </a:p>
          </p:txBody>
        </p:sp>
      </p:grpSp>
      <p:sp>
        <p:nvSpPr>
          <p:cNvPr id="188" name="TextBox 15"/>
          <p:cNvSpPr txBox="1"/>
          <p:nvPr/>
        </p:nvSpPr>
        <p:spPr>
          <a:xfrm>
            <a:off x="2285999" y="4187952"/>
            <a:ext cx="93268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900">
                <a:solidFill>
                  <a:srgbClr val="222633"/>
                </a:solidFill>
                <a:latin typeface="Meiryo"/>
                <a:ea typeface="Meiryo"/>
                <a:cs typeface="Meiryo"/>
                <a:sym typeface="Meiryo"/>
              </a:defRPr>
            </a:lvl1pPr>
          </a:lstStyle>
          <a:p>
            <a:pPr/>
            <a:r>
              <a:t>ケース C（フル＋PM判断）</a:t>
            </a:r>
          </a:p>
        </p:txBody>
      </p:sp>
      <p:sp>
        <p:nvSpPr>
          <p:cNvPr id="189" name="TextBox 16"/>
          <p:cNvSpPr txBox="1"/>
          <p:nvPr/>
        </p:nvSpPr>
        <p:spPr>
          <a:xfrm>
            <a:off x="2285999" y="4645152"/>
            <a:ext cx="932688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6B7280"/>
                </a:solidFill>
                <a:latin typeface="Meiryo"/>
                <a:ea typeface="Meiryo"/>
                <a:cs typeface="Meiryo"/>
                <a:sym typeface="Meiryo"/>
              </a:defRPr>
            </a:lvl1pPr>
          </a:lstStyle>
          <a:p>
            <a:pPr/>
            <a:r>
              <a:t>保険制度などの設計（#947 / #948 / #981 / #982）。clarify で PM が回答</a:t>
            </a:r>
          </a:p>
        </p:txBody>
      </p:sp>
      <p:grpSp>
        <p:nvGrpSpPr>
          <p:cNvPr id="192" name="Rounded Rectangle 17"/>
          <p:cNvGrpSpPr/>
          <p:nvPr/>
        </p:nvGrpSpPr>
        <p:grpSpPr>
          <a:xfrm>
            <a:off x="640051" y="5175478"/>
            <a:ext cx="1417368" cy="713275"/>
            <a:chOff x="-1" y="-1"/>
            <a:chExt cx="1417366" cy="713274"/>
          </a:xfrm>
        </p:grpSpPr>
        <p:sp>
          <p:nvSpPr>
            <p:cNvPr id="190" name="角丸四角形"/>
            <p:cNvSpPr/>
            <p:nvPr/>
          </p:nvSpPr>
          <p:spPr>
            <a:xfrm>
              <a:off x="-2" y="-2"/>
              <a:ext cx="1417368" cy="713275"/>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191" name="D"/>
            <p:cNvSpPr txBox="1"/>
            <p:nvPr/>
          </p:nvSpPr>
          <p:spPr>
            <a:xfrm>
              <a:off x="34821" y="216918"/>
              <a:ext cx="134772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a:solidFill>
                    <a:srgbClr val="FFFFFF"/>
                  </a:solidFill>
                  <a:latin typeface="Meiryo"/>
                  <a:ea typeface="Meiryo"/>
                  <a:cs typeface="Meiryo"/>
                  <a:sym typeface="Meiryo"/>
                </a:defRPr>
              </a:lvl1pPr>
            </a:lstStyle>
            <a:p>
              <a:pPr/>
              <a:r>
                <a:t>D</a:t>
              </a:r>
            </a:p>
          </p:txBody>
        </p:sp>
      </p:grpSp>
      <p:sp>
        <p:nvSpPr>
          <p:cNvPr id="193" name="TextBox 18"/>
          <p:cNvSpPr txBox="1"/>
          <p:nvPr/>
        </p:nvSpPr>
        <p:spPr>
          <a:xfrm>
            <a:off x="2285999" y="5120640"/>
            <a:ext cx="93268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900">
                <a:solidFill>
                  <a:srgbClr val="222633"/>
                </a:solidFill>
                <a:latin typeface="Meiryo"/>
                <a:ea typeface="Meiryo"/>
                <a:cs typeface="Meiryo"/>
                <a:sym typeface="Meiryo"/>
              </a:defRPr>
            </a:lvl1pPr>
          </a:lstStyle>
          <a:p>
            <a:pPr/>
            <a:r>
              <a:t>ケース D</a:t>
            </a:r>
          </a:p>
        </p:txBody>
      </p:sp>
      <p:sp>
        <p:nvSpPr>
          <p:cNvPr id="194" name="TextBox 19"/>
          <p:cNvSpPr txBox="1"/>
          <p:nvPr/>
        </p:nvSpPr>
        <p:spPr>
          <a:xfrm>
            <a:off x="2285999" y="5577840"/>
            <a:ext cx="932688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6B7280"/>
                </a:solidFill>
                <a:latin typeface="Meiryo"/>
                <a:ea typeface="Meiryo"/>
                <a:cs typeface="Meiryo"/>
                <a:sym typeface="Meiryo"/>
              </a:defRPr>
            </a:lvl1pPr>
          </a:lstStyle>
          <a:p>
            <a:pPr/>
            <a:r>
              <a:t>記述の矛盾・食い違いの解消（#983 / #955）。先に『正』を1つ決める</a:t>
            </a:r>
          </a:p>
        </p:txBody>
      </p:sp>
      <p:sp>
        <p:nvSpPr>
          <p:cNvPr id="195" name="TextBox 20"/>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196" name="スライド番号"/>
          <p:cNvSpPr txBox="1"/>
          <p:nvPr>
            <p:ph type="sldNum" sz="quarter" idx="4294967295"/>
          </p:nvPr>
        </p:nvSpPr>
        <p:spPr>
          <a:xfrm>
            <a:off x="11616921" y="6392219"/>
            <a:ext cx="181378"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四角形"/>
          <p:cNvSpPr/>
          <p:nvPr/>
        </p:nvSpPr>
        <p:spPr>
          <a:xfrm>
            <a:off x="-238" y="0"/>
            <a:ext cx="12191715"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9"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202" name="Rounded Rectangle 3"/>
          <p:cNvGrpSpPr/>
          <p:nvPr/>
        </p:nvGrpSpPr>
        <p:grpSpPr>
          <a:xfrm>
            <a:off x="457174" y="256012"/>
            <a:ext cx="1554525" cy="548677"/>
            <a:chOff x="-1" y="-1"/>
            <a:chExt cx="1554523" cy="548675"/>
          </a:xfrm>
        </p:grpSpPr>
        <p:sp>
          <p:nvSpPr>
            <p:cNvPr id="200" name="角丸四角形"/>
            <p:cNvSpPr/>
            <p:nvPr/>
          </p:nvSpPr>
          <p:spPr>
            <a:xfrm>
              <a:off x="-2" y="-2"/>
              <a:ext cx="1554525" cy="54867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01" name="共通"/>
            <p:cNvSpPr txBox="1"/>
            <p:nvPr/>
          </p:nvSpPr>
          <p:spPr>
            <a:xfrm>
              <a:off x="26785" y="172726"/>
              <a:ext cx="1500947"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共通</a:t>
              </a:r>
            </a:p>
          </p:txBody>
        </p:sp>
      </p:grpSp>
      <p:sp>
        <p:nvSpPr>
          <p:cNvPr id="203" name="TextBox 4"/>
          <p:cNvSpPr txBox="1"/>
          <p:nvPr/>
        </p:nvSpPr>
        <p:spPr>
          <a:xfrm>
            <a:off x="2240279" y="381127"/>
            <a:ext cx="9509761" cy="2984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共通の流れ（全ケース・全コマンド）</a:t>
            </a:r>
          </a:p>
        </p:txBody>
      </p:sp>
      <p:grpSp>
        <p:nvGrpSpPr>
          <p:cNvPr id="206" name="Rounded Rectangle 5"/>
          <p:cNvGrpSpPr/>
          <p:nvPr/>
        </p:nvGrpSpPr>
        <p:grpSpPr>
          <a:xfrm>
            <a:off x="822943" y="1280141"/>
            <a:ext cx="5760756" cy="410498"/>
            <a:chOff x="0" y="0"/>
            <a:chExt cx="5760754" cy="410497"/>
          </a:xfrm>
        </p:grpSpPr>
        <p:sp>
          <p:nvSpPr>
            <p:cNvPr id="204" name="角丸四角形"/>
            <p:cNvSpPr/>
            <p:nvPr/>
          </p:nvSpPr>
          <p:spPr>
            <a:xfrm>
              <a:off x="-1" y="-1"/>
              <a:ext cx="5760756" cy="410498"/>
            </a:xfrm>
            <a:prstGeom prst="roundRect">
              <a:avLst>
                <a:gd name="adj" fmla="val 16667"/>
              </a:avLst>
            </a:prstGeom>
            <a:solidFill>
              <a:srgbClr val="F2F4F8"/>
            </a:solidFill>
            <a:ln w="9525" cap="flat">
              <a:solidFill>
                <a:srgbClr val="B9C2D9"/>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05" name="/speckit.specify"/>
            <p:cNvSpPr txBox="1"/>
            <p:nvPr/>
          </p:nvSpPr>
          <p:spPr>
            <a:xfrm>
              <a:off x="24794" y="103636"/>
              <a:ext cx="5711155"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300">
                  <a:solidFill>
                    <a:srgbClr val="222633"/>
                  </a:solidFill>
                  <a:latin typeface="Meiryo"/>
                  <a:ea typeface="Meiryo"/>
                  <a:cs typeface="Meiryo"/>
                  <a:sym typeface="Meiryo"/>
                </a:defRPr>
              </a:lvl1pPr>
            </a:lstStyle>
            <a:p>
              <a:pPr/>
              <a:r>
                <a:t>/speckit.specify</a:t>
              </a:r>
            </a:p>
          </p:txBody>
        </p:sp>
      </p:grpSp>
      <p:sp>
        <p:nvSpPr>
          <p:cNvPr id="207" name="TextBox 6"/>
          <p:cNvSpPr txBox="1"/>
          <p:nvPr/>
        </p:nvSpPr>
        <p:spPr>
          <a:xfrm>
            <a:off x="3429000" y="1672332"/>
            <a:ext cx="54864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spcBef>
                <a:spcPts val="200"/>
              </a:spcBef>
              <a:defRPr b="1" sz="1200">
                <a:solidFill>
                  <a:srgbClr val="B85042"/>
                </a:solidFill>
                <a:latin typeface="Meiryo"/>
                <a:ea typeface="Meiryo"/>
                <a:cs typeface="Meiryo"/>
                <a:sym typeface="Meiryo"/>
              </a:defRPr>
            </a:lvl1pPr>
          </a:lstStyle>
          <a:p>
            <a:pPr/>
            <a:r>
              <a:t>▼</a:t>
            </a:r>
          </a:p>
        </p:txBody>
      </p:sp>
      <p:grpSp>
        <p:nvGrpSpPr>
          <p:cNvPr id="210" name="Rounded Rectangle 7"/>
          <p:cNvGrpSpPr/>
          <p:nvPr/>
        </p:nvGrpSpPr>
        <p:grpSpPr>
          <a:xfrm>
            <a:off x="822943" y="1818619"/>
            <a:ext cx="5760756" cy="410502"/>
            <a:chOff x="0" y="-1"/>
            <a:chExt cx="5760754" cy="410500"/>
          </a:xfrm>
        </p:grpSpPr>
        <p:sp>
          <p:nvSpPr>
            <p:cNvPr id="208" name="角丸四角形"/>
            <p:cNvSpPr/>
            <p:nvPr/>
          </p:nvSpPr>
          <p:spPr>
            <a:xfrm>
              <a:off x="-1" y="-2"/>
              <a:ext cx="5760756" cy="410502"/>
            </a:xfrm>
            <a:prstGeom prst="roundRect">
              <a:avLst>
                <a:gd name="adj" fmla="val 16667"/>
              </a:avLst>
            </a:prstGeom>
            <a:solidFill>
              <a:srgbClr val="F2F4F8"/>
            </a:solidFill>
            <a:ln w="9525" cap="flat">
              <a:solidFill>
                <a:srgbClr val="B9C2D9"/>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09" name="/speckit.clarify（フルのみ）"/>
            <p:cNvSpPr txBox="1"/>
            <p:nvPr/>
          </p:nvSpPr>
          <p:spPr>
            <a:xfrm>
              <a:off x="24794" y="103635"/>
              <a:ext cx="5711155"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300">
                  <a:solidFill>
                    <a:srgbClr val="222633"/>
                  </a:solidFill>
                  <a:latin typeface="Meiryo"/>
                  <a:ea typeface="Meiryo"/>
                  <a:cs typeface="Meiryo"/>
                  <a:sym typeface="Meiryo"/>
                </a:defRPr>
              </a:lvl1pPr>
            </a:lstStyle>
            <a:p>
              <a:pPr/>
              <a:r>
                <a:t>/speckit.clarify（フルのみ）</a:t>
              </a:r>
            </a:p>
          </p:txBody>
        </p:sp>
      </p:grpSp>
      <p:sp>
        <p:nvSpPr>
          <p:cNvPr id="211" name="TextBox 8"/>
          <p:cNvSpPr txBox="1"/>
          <p:nvPr/>
        </p:nvSpPr>
        <p:spPr>
          <a:xfrm>
            <a:off x="3429000" y="2210816"/>
            <a:ext cx="54864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spcBef>
                <a:spcPts val="200"/>
              </a:spcBef>
              <a:defRPr b="1" sz="1200">
                <a:solidFill>
                  <a:srgbClr val="B85042"/>
                </a:solidFill>
                <a:latin typeface="Meiryo"/>
                <a:ea typeface="Meiryo"/>
                <a:cs typeface="Meiryo"/>
                <a:sym typeface="Meiryo"/>
              </a:defRPr>
            </a:lvl1pPr>
          </a:lstStyle>
          <a:p>
            <a:pPr/>
            <a:r>
              <a:t>▼</a:t>
            </a:r>
          </a:p>
        </p:txBody>
      </p:sp>
      <p:grpSp>
        <p:nvGrpSpPr>
          <p:cNvPr id="214" name="Rounded Rectangle 9"/>
          <p:cNvGrpSpPr/>
          <p:nvPr/>
        </p:nvGrpSpPr>
        <p:grpSpPr>
          <a:xfrm>
            <a:off x="822943" y="2357102"/>
            <a:ext cx="5760756" cy="410498"/>
            <a:chOff x="0" y="-1"/>
            <a:chExt cx="5760754" cy="410497"/>
          </a:xfrm>
        </p:grpSpPr>
        <p:sp>
          <p:nvSpPr>
            <p:cNvPr id="212" name="角丸四角形"/>
            <p:cNvSpPr/>
            <p:nvPr/>
          </p:nvSpPr>
          <p:spPr>
            <a:xfrm>
              <a:off x="-1" y="-2"/>
              <a:ext cx="5760756" cy="410499"/>
            </a:xfrm>
            <a:prstGeom prst="roundRect">
              <a:avLst>
                <a:gd name="adj" fmla="val 16667"/>
              </a:avLst>
            </a:prstGeom>
            <a:solidFill>
              <a:srgbClr val="F2F4F8"/>
            </a:solidFill>
            <a:ln w="9525" cap="flat">
              <a:solidFill>
                <a:srgbClr val="B9C2D9"/>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13" name="/speckit.plan"/>
            <p:cNvSpPr txBox="1"/>
            <p:nvPr/>
          </p:nvSpPr>
          <p:spPr>
            <a:xfrm>
              <a:off x="24794" y="103636"/>
              <a:ext cx="5711155"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300">
                  <a:solidFill>
                    <a:srgbClr val="222633"/>
                  </a:solidFill>
                  <a:latin typeface="Meiryo"/>
                  <a:ea typeface="Meiryo"/>
                  <a:cs typeface="Meiryo"/>
                  <a:sym typeface="Meiryo"/>
                </a:defRPr>
              </a:lvl1pPr>
            </a:lstStyle>
            <a:p>
              <a:pPr/>
              <a:r>
                <a:t>/speckit.plan</a:t>
              </a:r>
            </a:p>
          </p:txBody>
        </p:sp>
      </p:grpSp>
      <p:sp>
        <p:nvSpPr>
          <p:cNvPr id="215" name="TextBox 10"/>
          <p:cNvSpPr txBox="1"/>
          <p:nvPr/>
        </p:nvSpPr>
        <p:spPr>
          <a:xfrm>
            <a:off x="3429000" y="2749294"/>
            <a:ext cx="54864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spcBef>
                <a:spcPts val="200"/>
              </a:spcBef>
              <a:defRPr b="1" sz="1200">
                <a:solidFill>
                  <a:srgbClr val="B85042"/>
                </a:solidFill>
                <a:latin typeface="Meiryo"/>
                <a:ea typeface="Meiryo"/>
                <a:cs typeface="Meiryo"/>
                <a:sym typeface="Meiryo"/>
              </a:defRPr>
            </a:lvl1pPr>
          </a:lstStyle>
          <a:p>
            <a:pPr/>
            <a:r>
              <a:t>▼</a:t>
            </a:r>
          </a:p>
        </p:txBody>
      </p:sp>
      <p:grpSp>
        <p:nvGrpSpPr>
          <p:cNvPr id="218" name="Rounded Rectangle 11"/>
          <p:cNvGrpSpPr/>
          <p:nvPr/>
        </p:nvGrpSpPr>
        <p:grpSpPr>
          <a:xfrm>
            <a:off x="822943" y="2895584"/>
            <a:ext cx="5760756" cy="410497"/>
            <a:chOff x="0" y="-1"/>
            <a:chExt cx="5760754" cy="410496"/>
          </a:xfrm>
        </p:grpSpPr>
        <p:sp>
          <p:nvSpPr>
            <p:cNvPr id="216" name="角丸四角形"/>
            <p:cNvSpPr/>
            <p:nvPr/>
          </p:nvSpPr>
          <p:spPr>
            <a:xfrm>
              <a:off x="-1" y="-2"/>
              <a:ext cx="5760756" cy="410498"/>
            </a:xfrm>
            <a:prstGeom prst="roundRect">
              <a:avLst>
                <a:gd name="adj" fmla="val 16667"/>
              </a:avLst>
            </a:prstGeom>
            <a:solidFill>
              <a:srgbClr val="F2F4F8"/>
            </a:solidFill>
            <a:ln w="9525" cap="flat">
              <a:solidFill>
                <a:srgbClr val="B9C2D9"/>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17" name="/speckit.tasks（フルのみ）"/>
            <p:cNvSpPr txBox="1"/>
            <p:nvPr/>
          </p:nvSpPr>
          <p:spPr>
            <a:xfrm>
              <a:off x="24794" y="103636"/>
              <a:ext cx="5711155"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300">
                  <a:solidFill>
                    <a:srgbClr val="222633"/>
                  </a:solidFill>
                  <a:latin typeface="Meiryo"/>
                  <a:ea typeface="Meiryo"/>
                  <a:cs typeface="Meiryo"/>
                  <a:sym typeface="Meiryo"/>
                </a:defRPr>
              </a:lvl1pPr>
            </a:lstStyle>
            <a:p>
              <a:pPr/>
              <a:r>
                <a:t>/speckit.tasks</a:t>
              </a:r>
            </a:p>
          </p:txBody>
        </p:sp>
      </p:grpSp>
      <p:sp>
        <p:nvSpPr>
          <p:cNvPr id="219" name="TextBox 12"/>
          <p:cNvSpPr txBox="1"/>
          <p:nvPr/>
        </p:nvSpPr>
        <p:spPr>
          <a:xfrm>
            <a:off x="3429000" y="3287776"/>
            <a:ext cx="54864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spcBef>
                <a:spcPts val="200"/>
              </a:spcBef>
              <a:defRPr b="1" sz="1200">
                <a:solidFill>
                  <a:srgbClr val="B85042"/>
                </a:solidFill>
                <a:latin typeface="Meiryo"/>
                <a:ea typeface="Meiryo"/>
                <a:cs typeface="Meiryo"/>
                <a:sym typeface="Meiryo"/>
              </a:defRPr>
            </a:lvl1pPr>
          </a:lstStyle>
          <a:p>
            <a:pPr/>
            <a:r>
              <a:t>▼</a:t>
            </a:r>
          </a:p>
        </p:txBody>
      </p:sp>
      <p:grpSp>
        <p:nvGrpSpPr>
          <p:cNvPr id="222" name="Rounded Rectangle 13"/>
          <p:cNvGrpSpPr/>
          <p:nvPr/>
        </p:nvGrpSpPr>
        <p:grpSpPr>
          <a:xfrm>
            <a:off x="822943" y="3434058"/>
            <a:ext cx="5760756" cy="410498"/>
            <a:chOff x="0" y="0"/>
            <a:chExt cx="5760754" cy="410497"/>
          </a:xfrm>
        </p:grpSpPr>
        <p:sp>
          <p:nvSpPr>
            <p:cNvPr id="220" name="角丸四角形"/>
            <p:cNvSpPr/>
            <p:nvPr/>
          </p:nvSpPr>
          <p:spPr>
            <a:xfrm>
              <a:off x="-1" y="-1"/>
              <a:ext cx="5760756" cy="410498"/>
            </a:xfrm>
            <a:prstGeom prst="roundRect">
              <a:avLst>
                <a:gd name="adj" fmla="val 16667"/>
              </a:avLst>
            </a:prstGeom>
            <a:solidFill>
              <a:srgbClr val="F2F4F8"/>
            </a:solidFill>
            <a:ln w="9525" cap="flat">
              <a:solidFill>
                <a:srgbClr val="B9C2D9"/>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21" name="/speckit.analyze（フルのみ）"/>
            <p:cNvSpPr txBox="1"/>
            <p:nvPr/>
          </p:nvSpPr>
          <p:spPr>
            <a:xfrm>
              <a:off x="24794" y="103636"/>
              <a:ext cx="5711155"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300">
                  <a:solidFill>
                    <a:srgbClr val="222633"/>
                  </a:solidFill>
                  <a:latin typeface="Meiryo"/>
                  <a:ea typeface="Meiryo"/>
                  <a:cs typeface="Meiryo"/>
                  <a:sym typeface="Meiryo"/>
                </a:defRPr>
              </a:lvl1pPr>
            </a:lstStyle>
            <a:p>
              <a:pPr/>
              <a:r>
                <a:t>/speckit.analyze（フルのみ）</a:t>
              </a:r>
            </a:p>
          </p:txBody>
        </p:sp>
      </p:grpSp>
      <p:sp>
        <p:nvSpPr>
          <p:cNvPr id="223" name="TextBox 14"/>
          <p:cNvSpPr txBox="1"/>
          <p:nvPr/>
        </p:nvSpPr>
        <p:spPr>
          <a:xfrm>
            <a:off x="3429000" y="3826254"/>
            <a:ext cx="54864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spcBef>
                <a:spcPts val="200"/>
              </a:spcBef>
              <a:defRPr b="1" sz="1200">
                <a:solidFill>
                  <a:srgbClr val="B85042"/>
                </a:solidFill>
                <a:latin typeface="Meiryo"/>
                <a:ea typeface="Meiryo"/>
                <a:cs typeface="Meiryo"/>
                <a:sym typeface="Meiryo"/>
              </a:defRPr>
            </a:lvl1pPr>
          </a:lstStyle>
          <a:p>
            <a:pPr/>
            <a:r>
              <a:t>▼</a:t>
            </a:r>
          </a:p>
        </p:txBody>
      </p:sp>
      <p:grpSp>
        <p:nvGrpSpPr>
          <p:cNvPr id="226" name="Rounded Rectangle 15"/>
          <p:cNvGrpSpPr/>
          <p:nvPr/>
        </p:nvGrpSpPr>
        <p:grpSpPr>
          <a:xfrm>
            <a:off x="822943" y="3972537"/>
            <a:ext cx="5760756" cy="410501"/>
            <a:chOff x="0" y="0"/>
            <a:chExt cx="5760754" cy="410499"/>
          </a:xfrm>
        </p:grpSpPr>
        <p:sp>
          <p:nvSpPr>
            <p:cNvPr id="224" name="角丸四角形"/>
            <p:cNvSpPr/>
            <p:nvPr/>
          </p:nvSpPr>
          <p:spPr>
            <a:xfrm>
              <a:off x="-1" y="-1"/>
              <a:ext cx="5760756" cy="410500"/>
            </a:xfrm>
            <a:prstGeom prst="roundRect">
              <a:avLst>
                <a:gd name="adj" fmla="val 16667"/>
              </a:avLst>
            </a:prstGeom>
            <a:solidFill>
              <a:srgbClr val="F2F4F8"/>
            </a:solidFill>
            <a:ln w="9525" cap="flat">
              <a:solidFill>
                <a:srgbClr val="B9C2D9"/>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25" name="/speckit.implement"/>
            <p:cNvSpPr txBox="1"/>
            <p:nvPr/>
          </p:nvSpPr>
          <p:spPr>
            <a:xfrm>
              <a:off x="24794" y="103636"/>
              <a:ext cx="5711155"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300">
                  <a:solidFill>
                    <a:srgbClr val="222633"/>
                  </a:solidFill>
                  <a:latin typeface="Meiryo"/>
                  <a:ea typeface="Meiryo"/>
                  <a:cs typeface="Meiryo"/>
                  <a:sym typeface="Meiryo"/>
                </a:defRPr>
              </a:lvl1pPr>
            </a:lstStyle>
            <a:p>
              <a:pPr/>
              <a:r>
                <a:t>/speckit.implement</a:t>
              </a:r>
            </a:p>
          </p:txBody>
        </p:sp>
      </p:grpSp>
      <p:sp>
        <p:nvSpPr>
          <p:cNvPr id="227" name="TextBox 16"/>
          <p:cNvSpPr txBox="1"/>
          <p:nvPr/>
        </p:nvSpPr>
        <p:spPr>
          <a:xfrm>
            <a:off x="3429000" y="4364735"/>
            <a:ext cx="54864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spcBef>
                <a:spcPts val="200"/>
              </a:spcBef>
              <a:defRPr b="1" sz="1200">
                <a:solidFill>
                  <a:srgbClr val="B85042"/>
                </a:solidFill>
                <a:latin typeface="Meiryo"/>
                <a:ea typeface="Meiryo"/>
                <a:cs typeface="Meiryo"/>
                <a:sym typeface="Meiryo"/>
              </a:defRPr>
            </a:lvl1pPr>
          </a:lstStyle>
          <a:p>
            <a:pPr/>
            <a:r>
              <a:t>▼</a:t>
            </a:r>
          </a:p>
        </p:txBody>
      </p:sp>
      <p:grpSp>
        <p:nvGrpSpPr>
          <p:cNvPr id="230" name="Rounded Rectangle 17"/>
          <p:cNvGrpSpPr/>
          <p:nvPr/>
        </p:nvGrpSpPr>
        <p:grpSpPr>
          <a:xfrm>
            <a:off x="822943" y="4511018"/>
            <a:ext cx="5760756" cy="410502"/>
            <a:chOff x="0" y="-1"/>
            <a:chExt cx="5760754" cy="410500"/>
          </a:xfrm>
        </p:grpSpPr>
        <p:sp>
          <p:nvSpPr>
            <p:cNvPr id="228" name="角丸四角形"/>
            <p:cNvSpPr/>
            <p:nvPr/>
          </p:nvSpPr>
          <p:spPr>
            <a:xfrm>
              <a:off x="-1" y="-2"/>
              <a:ext cx="5760756" cy="410502"/>
            </a:xfrm>
            <a:prstGeom prst="roundRect">
              <a:avLst>
                <a:gd name="adj" fmla="val 16667"/>
              </a:avLst>
            </a:prstGeom>
            <a:solidFill>
              <a:srgbClr val="F2F4F8"/>
            </a:solidFill>
            <a:ln w="9525" cap="flat">
              <a:solidFill>
                <a:srgbClr val="B9C2D9"/>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29" name="sushi build（検証）"/>
            <p:cNvSpPr txBox="1"/>
            <p:nvPr/>
          </p:nvSpPr>
          <p:spPr>
            <a:xfrm>
              <a:off x="24794" y="103635"/>
              <a:ext cx="5711155"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300">
                  <a:solidFill>
                    <a:srgbClr val="222633"/>
                  </a:solidFill>
                  <a:latin typeface="Meiryo"/>
                  <a:ea typeface="Meiryo"/>
                  <a:cs typeface="Meiryo"/>
                  <a:sym typeface="Meiryo"/>
                </a:defRPr>
              </a:lvl1pPr>
            </a:lstStyle>
            <a:p>
              <a:pPr/>
              <a:r>
                <a:t>sushi build（検証）</a:t>
              </a:r>
            </a:p>
          </p:txBody>
        </p:sp>
      </p:grpSp>
      <p:sp>
        <p:nvSpPr>
          <p:cNvPr id="231" name="TextBox 18"/>
          <p:cNvSpPr txBox="1"/>
          <p:nvPr/>
        </p:nvSpPr>
        <p:spPr>
          <a:xfrm>
            <a:off x="3429000" y="4903215"/>
            <a:ext cx="54864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spcBef>
                <a:spcPts val="200"/>
              </a:spcBef>
              <a:defRPr b="1" sz="1200">
                <a:solidFill>
                  <a:srgbClr val="B85042"/>
                </a:solidFill>
                <a:latin typeface="Meiryo"/>
                <a:ea typeface="Meiryo"/>
                <a:cs typeface="Meiryo"/>
                <a:sym typeface="Meiryo"/>
              </a:defRPr>
            </a:lvl1pPr>
          </a:lstStyle>
          <a:p>
            <a:pPr/>
            <a:r>
              <a:t>▼</a:t>
            </a:r>
          </a:p>
        </p:txBody>
      </p:sp>
      <p:grpSp>
        <p:nvGrpSpPr>
          <p:cNvPr id="234" name="Rounded Rectangle 19"/>
          <p:cNvGrpSpPr/>
          <p:nvPr/>
        </p:nvGrpSpPr>
        <p:grpSpPr>
          <a:xfrm>
            <a:off x="822943" y="5049498"/>
            <a:ext cx="5760756" cy="410501"/>
            <a:chOff x="0" y="0"/>
            <a:chExt cx="5760754" cy="410499"/>
          </a:xfrm>
        </p:grpSpPr>
        <p:sp>
          <p:nvSpPr>
            <p:cNvPr id="232" name="角丸四角形"/>
            <p:cNvSpPr/>
            <p:nvPr/>
          </p:nvSpPr>
          <p:spPr>
            <a:xfrm>
              <a:off x="-1" y="-1"/>
              <a:ext cx="5760756" cy="410500"/>
            </a:xfrm>
            <a:prstGeom prst="roundRect">
              <a:avLst>
                <a:gd name="adj" fmla="val 16667"/>
              </a:avLst>
            </a:prstGeom>
            <a:solidFill>
              <a:srgbClr val="F2F4F8"/>
            </a:solidFill>
            <a:ln w="9525" cap="flat">
              <a:solidFill>
                <a:srgbClr val="B9C2D9"/>
              </a:solidFill>
              <a:prstDash val="solid"/>
              <a:round/>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33" name="/speckit.checklist"/>
            <p:cNvSpPr txBox="1"/>
            <p:nvPr/>
          </p:nvSpPr>
          <p:spPr>
            <a:xfrm>
              <a:off x="24794" y="103636"/>
              <a:ext cx="5711155"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300">
                  <a:solidFill>
                    <a:srgbClr val="222633"/>
                  </a:solidFill>
                  <a:latin typeface="Meiryo"/>
                  <a:ea typeface="Meiryo"/>
                  <a:cs typeface="Meiryo"/>
                  <a:sym typeface="Meiryo"/>
                </a:defRPr>
              </a:lvl1pPr>
            </a:lstStyle>
            <a:p>
              <a:pPr/>
              <a:r>
                <a:t>/speckit.checklist</a:t>
              </a:r>
            </a:p>
          </p:txBody>
        </p:sp>
      </p:grpSp>
      <p:sp>
        <p:nvSpPr>
          <p:cNvPr id="235" name="TextBox 20"/>
          <p:cNvSpPr txBox="1"/>
          <p:nvPr/>
        </p:nvSpPr>
        <p:spPr>
          <a:xfrm>
            <a:off x="3429000" y="5441696"/>
            <a:ext cx="54864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spcBef>
                <a:spcPts val="200"/>
              </a:spcBef>
              <a:defRPr b="1" sz="1200">
                <a:solidFill>
                  <a:srgbClr val="B85042"/>
                </a:solidFill>
                <a:latin typeface="Meiryo"/>
                <a:ea typeface="Meiryo"/>
                <a:cs typeface="Meiryo"/>
                <a:sym typeface="Meiryo"/>
              </a:defRPr>
            </a:lvl1pPr>
          </a:lstStyle>
          <a:p>
            <a:pPr/>
            <a:r>
              <a:t>▼</a:t>
            </a:r>
          </a:p>
        </p:txBody>
      </p:sp>
      <p:grpSp>
        <p:nvGrpSpPr>
          <p:cNvPr id="238" name="Rounded Rectangle 21"/>
          <p:cNvGrpSpPr/>
          <p:nvPr/>
        </p:nvGrpSpPr>
        <p:grpSpPr>
          <a:xfrm>
            <a:off x="822943" y="5587976"/>
            <a:ext cx="5760756" cy="410501"/>
            <a:chOff x="0" y="0"/>
            <a:chExt cx="5760754" cy="410499"/>
          </a:xfrm>
        </p:grpSpPr>
        <p:sp>
          <p:nvSpPr>
            <p:cNvPr id="236" name="角丸四角形"/>
            <p:cNvSpPr/>
            <p:nvPr/>
          </p:nvSpPr>
          <p:spPr>
            <a:xfrm>
              <a:off x="-1" y="-1"/>
              <a:ext cx="5760756" cy="410500"/>
            </a:xfrm>
            <a:prstGeom prst="roundRect">
              <a:avLst>
                <a:gd name="adj" fmla="val 16667"/>
              </a:avLst>
            </a:prstGeom>
            <a:solidFill>
              <a:srgbClr val="1E2761"/>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37" name="人間がレビュー → コミット / PR"/>
            <p:cNvSpPr txBox="1"/>
            <p:nvPr/>
          </p:nvSpPr>
          <p:spPr>
            <a:xfrm>
              <a:off x="20031" y="102066"/>
              <a:ext cx="5720680" cy="2063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300">
                  <a:solidFill>
                    <a:srgbClr val="FFFFFF"/>
                  </a:solidFill>
                  <a:latin typeface="Meiryo"/>
                  <a:ea typeface="Meiryo"/>
                  <a:cs typeface="Meiryo"/>
                  <a:sym typeface="Meiryo"/>
                </a:defRPr>
              </a:lvl1pPr>
            </a:lstStyle>
            <a:p>
              <a:pPr/>
              <a:r>
                <a:t>人間がレビュー → コミット / PR</a:t>
              </a:r>
            </a:p>
          </p:txBody>
        </p:sp>
      </p:grpSp>
      <p:sp>
        <p:nvSpPr>
          <p:cNvPr id="239" name="Rounded Rectangle 22"/>
          <p:cNvSpPr/>
          <p:nvPr/>
        </p:nvSpPr>
        <p:spPr>
          <a:xfrm>
            <a:off x="7040880" y="1371600"/>
            <a:ext cx="4572015" cy="3158446"/>
          </a:xfrm>
          <a:prstGeom prst="roundRect">
            <a:avLst>
              <a:gd name="adj" fmla="val 13028"/>
            </a:avLst>
          </a:prstGeom>
          <a:solidFill>
            <a:srgbClr val="B85042"/>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40" name="TextBox 23"/>
          <p:cNvSpPr txBox="1"/>
          <p:nvPr/>
        </p:nvSpPr>
        <p:spPr>
          <a:xfrm>
            <a:off x="7269480" y="1572763"/>
            <a:ext cx="4160521" cy="22805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500">
                <a:solidFill>
                  <a:srgbClr val="FFFFFF"/>
                </a:solidFill>
                <a:latin typeface="Meiryo"/>
                <a:ea typeface="Meiryo"/>
                <a:cs typeface="Meiryo"/>
                <a:sym typeface="Meiryo"/>
              </a:defRPr>
            </a:pPr>
            <a:r>
              <a:t>【コマンドの使い分け】</a:t>
            </a:r>
          </a:p>
          <a:p>
            <a:pPr>
              <a:spcBef>
                <a:spcPts val="200"/>
              </a:spcBef>
              <a:defRPr sz="1500">
                <a:solidFill>
                  <a:srgbClr val="FFFFFF"/>
                </a:solidFill>
                <a:latin typeface="Meiryo"/>
                <a:ea typeface="Meiryo"/>
                <a:cs typeface="Meiryo"/>
                <a:sym typeface="Meiryo"/>
              </a:defRPr>
            </a:pPr>
            <a:r>
              <a:t>軽量パス：specify → plan → tasks → implement → build → checklist</a:t>
            </a:r>
          </a:p>
          <a:p>
            <a:pPr>
              <a:spcBef>
                <a:spcPts val="200"/>
              </a:spcBef>
              <a:defRPr sz="1500">
                <a:solidFill>
                  <a:srgbClr val="FFFFFF"/>
                </a:solidFill>
                <a:latin typeface="Meiryo"/>
                <a:ea typeface="Meiryo"/>
                <a:cs typeface="Meiryo"/>
                <a:sym typeface="Meiryo"/>
              </a:defRPr>
            </a:pPr>
          </a:p>
          <a:p>
            <a:pPr>
              <a:spcBef>
                <a:spcPts val="200"/>
              </a:spcBef>
              <a:defRPr sz="1500">
                <a:solidFill>
                  <a:srgbClr val="FFFFFF"/>
                </a:solidFill>
                <a:latin typeface="Meiryo"/>
                <a:ea typeface="Meiryo"/>
                <a:cs typeface="Meiryo"/>
                <a:sym typeface="Meiryo"/>
              </a:defRPr>
            </a:pPr>
            <a:r>
              <a:t>フルパス：上に clarify / analyze を加えた全工程</a:t>
            </a:r>
          </a:p>
          <a:p>
            <a:pPr>
              <a:spcBef>
                <a:spcPts val="200"/>
              </a:spcBef>
              <a:defRPr sz="1500">
                <a:solidFill>
                  <a:srgbClr val="FFFFFF"/>
                </a:solidFill>
                <a:latin typeface="Meiryo"/>
                <a:ea typeface="Meiryo"/>
                <a:cs typeface="Meiryo"/>
                <a:sym typeface="Meiryo"/>
              </a:defRPr>
            </a:pPr>
          </a:p>
          <a:p>
            <a:pPr>
              <a:spcBef>
                <a:spcPts val="200"/>
              </a:spcBef>
              <a:defRPr sz="1500">
                <a:solidFill>
                  <a:srgbClr val="FFFFFF"/>
                </a:solidFill>
                <a:latin typeface="Meiryo"/>
                <a:ea typeface="Meiryo"/>
                <a:cs typeface="Meiryo"/>
                <a:sym typeface="Meiryo"/>
              </a:defRPr>
            </a:pPr>
            <a:r>
              <a:t>【重要】コミット・PR・マージは人間がレビュー後に実施。</a:t>
            </a:r>
          </a:p>
        </p:txBody>
      </p:sp>
      <p:sp>
        <p:nvSpPr>
          <p:cNvPr id="241" name="TextBox 24"/>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242" name="スライド番号"/>
          <p:cNvSpPr txBox="1"/>
          <p:nvPr>
            <p:ph type="sldNum" sz="quarter" idx="4294967295"/>
          </p:nvPr>
        </p:nvSpPr>
        <p:spPr>
          <a:xfrm>
            <a:off x="11616921" y="6392219"/>
            <a:ext cx="181378"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2500">
                <a:solidFill>
                  <a:srgbClr val="FFFFFF"/>
                </a:solidFill>
              </a:defRPr>
            </a:pPr>
          </a:p>
        </p:txBody>
      </p:sp>
      <p:sp>
        <p:nvSpPr>
          <p:cNvPr id="245"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46" name="TextBox 4"/>
          <p:cNvSpPr txBox="1"/>
          <p:nvPr/>
        </p:nvSpPr>
        <p:spPr>
          <a:xfrm>
            <a:off x="2240279" y="352552"/>
            <a:ext cx="950976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人間がレビュー → コミット / PR</a:t>
            </a:r>
          </a:p>
        </p:txBody>
      </p:sp>
      <p:sp>
        <p:nvSpPr>
          <p:cNvPr id="247" name="TextBox 5"/>
          <p:cNvSpPr txBox="1"/>
          <p:nvPr/>
        </p:nvSpPr>
        <p:spPr>
          <a:xfrm>
            <a:off x="502904" y="1417318"/>
            <a:ext cx="5120673" cy="158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変更内容を人間が確認。問題なければ人間がコミット／PRを行います。</a:t>
            </a:r>
            <a:br/>
            <a:br/>
            <a:r>
              <a:t>【確認3点】</a:t>
            </a:r>
          </a:p>
          <a:p>
            <a:pPr>
              <a:spcBef>
                <a:spcPts val="200"/>
              </a:spcBef>
              <a:defRPr sz="1700">
                <a:solidFill>
                  <a:srgbClr val="222633"/>
                </a:solidFill>
                <a:latin typeface="Meiryo"/>
                <a:ea typeface="Meiryo"/>
                <a:cs typeface="Meiryo"/>
                <a:sym typeface="Meiryo"/>
              </a:defRPr>
            </a:pPr>
            <a:r>
              <a:t>① spec.md の確認（Issueの意図と一致しているか）</a:t>
            </a:r>
          </a:p>
        </p:txBody>
      </p:sp>
      <p:sp>
        <p:nvSpPr>
          <p:cNvPr id="248" name="Rounded Rectangle 6"/>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49" name="TextBox 7"/>
          <p:cNvSpPr txBox="1"/>
          <p:nvPr/>
        </p:nvSpPr>
        <p:spPr>
          <a:xfrm>
            <a:off x="6126479" y="3441698"/>
            <a:ext cx="5440696"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spec.md</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250" name="TextBox 8"/>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grpSp>
        <p:nvGrpSpPr>
          <p:cNvPr id="253" name="Rounded Rectangle 3"/>
          <p:cNvGrpSpPr/>
          <p:nvPr/>
        </p:nvGrpSpPr>
        <p:grpSpPr>
          <a:xfrm>
            <a:off x="457167" y="256006"/>
            <a:ext cx="1554537" cy="548687"/>
            <a:chOff x="0" y="-1"/>
            <a:chExt cx="1554536" cy="548685"/>
          </a:xfrm>
        </p:grpSpPr>
        <p:sp>
          <p:nvSpPr>
            <p:cNvPr id="251"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52" name="解説"/>
            <p:cNvSpPr txBox="1"/>
            <p:nvPr/>
          </p:nvSpPr>
          <p:spPr>
            <a:xfrm>
              <a:off x="26788" y="172728"/>
              <a:ext cx="1500956"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解説</a:t>
              </a:r>
            </a:p>
          </p:txBody>
        </p:sp>
      </p:grpSp>
      <p:sp>
        <p:nvSpPr>
          <p:cNvPr id="254" name="スライド番号"/>
          <p:cNvSpPr txBox="1"/>
          <p:nvPr>
            <p:ph type="sldNum" sz="quarter" idx="4294967295"/>
          </p:nvPr>
        </p:nvSpPr>
        <p:spPr>
          <a:xfrm>
            <a:off x="11616921" y="6392219"/>
            <a:ext cx="181378"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5" name="Rounded Rectangle 241"/>
          <p:cNvSpPr/>
          <p:nvPr/>
        </p:nvSpPr>
        <p:spPr>
          <a:xfrm>
            <a:off x="502919" y="32461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56" name="TextBox 242"/>
          <p:cNvSpPr txBox="1"/>
          <p:nvPr/>
        </p:nvSpPr>
        <p:spPr>
          <a:xfrm>
            <a:off x="685793" y="3337559"/>
            <a:ext cx="484633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257" name="TextBox 243"/>
          <p:cNvSpPr txBox="1"/>
          <p:nvPr/>
        </p:nvSpPr>
        <p:spPr>
          <a:xfrm>
            <a:off x="685800" y="3703320"/>
            <a:ext cx="48006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FFFFFF"/>
                </a:solidFill>
                <a:latin typeface="Consolas"/>
                <a:ea typeface="Consolas"/>
                <a:cs typeface="Consolas"/>
                <a:sym typeface="Consolas"/>
              </a:defRPr>
            </a:lvl1pPr>
          </a:lstStyle>
          <a:p>
            <a:pPr/>
            <a:r>
              <a:t>spec.md を要約し、Issue の意図と一致するか確認して</a:t>
            </a:r>
          </a:p>
        </p:txBody>
      </p:sp>
      <p:pic>
        <p:nvPicPr>
          <p:cNvPr id="258" name="ペーストされたムービー.png" descr="ペーストされたムービー.png"/>
          <p:cNvPicPr>
            <a:picLocks noChangeAspect="1"/>
          </p:cNvPicPr>
          <p:nvPr/>
        </p:nvPicPr>
        <p:blipFill>
          <a:blip r:embed="rId2">
            <a:extLst/>
          </a:blip>
          <a:stretch>
            <a:fillRect/>
          </a:stretch>
        </p:blipFill>
        <p:spPr>
          <a:xfrm>
            <a:off x="6126474" y="1895705"/>
            <a:ext cx="5440694" cy="3523787"/>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2500">
                <a:solidFill>
                  <a:srgbClr val="FFFFFF"/>
                </a:solidFill>
              </a:defRPr>
            </a:pPr>
          </a:p>
        </p:txBody>
      </p:sp>
      <p:sp>
        <p:nvSpPr>
          <p:cNvPr id="261"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62" name="TextBox 4"/>
          <p:cNvSpPr txBox="1"/>
          <p:nvPr/>
        </p:nvSpPr>
        <p:spPr>
          <a:xfrm>
            <a:off x="2240279" y="352552"/>
            <a:ext cx="950976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人間がレビュー → コミット / PR</a:t>
            </a:r>
          </a:p>
        </p:txBody>
      </p:sp>
      <p:sp>
        <p:nvSpPr>
          <p:cNvPr id="263" name="TextBox 5"/>
          <p:cNvSpPr txBox="1"/>
          <p:nvPr/>
        </p:nvSpPr>
        <p:spPr>
          <a:xfrm>
            <a:off x="502904" y="1417318"/>
            <a:ext cx="5120673" cy="158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変更内容を人間が確認。問題なければ人間がコミット／PRを行います。</a:t>
            </a:r>
            <a:br/>
            <a:br/>
            <a:r>
              <a:t>【確認3点】</a:t>
            </a:r>
          </a:p>
          <a:p>
            <a:pPr>
              <a:spcBef>
                <a:spcPts val="200"/>
              </a:spcBef>
              <a:defRPr sz="1700">
                <a:solidFill>
                  <a:srgbClr val="222633"/>
                </a:solidFill>
                <a:latin typeface="Meiryo"/>
                <a:ea typeface="Meiryo"/>
                <a:cs typeface="Meiryo"/>
                <a:sym typeface="Meiryo"/>
              </a:defRPr>
            </a:pPr>
            <a:r>
              <a:t>② 変更したfshファイルの特定</a:t>
            </a:r>
          </a:p>
        </p:txBody>
      </p:sp>
      <p:sp>
        <p:nvSpPr>
          <p:cNvPr id="264" name="Rounded Rectangle 6"/>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65" name="TextBox 7"/>
          <p:cNvSpPr txBox="1"/>
          <p:nvPr/>
        </p:nvSpPr>
        <p:spPr>
          <a:xfrm>
            <a:off x="6126479" y="3416296"/>
            <a:ext cx="544069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差分のレビュー</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266" name="TextBox 8"/>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grpSp>
        <p:nvGrpSpPr>
          <p:cNvPr id="269" name="Rounded Rectangle 3"/>
          <p:cNvGrpSpPr/>
          <p:nvPr/>
        </p:nvGrpSpPr>
        <p:grpSpPr>
          <a:xfrm>
            <a:off x="457167" y="256006"/>
            <a:ext cx="1554537" cy="548687"/>
            <a:chOff x="0" y="-1"/>
            <a:chExt cx="1554536" cy="548685"/>
          </a:xfrm>
        </p:grpSpPr>
        <p:sp>
          <p:nvSpPr>
            <p:cNvPr id="267"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68" name="解説"/>
            <p:cNvSpPr txBox="1"/>
            <p:nvPr/>
          </p:nvSpPr>
          <p:spPr>
            <a:xfrm>
              <a:off x="26788" y="172728"/>
              <a:ext cx="1500956"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解説</a:t>
              </a:r>
            </a:p>
          </p:txBody>
        </p:sp>
      </p:grpSp>
      <p:sp>
        <p:nvSpPr>
          <p:cNvPr id="270" name="スライド番号"/>
          <p:cNvSpPr txBox="1"/>
          <p:nvPr>
            <p:ph type="sldNum" sz="quarter" idx="4294967295"/>
          </p:nvPr>
        </p:nvSpPr>
        <p:spPr>
          <a:xfrm>
            <a:off x="11616921" y="6392219"/>
            <a:ext cx="181378"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1" name="Rounded Rectangle 255"/>
          <p:cNvSpPr/>
          <p:nvPr/>
        </p:nvSpPr>
        <p:spPr>
          <a:xfrm>
            <a:off x="502919" y="32461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72" name="TextBox 256"/>
          <p:cNvSpPr txBox="1"/>
          <p:nvPr/>
        </p:nvSpPr>
        <p:spPr>
          <a:xfrm>
            <a:off x="685793" y="3337559"/>
            <a:ext cx="484633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273" name="TextBox 257"/>
          <p:cNvSpPr txBox="1"/>
          <p:nvPr/>
        </p:nvSpPr>
        <p:spPr>
          <a:xfrm>
            <a:off x="685800" y="3703320"/>
            <a:ext cx="4800600" cy="7937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変更したfshファイルを一覧で出して。</a:t>
            </a:r>
          </a:p>
          <a:p>
            <a:pPr>
              <a:spcBef>
                <a:spcPts val="200"/>
              </a:spcBef>
              <a:defRPr sz="1300">
                <a:solidFill>
                  <a:srgbClr val="FFFFFF"/>
                </a:solidFill>
                <a:latin typeface="Consolas"/>
                <a:ea typeface="Consolas"/>
                <a:cs typeface="Consolas"/>
                <a:sym typeface="Consolas"/>
              </a:defRPr>
            </a:pPr>
            <a:r>
              <a:t>各ファイルの変更数（追加/削除）も付け、</a:t>
            </a:r>
          </a:p>
          <a:p>
            <a:pPr>
              <a:spcBef>
                <a:spcPts val="200"/>
              </a:spcBef>
              <a:defRPr sz="1300">
                <a:solidFill>
                  <a:srgbClr val="FFFFFF"/>
                </a:solidFill>
                <a:latin typeface="Consolas"/>
                <a:ea typeface="Consolas"/>
                <a:cs typeface="Consolas"/>
                <a:sym typeface="Consolas"/>
              </a:defRPr>
            </a:pPr>
            <a:r>
              <a:t>チェックできる箇条書きにして。</a:t>
            </a:r>
          </a:p>
        </p:txBody>
      </p:sp>
      <p:pic>
        <p:nvPicPr>
          <p:cNvPr id="274" name="ペーストされたムービー.png" descr="ペーストされたムービー.png"/>
          <p:cNvPicPr>
            <a:picLocks noChangeAspect="1"/>
          </p:cNvPicPr>
          <p:nvPr/>
        </p:nvPicPr>
        <p:blipFill>
          <a:blip r:embed="rId2">
            <a:extLst/>
          </a:blip>
          <a:stretch>
            <a:fillRect/>
          </a:stretch>
        </p:blipFill>
        <p:spPr>
          <a:xfrm>
            <a:off x="6084161" y="1862537"/>
            <a:ext cx="5472540" cy="3544407"/>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2500">
                <a:solidFill>
                  <a:srgbClr val="FFFFFF"/>
                </a:solidFill>
              </a:defRPr>
            </a:pPr>
          </a:p>
        </p:txBody>
      </p:sp>
      <p:sp>
        <p:nvSpPr>
          <p:cNvPr id="277"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78" name="TextBox 4"/>
          <p:cNvSpPr txBox="1"/>
          <p:nvPr/>
        </p:nvSpPr>
        <p:spPr>
          <a:xfrm>
            <a:off x="2240279" y="352552"/>
            <a:ext cx="950976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人間がレビュー → コミット / PR</a:t>
            </a:r>
          </a:p>
        </p:txBody>
      </p:sp>
      <p:sp>
        <p:nvSpPr>
          <p:cNvPr id="279" name="TextBox 5"/>
          <p:cNvSpPr txBox="1"/>
          <p:nvPr/>
        </p:nvSpPr>
        <p:spPr>
          <a:xfrm>
            <a:off x="502904" y="1417319"/>
            <a:ext cx="5120673" cy="163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変更内容を人間が確認。問題なければ人間がコミット／PRを行います。</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【確認3点】</a:t>
            </a:r>
          </a:p>
          <a:p>
            <a:pPr>
              <a:spcBef>
                <a:spcPts val="200"/>
              </a:spcBef>
              <a:defRPr sz="1700">
                <a:solidFill>
                  <a:srgbClr val="222633"/>
                </a:solidFill>
                <a:latin typeface="Meiryo"/>
                <a:ea typeface="Meiryo"/>
                <a:cs typeface="Meiryo"/>
                <a:sym typeface="Meiryo"/>
              </a:defRPr>
            </a:pPr>
            <a:r>
              <a:t>③ 変更したfshファイルの変更箇所の確認</a:t>
            </a:r>
          </a:p>
        </p:txBody>
      </p:sp>
      <p:sp>
        <p:nvSpPr>
          <p:cNvPr id="280" name="Rounded Rectangle 6"/>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81" name="TextBox 7"/>
          <p:cNvSpPr txBox="1"/>
          <p:nvPr/>
        </p:nvSpPr>
        <p:spPr>
          <a:xfrm>
            <a:off x="6126479" y="3416296"/>
            <a:ext cx="544069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差分のレビュー</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282" name="TextBox 8"/>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grpSp>
        <p:nvGrpSpPr>
          <p:cNvPr id="285" name="Rounded Rectangle 3"/>
          <p:cNvGrpSpPr/>
          <p:nvPr/>
        </p:nvGrpSpPr>
        <p:grpSpPr>
          <a:xfrm>
            <a:off x="457167" y="256006"/>
            <a:ext cx="1554537" cy="548687"/>
            <a:chOff x="0" y="-1"/>
            <a:chExt cx="1554536" cy="548685"/>
          </a:xfrm>
        </p:grpSpPr>
        <p:sp>
          <p:nvSpPr>
            <p:cNvPr id="283"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84" name="解説"/>
            <p:cNvSpPr txBox="1"/>
            <p:nvPr/>
          </p:nvSpPr>
          <p:spPr>
            <a:xfrm>
              <a:off x="26788" y="172728"/>
              <a:ext cx="1500956"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解説</a:t>
              </a:r>
            </a:p>
          </p:txBody>
        </p:sp>
      </p:grpSp>
      <p:sp>
        <p:nvSpPr>
          <p:cNvPr id="286" name="スライド番号"/>
          <p:cNvSpPr txBox="1"/>
          <p:nvPr>
            <p:ph type="sldNum" sz="quarter" idx="4294967295"/>
          </p:nvPr>
        </p:nvSpPr>
        <p:spPr>
          <a:xfrm>
            <a:off x="11616921" y="6392219"/>
            <a:ext cx="181378"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7" name="Rounded Rectangle 269"/>
          <p:cNvSpPr/>
          <p:nvPr/>
        </p:nvSpPr>
        <p:spPr>
          <a:xfrm>
            <a:off x="502919" y="32461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88" name="TextBox 270"/>
          <p:cNvSpPr txBox="1"/>
          <p:nvPr/>
        </p:nvSpPr>
        <p:spPr>
          <a:xfrm>
            <a:off x="685793" y="3337559"/>
            <a:ext cx="484633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289" name="TextBox 271"/>
          <p:cNvSpPr txBox="1"/>
          <p:nvPr/>
        </p:nvSpPr>
        <p:spPr>
          <a:xfrm>
            <a:off x="685800" y="3703320"/>
            <a:ext cx="4800600"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変更したファイルすべての変更箇所（差分）を表示して。</a:t>
            </a:r>
          </a:p>
          <a:p>
            <a:pPr>
              <a:spcBef>
                <a:spcPts val="200"/>
              </a:spcBef>
              <a:defRPr sz="1300">
                <a:solidFill>
                  <a:srgbClr val="FFFFFF"/>
                </a:solidFill>
                <a:latin typeface="Consolas"/>
                <a:ea typeface="Consolas"/>
                <a:cs typeface="Consolas"/>
                <a:sym typeface="Consolas"/>
              </a:defRPr>
            </a:pPr>
            <a:r>
              <a:t>ファイルごとに 変更前 → 変更後 を並べ、</a:t>
            </a:r>
          </a:p>
          <a:p>
            <a:pPr>
              <a:spcBef>
                <a:spcPts val="200"/>
              </a:spcBef>
              <a:defRPr sz="1300">
                <a:solidFill>
                  <a:srgbClr val="FFFFFF"/>
                </a:solidFill>
                <a:latin typeface="Consolas"/>
                <a:ea typeface="Consolas"/>
                <a:cs typeface="Consolas"/>
                <a:sym typeface="Consolas"/>
              </a:defRPr>
            </a:pPr>
            <a:r>
              <a:t>人が一つずつ確認できる形で出して。</a:t>
            </a:r>
          </a:p>
        </p:txBody>
      </p:sp>
      <p:pic>
        <p:nvPicPr>
          <p:cNvPr id="290" name="ペーストされたムービー.png" descr="ペーストされたムービー.png"/>
          <p:cNvPicPr>
            <a:picLocks noChangeAspect="1"/>
          </p:cNvPicPr>
          <p:nvPr/>
        </p:nvPicPr>
        <p:blipFill>
          <a:blip r:embed="rId2">
            <a:extLst/>
          </a:blip>
          <a:stretch>
            <a:fillRect/>
          </a:stretch>
        </p:blipFill>
        <p:spPr>
          <a:xfrm>
            <a:off x="6176445" y="1928067"/>
            <a:ext cx="5340754" cy="3459058"/>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93"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296" name="Rounded Rectangle 3"/>
          <p:cNvGrpSpPr/>
          <p:nvPr/>
        </p:nvGrpSpPr>
        <p:grpSpPr>
          <a:xfrm>
            <a:off x="457168" y="256008"/>
            <a:ext cx="1554535" cy="548684"/>
            <a:chOff x="-1" y="0"/>
            <a:chExt cx="1554533" cy="548683"/>
          </a:xfrm>
        </p:grpSpPr>
        <p:sp>
          <p:nvSpPr>
            <p:cNvPr id="294" name="角丸四角形"/>
            <p:cNvSpPr/>
            <p:nvPr/>
          </p:nvSpPr>
          <p:spPr>
            <a:xfrm>
              <a:off x="-2" y="-1"/>
              <a:ext cx="1554535" cy="548684"/>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295" name="困った時"/>
            <p:cNvSpPr txBox="1"/>
            <p:nvPr/>
          </p:nvSpPr>
          <p:spPr>
            <a:xfrm>
              <a:off x="26787" y="172728"/>
              <a:ext cx="1500954"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困った時</a:t>
              </a:r>
            </a:p>
          </p:txBody>
        </p:sp>
      </p:grpSp>
      <p:sp>
        <p:nvSpPr>
          <p:cNvPr id="297" name="TextBox 4"/>
          <p:cNvSpPr txBox="1"/>
          <p:nvPr/>
        </p:nvSpPr>
        <p:spPr>
          <a:xfrm>
            <a:off x="2240279" y="352551"/>
            <a:ext cx="950976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AIの質問に迷ったら（対処方法）</a:t>
            </a:r>
          </a:p>
        </p:txBody>
      </p:sp>
      <p:sp>
        <p:nvSpPr>
          <p:cNvPr id="298" name="TextBox 5"/>
          <p:cNvSpPr txBox="1"/>
          <p:nvPr/>
        </p:nvSpPr>
        <p:spPr>
          <a:xfrm>
            <a:off x="502905" y="1417319"/>
            <a:ext cx="5120671" cy="2108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AIの質問・許可ダイアログ・選択肢で迷ったら、画面を撮って Claude に聞くのが確実です。</a:t>
            </a:r>
          </a:p>
          <a:p>
            <a:pPr>
              <a:spcBef>
                <a:spcPts val="200"/>
              </a:spcBef>
              <a:defRPr sz="1700">
                <a:solidFill>
                  <a:srgbClr val="222633"/>
                </a:solidFill>
                <a:latin typeface="Meiryo"/>
                <a:ea typeface="Meiryo"/>
                <a:cs typeface="Meiryo"/>
                <a:sym typeface="Meiryo"/>
              </a:defRPr>
            </a:pPr>
            <a:r>
              <a:t>① 画面をスクリーンショット</a:t>
            </a:r>
          </a:p>
          <a:p>
            <a:pPr>
              <a:spcBef>
                <a:spcPts val="200"/>
              </a:spcBef>
              <a:defRPr sz="1700">
                <a:solidFill>
                  <a:srgbClr val="222633"/>
                </a:solidFill>
                <a:latin typeface="Meiryo"/>
                <a:ea typeface="Meiryo"/>
                <a:cs typeface="Meiryo"/>
                <a:sym typeface="Meiryo"/>
              </a:defRPr>
            </a:pPr>
            <a:r>
              <a:t>② 別途、Claude チャットを立ち上げ。画像をアップロード</a:t>
            </a:r>
          </a:p>
          <a:p>
            <a:pPr>
              <a:spcBef>
                <a:spcPts val="200"/>
              </a:spcBef>
              <a:defRPr sz="1700">
                <a:solidFill>
                  <a:srgbClr val="222633"/>
                </a:solidFill>
                <a:latin typeface="Meiryo"/>
                <a:ea typeface="Meiryo"/>
                <a:cs typeface="Meiryo"/>
                <a:sym typeface="Meiryo"/>
              </a:defRPr>
            </a:pPr>
            <a:r>
              <a:t>③「説明して／どれを選べばいい?」と質問</a:t>
            </a:r>
          </a:p>
        </p:txBody>
      </p:sp>
      <p:sp>
        <p:nvSpPr>
          <p:cNvPr id="299" name="Rounded Rectangle 6"/>
          <p:cNvSpPr/>
          <p:nvPr/>
        </p:nvSpPr>
        <p:spPr>
          <a:xfrm>
            <a:off x="502919" y="3703320"/>
            <a:ext cx="5120643" cy="1934918"/>
          </a:xfrm>
          <a:prstGeom prst="roundRect">
            <a:avLst>
              <a:gd name="adj" fmla="val 20479"/>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00" name="TextBox 7"/>
          <p:cNvSpPr txBox="1"/>
          <p:nvPr/>
        </p:nvSpPr>
        <p:spPr>
          <a:xfrm>
            <a:off x="685786" y="3794759"/>
            <a:ext cx="4846351"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▌スクリーンショット</a:t>
            </a:r>
          </a:p>
        </p:txBody>
      </p:sp>
      <p:sp>
        <p:nvSpPr>
          <p:cNvPr id="301" name="TextBox 8"/>
          <p:cNvSpPr txBox="1"/>
          <p:nvPr/>
        </p:nvSpPr>
        <p:spPr>
          <a:xfrm>
            <a:off x="685800" y="4160520"/>
            <a:ext cx="48006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FFFFFF"/>
                </a:solidFill>
                <a:latin typeface="Consolas"/>
                <a:ea typeface="Consolas"/>
                <a:cs typeface="Consolas"/>
                <a:sym typeface="Consolas"/>
              </a:defRPr>
            </a:lvl1pPr>
          </a:lstStyle>
          <a:p>
            <a:pPr/>
            <a:r>
              <a:t>Windows: Win + Shift + S（範囲を選んでコピー）</a:t>
            </a:r>
          </a:p>
        </p:txBody>
      </p:sp>
      <p:sp>
        <p:nvSpPr>
          <p:cNvPr id="302"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03" name="TextBox 10"/>
          <p:cNvSpPr txBox="1"/>
          <p:nvPr/>
        </p:nvSpPr>
        <p:spPr>
          <a:xfrm>
            <a:off x="6126479" y="3416298"/>
            <a:ext cx="544069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画像をアップして質問</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304"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pic>
        <p:nvPicPr>
          <p:cNvPr id="305" name="ペーストされたムービー.png" descr="ペーストされたムービー.png"/>
          <p:cNvPicPr>
            <a:picLocks noChangeAspect="1"/>
          </p:cNvPicPr>
          <p:nvPr/>
        </p:nvPicPr>
        <p:blipFill>
          <a:blip r:embed="rId2">
            <a:extLst/>
          </a:blip>
          <a:stretch>
            <a:fillRect/>
          </a:stretch>
        </p:blipFill>
        <p:spPr>
          <a:xfrm>
            <a:off x="6703745" y="1717213"/>
            <a:ext cx="4286154" cy="3880774"/>
          </a:xfrm>
          <a:prstGeom prst="rect">
            <a:avLst/>
          </a:prstGeom>
          <a:ln w="12700">
            <a:miter lim="400000"/>
          </a:ln>
        </p:spPr>
      </p:pic>
      <p:sp>
        <p:nvSpPr>
          <p:cNvPr id="306" name="スライド番号"/>
          <p:cNvSpPr txBox="1"/>
          <p:nvPr>
            <p:ph type="sldNum" sz="quarter" idx="4294967295"/>
          </p:nvPr>
        </p:nvSpPr>
        <p:spPr>
          <a:xfrm>
            <a:off x="11539679"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Rectangle 1"/>
          <p:cNvSpPr/>
          <p:nvPr/>
        </p:nvSpPr>
        <p:spPr>
          <a:xfrm>
            <a:off x="-1" y="0"/>
            <a:ext cx="12191697" cy="6858000"/>
          </a:xfrm>
          <a:prstGeom prst="rect">
            <a:avLst/>
          </a:prstGeom>
          <a:solidFill>
            <a:srgbClr val="F2F4F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09" name="Rectangle 2"/>
          <p:cNvSpPr/>
          <p:nvPr/>
        </p:nvSpPr>
        <p:spPr>
          <a:xfrm>
            <a:off x="-1" y="2194559"/>
            <a:ext cx="12191697" cy="2468893"/>
          </a:xfrm>
          <a:prstGeom prst="rect">
            <a:avLst/>
          </a:prstGeom>
          <a:solidFill>
            <a:srgbClr val="B85042"/>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10" name="TextBox 3"/>
          <p:cNvSpPr txBox="1"/>
          <p:nvPr/>
        </p:nvSpPr>
        <p:spPr>
          <a:xfrm>
            <a:off x="914399" y="2468877"/>
            <a:ext cx="10332723"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a:solidFill>
                  <a:srgbClr val="FFFFFF"/>
                </a:solidFill>
                <a:latin typeface="Meiryo"/>
                <a:ea typeface="Meiryo"/>
                <a:cs typeface="Meiryo"/>
                <a:sym typeface="Meiryo"/>
              </a:defRPr>
            </a:lvl1pPr>
          </a:lstStyle>
          <a:p>
            <a:pPr/>
            <a:r>
              <a:t>ケース A（軽量パス）</a:t>
            </a:r>
          </a:p>
        </p:txBody>
      </p:sp>
      <p:sp>
        <p:nvSpPr>
          <p:cNvPr id="311" name="TextBox 4"/>
          <p:cNvSpPr txBox="1"/>
          <p:nvPr/>
        </p:nvSpPr>
        <p:spPr>
          <a:xfrm>
            <a:off x="914399" y="3108960"/>
            <a:ext cx="1033272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3200">
                <a:solidFill>
                  <a:srgbClr val="FFFFFF"/>
                </a:solidFill>
                <a:latin typeface="Meiryo"/>
                <a:ea typeface="Meiryo"/>
                <a:cs typeface="Meiryo"/>
                <a:sym typeface="Meiryo"/>
              </a:defRPr>
            </a:lvl1pPr>
          </a:lstStyle>
          <a:p>
            <a:pPr/>
            <a:r>
              <a:t>タイポ・文言・コメントの修正（例 #925 / #1058）</a:t>
            </a:r>
          </a:p>
        </p:txBody>
      </p:sp>
      <p:sp>
        <p:nvSpPr>
          <p:cNvPr id="312" name="TextBox 5"/>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313"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16"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319" name="Rounded Rectangle 3"/>
          <p:cNvGrpSpPr/>
          <p:nvPr/>
        </p:nvGrpSpPr>
        <p:grpSpPr>
          <a:xfrm>
            <a:off x="457167" y="256006"/>
            <a:ext cx="1554537" cy="548687"/>
            <a:chOff x="0" y="-1"/>
            <a:chExt cx="1554536" cy="548685"/>
          </a:xfrm>
        </p:grpSpPr>
        <p:sp>
          <p:nvSpPr>
            <p:cNvPr id="317"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318" name="A-1"/>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A-1</a:t>
              </a:r>
            </a:p>
          </p:txBody>
        </p:sp>
      </p:grpSp>
      <p:sp>
        <p:nvSpPr>
          <p:cNvPr id="320"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/speckit.specify（簡潔に）</a:t>
            </a:r>
          </a:p>
        </p:txBody>
      </p:sp>
      <p:sp>
        <p:nvSpPr>
          <p:cNvPr id="321" name="TextBox 5"/>
          <p:cNvSpPr txBox="1"/>
          <p:nvPr/>
        </p:nvSpPr>
        <p:spPr>
          <a:xfrm>
            <a:off x="502904" y="1417317"/>
            <a:ext cx="5120673" cy="2423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Claude Code で実行。『何を・なぜ』だけ簡潔に。軽量は clarify / analyze を省略します。</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作られるもの：</a:t>
            </a:r>
          </a:p>
          <a:p>
            <a:pPr>
              <a:spcBef>
                <a:spcPts val="200"/>
              </a:spcBef>
              <a:defRPr sz="1700">
                <a:solidFill>
                  <a:srgbClr val="222633"/>
                </a:solidFill>
                <a:latin typeface="Meiryo"/>
                <a:ea typeface="Meiryo"/>
                <a:cs typeface="Meiryo"/>
                <a:sym typeface="Meiryo"/>
              </a:defRPr>
            </a:pPr>
            <a:r>
              <a:t>・作業ブランチ：specify が自動命名（連番 NNN-…）</a:t>
            </a:r>
          </a:p>
          <a:p>
            <a:pPr>
              <a:spcBef>
                <a:spcPts val="200"/>
              </a:spcBef>
              <a:defRPr sz="1700">
                <a:solidFill>
                  <a:srgbClr val="222633"/>
                </a:solidFill>
                <a:latin typeface="Meiryo"/>
                <a:ea typeface="Meiryo"/>
                <a:cs typeface="Meiryo"/>
                <a:sym typeface="Meiryo"/>
              </a:defRPr>
            </a:pPr>
            <a:r>
              <a:t>・仕様書 spec.md（specs/NNN-…/spec.md）</a:t>
            </a:r>
          </a:p>
        </p:txBody>
      </p:sp>
      <p:sp>
        <p:nvSpPr>
          <p:cNvPr id="322" name="Rounded Rectangle 6"/>
          <p:cNvSpPr/>
          <p:nvPr/>
        </p:nvSpPr>
        <p:spPr>
          <a:xfrm>
            <a:off x="287019" y="3954926"/>
            <a:ext cx="5120643" cy="1836161"/>
          </a:xfrm>
          <a:prstGeom prst="roundRect">
            <a:avLst>
              <a:gd name="adj" fmla="val 21580"/>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23" name="TextBox 7"/>
          <p:cNvSpPr txBox="1"/>
          <p:nvPr/>
        </p:nvSpPr>
        <p:spPr>
          <a:xfrm>
            <a:off x="469885" y="4046365"/>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324" name="TextBox 8"/>
          <p:cNvSpPr txBox="1"/>
          <p:nvPr/>
        </p:nvSpPr>
        <p:spPr>
          <a:xfrm>
            <a:off x="469900" y="4412126"/>
            <a:ext cx="4800600"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/speckit.specify</a:t>
            </a:r>
          </a:p>
          <a:p>
            <a:pPr>
              <a:spcBef>
                <a:spcPts val="200"/>
              </a:spcBef>
              <a:defRPr sz="1300">
                <a:solidFill>
                  <a:srgbClr val="FFFFFF"/>
                </a:solidFill>
                <a:latin typeface="Consolas"/>
                <a:ea typeface="Consolas"/>
                <a:cs typeface="Consolas"/>
                <a:sym typeface="Consolas"/>
              </a:defRPr>
            </a:pPr>
            <a:r>
              <a:t>Issue #925: 機械翻訳ゴミ文字「n組織」を除去する</a:t>
            </a:r>
          </a:p>
        </p:txBody>
      </p:sp>
      <p:sp>
        <p:nvSpPr>
          <p:cNvPr id="325"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26" name="TextBox 10"/>
          <p:cNvSpPr txBox="1"/>
          <p:nvPr/>
        </p:nvSpPr>
        <p:spPr>
          <a:xfrm>
            <a:off x="6126479" y="3400423"/>
            <a:ext cx="5440696" cy="5143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specify 実行</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327"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pic>
        <p:nvPicPr>
          <p:cNvPr id="328" name="ペーストされたムービー.png" descr="ペーストされたムービー.png"/>
          <p:cNvPicPr>
            <a:picLocks noChangeAspect="1"/>
          </p:cNvPicPr>
          <p:nvPr/>
        </p:nvPicPr>
        <p:blipFill>
          <a:blip r:embed="rId2">
            <a:extLst/>
          </a:blip>
          <a:stretch>
            <a:fillRect/>
          </a:stretch>
        </p:blipFill>
        <p:spPr>
          <a:xfrm>
            <a:off x="6126476" y="1946474"/>
            <a:ext cx="5440689" cy="3422249"/>
          </a:xfrm>
          <a:prstGeom prst="rect">
            <a:avLst/>
          </a:prstGeom>
          <a:ln w="12700">
            <a:miter lim="400000"/>
          </a:ln>
        </p:spPr>
      </p:pic>
      <p:sp>
        <p:nvSpPr>
          <p:cNvPr id="329" name="四角形"/>
          <p:cNvSpPr/>
          <p:nvPr/>
        </p:nvSpPr>
        <p:spPr>
          <a:xfrm>
            <a:off x="6398683" y="4008120"/>
            <a:ext cx="1007724" cy="1143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p>
        </p:txBody>
      </p:sp>
      <p:sp>
        <p:nvSpPr>
          <p:cNvPr id="330"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2"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33"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336" name="Rounded Rectangle 3"/>
          <p:cNvGrpSpPr/>
          <p:nvPr/>
        </p:nvGrpSpPr>
        <p:grpSpPr>
          <a:xfrm>
            <a:off x="457167" y="256006"/>
            <a:ext cx="1554537" cy="548687"/>
            <a:chOff x="0" y="-1"/>
            <a:chExt cx="1554536" cy="548685"/>
          </a:xfrm>
        </p:grpSpPr>
        <p:sp>
          <p:nvSpPr>
            <p:cNvPr id="334"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335" name="A-2"/>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A-2</a:t>
              </a:r>
            </a:p>
          </p:txBody>
        </p:sp>
      </p:grpSp>
      <p:sp>
        <p:nvSpPr>
          <p:cNvPr id="337"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/speckit.plan</a:t>
            </a:r>
          </a:p>
        </p:txBody>
      </p:sp>
      <p:sp>
        <p:nvSpPr>
          <p:cNvPr id="338" name="TextBox 5"/>
          <p:cNvSpPr txBox="1"/>
          <p:nvPr/>
        </p:nvSpPr>
        <p:spPr>
          <a:xfrm>
            <a:off x="502904" y="1417319"/>
            <a:ext cx="5120673" cy="12804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対象ファイルと修正方針を出させます。</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作られるファイル：</a:t>
            </a:r>
          </a:p>
          <a:p>
            <a:pPr>
              <a:spcBef>
                <a:spcPts val="200"/>
              </a:spcBef>
              <a:defRPr sz="1700">
                <a:solidFill>
                  <a:srgbClr val="222633"/>
                </a:solidFill>
                <a:latin typeface="Meiryo"/>
                <a:ea typeface="Meiryo"/>
                <a:cs typeface="Meiryo"/>
                <a:sym typeface="Meiryo"/>
              </a:defRPr>
            </a:pPr>
            <a:r>
              <a:t>・plan.md（specs/NNN-…/plan.md）</a:t>
            </a:r>
          </a:p>
        </p:txBody>
      </p:sp>
      <p:sp>
        <p:nvSpPr>
          <p:cNvPr id="339" name="Rounded Rectangle 6"/>
          <p:cNvSpPr/>
          <p:nvPr/>
        </p:nvSpPr>
        <p:spPr>
          <a:xfrm>
            <a:off x="439419" y="30937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40" name="TextBox 7"/>
          <p:cNvSpPr txBox="1"/>
          <p:nvPr/>
        </p:nvSpPr>
        <p:spPr>
          <a:xfrm>
            <a:off x="622285" y="3185159"/>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341" name="TextBox 8"/>
          <p:cNvSpPr txBox="1"/>
          <p:nvPr/>
        </p:nvSpPr>
        <p:spPr>
          <a:xfrm>
            <a:off x="622300" y="3550920"/>
            <a:ext cx="48006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FFFFFF"/>
                </a:solidFill>
                <a:latin typeface="Consolas"/>
                <a:ea typeface="Consolas"/>
                <a:cs typeface="Consolas"/>
                <a:sym typeface="Consolas"/>
              </a:defRPr>
            </a:lvl1pPr>
          </a:lstStyle>
          <a:p>
            <a:pPr/>
            <a:r>
              <a:t>/speckit.plan</a:t>
            </a:r>
          </a:p>
        </p:txBody>
      </p:sp>
      <p:sp>
        <p:nvSpPr>
          <p:cNvPr id="342"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43" name="TextBox 10"/>
          <p:cNvSpPr txBox="1"/>
          <p:nvPr/>
        </p:nvSpPr>
        <p:spPr>
          <a:xfrm>
            <a:off x="6126479" y="3400423"/>
            <a:ext cx="5440696" cy="5143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plan 結果</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344"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pic>
        <p:nvPicPr>
          <p:cNvPr id="345" name="ペーストされたムービー.png" descr="ペーストされたムービー.png"/>
          <p:cNvPicPr>
            <a:picLocks noChangeAspect="1"/>
          </p:cNvPicPr>
          <p:nvPr/>
        </p:nvPicPr>
        <p:blipFill>
          <a:blip r:embed="rId2">
            <a:extLst/>
          </a:blip>
          <a:stretch>
            <a:fillRect/>
          </a:stretch>
        </p:blipFill>
        <p:spPr>
          <a:xfrm>
            <a:off x="6110108" y="1931111"/>
            <a:ext cx="5497613" cy="3458056"/>
          </a:xfrm>
          <a:prstGeom prst="rect">
            <a:avLst/>
          </a:prstGeom>
          <a:ln w="12700">
            <a:miter lim="400000"/>
          </a:ln>
        </p:spPr>
      </p:pic>
      <p:sp>
        <p:nvSpPr>
          <p:cNvPr id="346" name="四角形"/>
          <p:cNvSpPr/>
          <p:nvPr/>
        </p:nvSpPr>
        <p:spPr>
          <a:xfrm>
            <a:off x="6398683" y="4008120"/>
            <a:ext cx="1007724" cy="1143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p>
        </p:txBody>
      </p:sp>
      <p:sp>
        <p:nvSpPr>
          <p:cNvPr id="347"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9"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50"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353" name="Rounded Rectangle 3"/>
          <p:cNvGrpSpPr/>
          <p:nvPr/>
        </p:nvGrpSpPr>
        <p:grpSpPr>
          <a:xfrm>
            <a:off x="457182" y="256017"/>
            <a:ext cx="1554512" cy="548669"/>
            <a:chOff x="-1" y="0"/>
            <a:chExt cx="1554510" cy="548668"/>
          </a:xfrm>
        </p:grpSpPr>
        <p:sp>
          <p:nvSpPr>
            <p:cNvPr id="351" name="角丸四角形"/>
            <p:cNvSpPr/>
            <p:nvPr/>
          </p:nvSpPr>
          <p:spPr>
            <a:xfrm>
              <a:off x="-2" y="-1"/>
              <a:ext cx="1554512" cy="548669"/>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352" name="A-3"/>
            <p:cNvSpPr txBox="1"/>
            <p:nvPr/>
          </p:nvSpPr>
          <p:spPr>
            <a:xfrm>
              <a:off x="26782" y="153675"/>
              <a:ext cx="1500940"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A-3</a:t>
              </a:r>
            </a:p>
          </p:txBody>
        </p:sp>
      </p:grpSp>
      <p:sp>
        <p:nvSpPr>
          <p:cNvPr id="354" name="TextBox 4"/>
          <p:cNvSpPr txBox="1"/>
          <p:nvPr/>
        </p:nvSpPr>
        <p:spPr>
          <a:xfrm>
            <a:off x="2240279" y="352551"/>
            <a:ext cx="950976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/speckit.tasks（必須）</a:t>
            </a:r>
          </a:p>
        </p:txBody>
      </p:sp>
      <p:sp>
        <p:nvSpPr>
          <p:cNvPr id="355" name="TextBox 5"/>
          <p:cNvSpPr txBox="1"/>
          <p:nvPr/>
        </p:nvSpPr>
        <p:spPr>
          <a:xfrm>
            <a:off x="502911" y="1417319"/>
            <a:ext cx="5120659" cy="1642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作業を実行タスクに分解。implement の前提なので軽量でも省略不可。</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作られるファイル：</a:t>
            </a:r>
          </a:p>
          <a:p>
            <a:pPr>
              <a:spcBef>
                <a:spcPts val="200"/>
              </a:spcBef>
              <a:defRPr sz="1700">
                <a:solidFill>
                  <a:srgbClr val="222633"/>
                </a:solidFill>
                <a:latin typeface="Meiryo"/>
                <a:ea typeface="Meiryo"/>
                <a:cs typeface="Meiryo"/>
                <a:sym typeface="Meiryo"/>
              </a:defRPr>
            </a:pPr>
            <a:r>
              <a:t>・tasks.md（specs/NNN-…/tasks.md）</a:t>
            </a:r>
          </a:p>
        </p:txBody>
      </p:sp>
      <p:sp>
        <p:nvSpPr>
          <p:cNvPr id="356" name="Rounded Rectangle 6"/>
          <p:cNvSpPr/>
          <p:nvPr/>
        </p:nvSpPr>
        <p:spPr>
          <a:xfrm>
            <a:off x="502919" y="32461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57" name="TextBox 7"/>
          <p:cNvSpPr txBox="1"/>
          <p:nvPr/>
        </p:nvSpPr>
        <p:spPr>
          <a:xfrm>
            <a:off x="685791" y="3337559"/>
            <a:ext cx="484633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358" name="TextBox 8"/>
          <p:cNvSpPr txBox="1"/>
          <p:nvPr/>
        </p:nvSpPr>
        <p:spPr>
          <a:xfrm>
            <a:off x="685800" y="3703320"/>
            <a:ext cx="48006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FFFFFF"/>
                </a:solidFill>
                <a:latin typeface="Consolas"/>
                <a:ea typeface="Consolas"/>
                <a:cs typeface="Consolas"/>
                <a:sym typeface="Consolas"/>
              </a:defRPr>
            </a:lvl1pPr>
          </a:lstStyle>
          <a:p>
            <a:pPr/>
            <a:r>
              <a:t>/speckit.tasks</a:t>
            </a:r>
          </a:p>
        </p:txBody>
      </p:sp>
      <p:sp>
        <p:nvSpPr>
          <p:cNvPr id="359"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60" name="TextBox 10"/>
          <p:cNvSpPr txBox="1"/>
          <p:nvPr/>
        </p:nvSpPr>
        <p:spPr>
          <a:xfrm>
            <a:off x="6126479" y="3400423"/>
            <a:ext cx="5440691" cy="5143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tasks.md が生成される</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361"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pic>
        <p:nvPicPr>
          <p:cNvPr id="362" name="ペーストされたムービー.png" descr="ペーストされたムービー.png"/>
          <p:cNvPicPr>
            <a:picLocks noChangeAspect="1"/>
          </p:cNvPicPr>
          <p:nvPr/>
        </p:nvPicPr>
        <p:blipFill>
          <a:blip r:embed="rId2">
            <a:extLst/>
          </a:blip>
          <a:stretch>
            <a:fillRect/>
          </a:stretch>
        </p:blipFill>
        <p:spPr>
          <a:xfrm>
            <a:off x="6101079" y="1885519"/>
            <a:ext cx="5513371" cy="3467962"/>
          </a:xfrm>
          <a:prstGeom prst="rect">
            <a:avLst/>
          </a:prstGeom>
          <a:ln w="12700">
            <a:miter lim="400000"/>
          </a:ln>
        </p:spPr>
      </p:pic>
      <p:sp>
        <p:nvSpPr>
          <p:cNvPr id="363" name="四角形"/>
          <p:cNvSpPr/>
          <p:nvPr/>
        </p:nvSpPr>
        <p:spPr>
          <a:xfrm>
            <a:off x="6398683" y="4300220"/>
            <a:ext cx="1007724" cy="1143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p>
        </p:txBody>
      </p:sp>
      <p:sp>
        <p:nvSpPr>
          <p:cNvPr id="364"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6" name="Rectangle 1"/>
          <p:cNvSpPr/>
          <p:nvPr/>
        </p:nvSpPr>
        <p:spPr>
          <a:xfrm>
            <a:off x="1569831" y="-8891"/>
            <a:ext cx="12191701" cy="6858001"/>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67"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370" name="Rounded Rectangle 3"/>
          <p:cNvGrpSpPr/>
          <p:nvPr/>
        </p:nvGrpSpPr>
        <p:grpSpPr>
          <a:xfrm>
            <a:off x="457167" y="256006"/>
            <a:ext cx="1554537" cy="548687"/>
            <a:chOff x="0" y="-1"/>
            <a:chExt cx="1554536" cy="548685"/>
          </a:xfrm>
        </p:grpSpPr>
        <p:sp>
          <p:nvSpPr>
            <p:cNvPr id="368"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369" name="A-3"/>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A-4</a:t>
              </a:r>
            </a:p>
          </p:txBody>
        </p:sp>
      </p:grpSp>
      <p:sp>
        <p:nvSpPr>
          <p:cNvPr id="371"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/speckit.implement → ビルド</a:t>
            </a:r>
          </a:p>
        </p:txBody>
      </p:sp>
      <p:sp>
        <p:nvSpPr>
          <p:cNvPr id="372" name="TextBox 5"/>
          <p:cNvSpPr txBox="1"/>
          <p:nvPr/>
        </p:nvSpPr>
        <p:spPr>
          <a:xfrm>
            <a:off x="502904" y="1417319"/>
            <a:ext cx="5120673" cy="16678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実装させ、ビルドがエラーなく通るか確認します。</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変更されるファイル：</a:t>
            </a:r>
          </a:p>
          <a:p>
            <a:pPr>
              <a:spcBef>
                <a:spcPts val="200"/>
              </a:spcBef>
              <a:defRPr sz="1700">
                <a:solidFill>
                  <a:srgbClr val="222633"/>
                </a:solidFill>
                <a:latin typeface="Meiryo"/>
                <a:ea typeface="Meiryo"/>
                <a:cs typeface="Meiryo"/>
                <a:sym typeface="Meiryo"/>
              </a:defRPr>
            </a:pPr>
            <a:r>
              <a:t>・対象 FSH（例 JP_Organization.fsh）</a:t>
            </a:r>
          </a:p>
          <a:p>
            <a:pPr>
              <a:spcBef>
                <a:spcPts val="200"/>
              </a:spcBef>
              <a:defRPr sz="1700">
                <a:solidFill>
                  <a:srgbClr val="222633"/>
                </a:solidFill>
                <a:latin typeface="Meiryo"/>
                <a:ea typeface="Meiryo"/>
                <a:cs typeface="Meiryo"/>
                <a:sym typeface="Meiryo"/>
              </a:defRPr>
            </a:pPr>
            <a:r>
              <a:t>・sushi build で fsh-generated/ を再生成</a:t>
            </a:r>
          </a:p>
        </p:txBody>
      </p:sp>
      <p:sp>
        <p:nvSpPr>
          <p:cNvPr id="373" name="Rounded Rectangle 6"/>
          <p:cNvSpPr/>
          <p:nvPr/>
        </p:nvSpPr>
        <p:spPr>
          <a:xfrm>
            <a:off x="426719" y="32715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74" name="TextBox 7"/>
          <p:cNvSpPr txBox="1"/>
          <p:nvPr/>
        </p:nvSpPr>
        <p:spPr>
          <a:xfrm>
            <a:off x="609585" y="3362959"/>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 / ターミナル</a:t>
            </a:r>
          </a:p>
        </p:txBody>
      </p:sp>
      <p:sp>
        <p:nvSpPr>
          <p:cNvPr id="375" name="TextBox 8"/>
          <p:cNvSpPr txBox="1"/>
          <p:nvPr/>
        </p:nvSpPr>
        <p:spPr>
          <a:xfrm>
            <a:off x="609600" y="3728720"/>
            <a:ext cx="4800600"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/speckit.implement</a:t>
            </a:r>
          </a:p>
          <a:p>
            <a:pPr>
              <a:spcBef>
                <a:spcPts val="200"/>
              </a:spcBef>
              <a:defRPr sz="1300">
                <a:solidFill>
                  <a:srgbClr val="FFFFFF"/>
                </a:solidFill>
                <a:latin typeface="Consolas"/>
                <a:ea typeface="Consolas"/>
                <a:cs typeface="Consolas"/>
                <a:sym typeface="Consolas"/>
              </a:defRPr>
            </a:pPr>
            <a:r>
              <a:t>sushi build</a:t>
            </a:r>
          </a:p>
        </p:txBody>
      </p:sp>
      <p:sp>
        <p:nvSpPr>
          <p:cNvPr id="376"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77" name="TextBox 10"/>
          <p:cNvSpPr txBox="1"/>
          <p:nvPr/>
        </p:nvSpPr>
        <p:spPr>
          <a:xfrm>
            <a:off x="6126479" y="3416298"/>
            <a:ext cx="544069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実装とビルド</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378"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pic>
        <p:nvPicPr>
          <p:cNvPr id="379" name="ペーストされたムービー.png" descr="ペーストされたムービー.png"/>
          <p:cNvPicPr>
            <a:picLocks noChangeAspect="1"/>
          </p:cNvPicPr>
          <p:nvPr/>
        </p:nvPicPr>
        <p:blipFill>
          <a:blip r:embed="rId2">
            <a:extLst/>
          </a:blip>
          <a:stretch>
            <a:fillRect/>
          </a:stretch>
        </p:blipFill>
        <p:spPr>
          <a:xfrm>
            <a:off x="6123894" y="1921991"/>
            <a:ext cx="5445851" cy="3425496"/>
          </a:xfrm>
          <a:prstGeom prst="rect">
            <a:avLst/>
          </a:prstGeom>
          <a:ln w="12700">
            <a:miter lim="400000"/>
          </a:ln>
        </p:spPr>
      </p:pic>
      <p:sp>
        <p:nvSpPr>
          <p:cNvPr id="380" name="四角形"/>
          <p:cNvSpPr/>
          <p:nvPr/>
        </p:nvSpPr>
        <p:spPr>
          <a:xfrm>
            <a:off x="6317403" y="2928620"/>
            <a:ext cx="1140798" cy="457207"/>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p>
        </p:txBody>
      </p:sp>
      <p:pic>
        <p:nvPicPr>
          <p:cNvPr id="381" name="ペーストされたムービー.png" descr="ペーストされたムービー.png"/>
          <p:cNvPicPr>
            <a:picLocks noChangeAspect="1"/>
          </p:cNvPicPr>
          <p:nvPr/>
        </p:nvPicPr>
        <p:blipFill>
          <a:blip r:embed="rId3">
            <a:extLst/>
          </a:blip>
          <a:stretch>
            <a:fillRect/>
          </a:stretch>
        </p:blipFill>
        <p:spPr>
          <a:xfrm>
            <a:off x="6317269" y="3525510"/>
            <a:ext cx="1141067" cy="548664"/>
          </a:xfrm>
          <a:prstGeom prst="rect">
            <a:avLst/>
          </a:prstGeom>
          <a:ln w="12700">
            <a:miter lim="400000"/>
          </a:ln>
        </p:spPr>
      </p:pic>
      <p:sp>
        <p:nvSpPr>
          <p:cNvPr id="382" name="四角形"/>
          <p:cNvSpPr/>
          <p:nvPr/>
        </p:nvSpPr>
        <p:spPr>
          <a:xfrm>
            <a:off x="6317403" y="3492498"/>
            <a:ext cx="1140798" cy="61469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p>
        </p:txBody>
      </p:sp>
      <p:sp>
        <p:nvSpPr>
          <p:cNvPr id="383"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5"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86"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389" name="Rounded Rectangle 3"/>
          <p:cNvGrpSpPr/>
          <p:nvPr/>
        </p:nvGrpSpPr>
        <p:grpSpPr>
          <a:xfrm>
            <a:off x="457167" y="256006"/>
            <a:ext cx="1554537" cy="548687"/>
            <a:chOff x="0" y="-1"/>
            <a:chExt cx="1554536" cy="548685"/>
          </a:xfrm>
        </p:grpSpPr>
        <p:sp>
          <p:nvSpPr>
            <p:cNvPr id="387"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388" name="A-4"/>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A-5</a:t>
              </a:r>
            </a:p>
          </p:txBody>
        </p:sp>
      </p:grpSp>
      <p:sp>
        <p:nvSpPr>
          <p:cNvPr id="390"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/speckit.checklist</a:t>
            </a:r>
          </a:p>
        </p:txBody>
      </p:sp>
      <p:sp>
        <p:nvSpPr>
          <p:cNvPr id="391" name="TextBox 5"/>
          <p:cNvSpPr txBox="1"/>
          <p:nvPr/>
        </p:nvSpPr>
        <p:spPr>
          <a:xfrm>
            <a:off x="502904" y="1417319"/>
            <a:ext cx="5120673" cy="2004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要件反映・FSH記法・破壊的変更の有無を確認します。</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作られるファイル：</a:t>
            </a:r>
          </a:p>
          <a:p>
            <a:pPr>
              <a:spcBef>
                <a:spcPts val="200"/>
              </a:spcBef>
              <a:defRPr sz="1700">
                <a:solidFill>
                  <a:srgbClr val="222633"/>
                </a:solidFill>
                <a:latin typeface="Meiryo"/>
                <a:ea typeface="Meiryo"/>
                <a:cs typeface="Meiryo"/>
                <a:sym typeface="Meiryo"/>
              </a:defRPr>
            </a:pPr>
            <a:r>
              <a:t>・specs/NNN-…/checklists/ 配下の品質チェックリスト（.md）</a:t>
            </a:r>
          </a:p>
        </p:txBody>
      </p:sp>
      <p:sp>
        <p:nvSpPr>
          <p:cNvPr id="392" name="Rounded Rectangle 6"/>
          <p:cNvSpPr/>
          <p:nvPr/>
        </p:nvSpPr>
        <p:spPr>
          <a:xfrm>
            <a:off x="325119" y="3614420"/>
            <a:ext cx="5120643" cy="1736179"/>
          </a:xfrm>
          <a:prstGeom prst="roundRect">
            <a:avLst>
              <a:gd name="adj" fmla="val 22823"/>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93" name="TextBox 8"/>
          <p:cNvSpPr txBox="1"/>
          <p:nvPr/>
        </p:nvSpPr>
        <p:spPr>
          <a:xfrm>
            <a:off x="485138" y="4105447"/>
            <a:ext cx="4800606"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FFFFFF"/>
                </a:solidFill>
                <a:latin typeface="Consolas"/>
                <a:ea typeface="Consolas"/>
                <a:cs typeface="Consolas"/>
                <a:sym typeface="Consolas"/>
              </a:defRPr>
            </a:lvl1pPr>
          </a:lstStyle>
          <a:p>
            <a:pPr/>
            <a:r>
              <a:t>/speckit.checklist</a:t>
            </a:r>
          </a:p>
        </p:txBody>
      </p:sp>
      <p:sp>
        <p:nvSpPr>
          <p:cNvPr id="394"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95" name="TextBox 10"/>
          <p:cNvSpPr txBox="1"/>
          <p:nvPr/>
        </p:nvSpPr>
        <p:spPr>
          <a:xfrm>
            <a:off x="6126479" y="3416298"/>
            <a:ext cx="544069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チェック結果</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396"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397" name="確認したら「人間がレビュー → コミット / PR」へ"/>
          <p:cNvSpPr txBox="1"/>
          <p:nvPr/>
        </p:nvSpPr>
        <p:spPr>
          <a:xfrm>
            <a:off x="456123" y="5838766"/>
            <a:ext cx="5214234" cy="34175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1700"/>
            </a:lvl1pPr>
          </a:lstStyle>
          <a:p>
            <a:pPr/>
            <a:r>
              <a:t>確認したら「人間がレビュー → コミット / PR」へ</a:t>
            </a:r>
          </a:p>
        </p:txBody>
      </p:sp>
      <p:sp>
        <p:nvSpPr>
          <p:cNvPr id="398" name="▌Claude Code / ターミナル"/>
          <p:cNvSpPr txBox="1"/>
          <p:nvPr/>
        </p:nvSpPr>
        <p:spPr>
          <a:xfrm>
            <a:off x="463636" y="3762037"/>
            <a:ext cx="1905612" cy="2565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spcBef>
                <a:spcPts val="200"/>
              </a:spcBef>
              <a:defRPr b="1" sz="1100">
                <a:solidFill>
                  <a:srgbClr val="CADCFC"/>
                </a:solidFill>
                <a:latin typeface="Meiryo"/>
                <a:ea typeface="Meiryo"/>
                <a:cs typeface="Meiryo"/>
                <a:sym typeface="Meiryo"/>
              </a:defRPr>
            </a:lvl1pPr>
          </a:lstStyle>
          <a:p>
            <a:pPr/>
            <a:r>
              <a:t>▌Claude Code / ターミナル</a:t>
            </a:r>
          </a:p>
        </p:txBody>
      </p:sp>
      <p:pic>
        <p:nvPicPr>
          <p:cNvPr id="399" name="ペーストされたムービー.png" descr="ペーストされたムービー.png"/>
          <p:cNvPicPr>
            <a:picLocks noChangeAspect="1"/>
          </p:cNvPicPr>
          <p:nvPr/>
        </p:nvPicPr>
        <p:blipFill>
          <a:blip r:embed="rId2">
            <a:extLst/>
          </a:blip>
          <a:stretch>
            <a:fillRect/>
          </a:stretch>
        </p:blipFill>
        <p:spPr>
          <a:xfrm>
            <a:off x="6088376" y="1872849"/>
            <a:ext cx="5440689" cy="3523782"/>
          </a:xfrm>
          <a:prstGeom prst="rect">
            <a:avLst/>
          </a:prstGeom>
          <a:ln w="12700">
            <a:miter lim="400000"/>
          </a:ln>
        </p:spPr>
      </p:pic>
      <p:sp>
        <p:nvSpPr>
          <p:cNvPr id="400" name="四角形"/>
          <p:cNvSpPr/>
          <p:nvPr/>
        </p:nvSpPr>
        <p:spPr>
          <a:xfrm>
            <a:off x="6276761" y="3762037"/>
            <a:ext cx="1140799" cy="231143"/>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p>
        </p:txBody>
      </p:sp>
      <p:sp>
        <p:nvSpPr>
          <p:cNvPr id="401"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3" name="Rectangle 1"/>
          <p:cNvSpPr/>
          <p:nvPr/>
        </p:nvSpPr>
        <p:spPr>
          <a:xfrm>
            <a:off x="-1" y="0"/>
            <a:ext cx="12191697" cy="6858000"/>
          </a:xfrm>
          <a:prstGeom prst="rect">
            <a:avLst/>
          </a:prstGeom>
          <a:solidFill>
            <a:srgbClr val="F2F4F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04" name="Rectangle 2"/>
          <p:cNvSpPr/>
          <p:nvPr/>
        </p:nvSpPr>
        <p:spPr>
          <a:xfrm>
            <a:off x="-1" y="2194559"/>
            <a:ext cx="12191697" cy="2468893"/>
          </a:xfrm>
          <a:prstGeom prst="rect">
            <a:avLst/>
          </a:prstGeom>
          <a:solidFill>
            <a:srgbClr val="B85042"/>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05" name="TextBox 3"/>
          <p:cNvSpPr txBox="1"/>
          <p:nvPr/>
        </p:nvSpPr>
        <p:spPr>
          <a:xfrm>
            <a:off x="914399" y="2468877"/>
            <a:ext cx="10332723"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a:solidFill>
                  <a:srgbClr val="FFFFFF"/>
                </a:solidFill>
                <a:latin typeface="Meiryo"/>
                <a:ea typeface="Meiryo"/>
                <a:cs typeface="Meiryo"/>
                <a:sym typeface="Meiryo"/>
              </a:defRPr>
            </a:lvl1pPr>
          </a:lstStyle>
          <a:p>
            <a:pPr/>
            <a:r>
              <a:t>ケース B（フルパス）</a:t>
            </a:r>
          </a:p>
        </p:txBody>
      </p:sp>
      <p:sp>
        <p:nvSpPr>
          <p:cNvPr id="406" name="TextBox 4"/>
          <p:cNvSpPr txBox="1"/>
          <p:nvPr/>
        </p:nvSpPr>
        <p:spPr>
          <a:xfrm>
            <a:off x="914399" y="3108960"/>
            <a:ext cx="10332723" cy="1092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3200">
                <a:solidFill>
                  <a:srgbClr val="FFFFFF"/>
                </a:solidFill>
                <a:latin typeface="Meiryo"/>
                <a:ea typeface="Meiryo"/>
                <a:cs typeface="Meiryo"/>
                <a:sym typeface="Meiryo"/>
              </a:defRPr>
            </a:lvl1pPr>
          </a:lstStyle>
          <a:p>
            <a:pPr/>
            <a:r>
              <a:t>構造・cardinality など仕様変更（例 #954 / #938 / 破壊的注意）</a:t>
            </a:r>
          </a:p>
        </p:txBody>
      </p:sp>
      <p:sp>
        <p:nvSpPr>
          <p:cNvPr id="407" name="TextBox 5"/>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408"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0"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11"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414" name="Rounded Rectangle 3"/>
          <p:cNvGrpSpPr/>
          <p:nvPr/>
        </p:nvGrpSpPr>
        <p:grpSpPr>
          <a:xfrm>
            <a:off x="457167" y="256006"/>
            <a:ext cx="1554537" cy="548687"/>
            <a:chOff x="0" y="-1"/>
            <a:chExt cx="1554536" cy="548685"/>
          </a:xfrm>
        </p:grpSpPr>
        <p:sp>
          <p:nvSpPr>
            <p:cNvPr id="412"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413" name="B-1"/>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B-1</a:t>
              </a:r>
            </a:p>
          </p:txBody>
        </p:sp>
      </p:grpSp>
      <p:sp>
        <p:nvSpPr>
          <p:cNvPr id="415"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/speckit.specify</a:t>
            </a:r>
          </a:p>
        </p:txBody>
      </p:sp>
      <p:sp>
        <p:nvSpPr>
          <p:cNvPr id="416" name="TextBox 5"/>
          <p:cNvSpPr txBox="1"/>
          <p:nvPr/>
        </p:nvSpPr>
        <p:spPr>
          <a:xfrm>
            <a:off x="502904" y="1417318"/>
            <a:ext cx="5120673" cy="2423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『何を・なぜ』を記述。技術的な『どうやって』は plan 以降に回します。</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作られるもの：</a:t>
            </a:r>
          </a:p>
          <a:p>
            <a:pPr>
              <a:spcBef>
                <a:spcPts val="200"/>
              </a:spcBef>
              <a:defRPr sz="1700">
                <a:solidFill>
                  <a:srgbClr val="222633"/>
                </a:solidFill>
                <a:latin typeface="Meiryo"/>
                <a:ea typeface="Meiryo"/>
                <a:cs typeface="Meiryo"/>
                <a:sym typeface="Meiryo"/>
              </a:defRPr>
            </a:pPr>
            <a:r>
              <a:t>・作業ブランチ：specify が自動命名（連番 NNN-…）</a:t>
            </a:r>
          </a:p>
          <a:p>
            <a:pPr>
              <a:spcBef>
                <a:spcPts val="200"/>
              </a:spcBef>
              <a:defRPr sz="1700">
                <a:solidFill>
                  <a:srgbClr val="222633"/>
                </a:solidFill>
                <a:latin typeface="Meiryo"/>
                <a:ea typeface="Meiryo"/>
                <a:cs typeface="Meiryo"/>
                <a:sym typeface="Meiryo"/>
              </a:defRPr>
            </a:pPr>
            <a:r>
              <a:t>・仕様書 spec.md（specs/NNN-…/spec.md）</a:t>
            </a:r>
          </a:p>
        </p:txBody>
      </p:sp>
      <p:sp>
        <p:nvSpPr>
          <p:cNvPr id="417" name="Rounded Rectangle 6"/>
          <p:cNvSpPr/>
          <p:nvPr/>
        </p:nvSpPr>
        <p:spPr>
          <a:xfrm>
            <a:off x="502919" y="4020820"/>
            <a:ext cx="5120643" cy="1795147"/>
          </a:xfrm>
          <a:prstGeom prst="roundRect">
            <a:avLst>
              <a:gd name="adj" fmla="val 22073"/>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18" name="TextBox 7"/>
          <p:cNvSpPr txBox="1"/>
          <p:nvPr/>
        </p:nvSpPr>
        <p:spPr>
          <a:xfrm>
            <a:off x="685785" y="4112259"/>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419" name="TextBox 8"/>
          <p:cNvSpPr txBox="1"/>
          <p:nvPr/>
        </p:nvSpPr>
        <p:spPr>
          <a:xfrm>
            <a:off x="685800" y="4478020"/>
            <a:ext cx="4800600"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/speckit.specify</a:t>
            </a:r>
          </a:p>
          <a:p>
            <a:pPr>
              <a:spcBef>
                <a:spcPts val="200"/>
              </a:spcBef>
              <a:defRPr sz="1300">
                <a:solidFill>
                  <a:srgbClr val="FFFFFF"/>
                </a:solidFill>
                <a:latin typeface="Consolas"/>
                <a:ea typeface="Consolas"/>
                <a:cs typeface="Consolas"/>
                <a:sym typeface="Consolas"/>
              </a:defRPr>
            </a:pPr>
            <a:r>
              <a:t>Issue #954: Extension の cardinality を見直す</a:t>
            </a:r>
          </a:p>
        </p:txBody>
      </p:sp>
      <p:sp>
        <p:nvSpPr>
          <p:cNvPr id="420"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21" name="TextBox 10"/>
          <p:cNvSpPr txBox="1"/>
          <p:nvPr/>
        </p:nvSpPr>
        <p:spPr>
          <a:xfrm>
            <a:off x="6126479" y="3400423"/>
            <a:ext cx="5440696" cy="5143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specify 実行</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422"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423"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24" name="ペーストされたムービー.png" descr="ペーストされたムービー.png"/>
          <p:cNvPicPr>
            <a:picLocks noChangeAspect="1"/>
          </p:cNvPicPr>
          <p:nvPr/>
        </p:nvPicPr>
        <p:blipFill>
          <a:blip r:embed="rId2">
            <a:extLst/>
          </a:blip>
          <a:stretch>
            <a:fillRect/>
          </a:stretch>
        </p:blipFill>
        <p:spPr>
          <a:xfrm>
            <a:off x="6147208" y="1885044"/>
            <a:ext cx="5450026" cy="3529830"/>
          </a:xfrm>
          <a:prstGeom prst="rect">
            <a:avLst/>
          </a:prstGeom>
          <a:ln w="12700">
            <a:miter lim="400000"/>
          </a:ln>
        </p:spPr>
      </p:pic>
      <p:sp>
        <p:nvSpPr>
          <p:cNvPr id="425" name="四角形"/>
          <p:cNvSpPr/>
          <p:nvPr/>
        </p:nvSpPr>
        <p:spPr>
          <a:xfrm>
            <a:off x="6417335" y="4415792"/>
            <a:ext cx="1014466" cy="1397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28"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431" name="Rounded Rectangle 3"/>
          <p:cNvGrpSpPr/>
          <p:nvPr/>
        </p:nvGrpSpPr>
        <p:grpSpPr>
          <a:xfrm>
            <a:off x="457167" y="256006"/>
            <a:ext cx="1554537" cy="548687"/>
            <a:chOff x="0" y="-1"/>
            <a:chExt cx="1554536" cy="548685"/>
          </a:xfrm>
        </p:grpSpPr>
        <p:sp>
          <p:nvSpPr>
            <p:cNvPr id="429"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430" name="B-2"/>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B-2</a:t>
              </a:r>
            </a:p>
          </p:txBody>
        </p:sp>
      </p:grpSp>
      <p:sp>
        <p:nvSpPr>
          <p:cNvPr id="432"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/speckit.clarify</a:t>
            </a:r>
          </a:p>
        </p:txBody>
      </p:sp>
      <p:sp>
        <p:nvSpPr>
          <p:cNvPr id="433" name="TextBox 5"/>
          <p:cNvSpPr txBox="1"/>
          <p:nvPr/>
        </p:nvSpPr>
        <p:spPr>
          <a:xfrm>
            <a:off x="502904" y="1417319"/>
            <a:ext cx="5120673" cy="1642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Claude Code の質問に答え、曖昧点を解消します（任意項目の必須化など）。</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反映先：</a:t>
            </a:r>
          </a:p>
          <a:p>
            <a:pPr>
              <a:spcBef>
                <a:spcPts val="200"/>
              </a:spcBef>
              <a:defRPr sz="1700">
                <a:solidFill>
                  <a:srgbClr val="222633"/>
                </a:solidFill>
                <a:latin typeface="Meiryo"/>
                <a:ea typeface="Meiryo"/>
                <a:cs typeface="Meiryo"/>
                <a:sym typeface="Meiryo"/>
              </a:defRPr>
            </a:pPr>
            <a:r>
              <a:t>・spec.md に回答内容を反映（新規ファイルなし）</a:t>
            </a:r>
          </a:p>
        </p:txBody>
      </p:sp>
      <p:sp>
        <p:nvSpPr>
          <p:cNvPr id="434" name="Rounded Rectangle 6"/>
          <p:cNvSpPr/>
          <p:nvPr/>
        </p:nvSpPr>
        <p:spPr>
          <a:xfrm>
            <a:off x="502919" y="32461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35" name="TextBox 7"/>
          <p:cNvSpPr txBox="1"/>
          <p:nvPr/>
        </p:nvSpPr>
        <p:spPr>
          <a:xfrm>
            <a:off x="685785" y="3337559"/>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436" name="TextBox 8"/>
          <p:cNvSpPr txBox="1"/>
          <p:nvPr/>
        </p:nvSpPr>
        <p:spPr>
          <a:xfrm>
            <a:off x="685800" y="3703320"/>
            <a:ext cx="48006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FFFFFF"/>
                </a:solidFill>
                <a:latin typeface="Consolas"/>
                <a:ea typeface="Consolas"/>
                <a:cs typeface="Consolas"/>
                <a:sym typeface="Consolas"/>
              </a:defRPr>
            </a:lvl1pPr>
          </a:lstStyle>
          <a:p>
            <a:pPr/>
            <a:r>
              <a:t>/speckit.clarify</a:t>
            </a:r>
          </a:p>
        </p:txBody>
      </p:sp>
      <p:sp>
        <p:nvSpPr>
          <p:cNvPr id="437"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38" name="TextBox 10"/>
          <p:cNvSpPr txBox="1"/>
          <p:nvPr/>
        </p:nvSpPr>
        <p:spPr>
          <a:xfrm>
            <a:off x="6126479" y="3400423"/>
            <a:ext cx="5440696" cy="5143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clarify の質問</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439"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440"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41" name="ペーストされたムービー.png" descr="ペーストされたムービー.png"/>
          <p:cNvPicPr>
            <a:picLocks noChangeAspect="1"/>
          </p:cNvPicPr>
          <p:nvPr/>
        </p:nvPicPr>
        <p:blipFill>
          <a:blip r:embed="rId2">
            <a:extLst/>
          </a:blip>
          <a:stretch>
            <a:fillRect/>
          </a:stretch>
        </p:blipFill>
        <p:spPr>
          <a:xfrm>
            <a:off x="6145988" y="1889374"/>
            <a:ext cx="5401665" cy="3498513"/>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44"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447" name="Rounded Rectangle 3"/>
          <p:cNvGrpSpPr/>
          <p:nvPr/>
        </p:nvGrpSpPr>
        <p:grpSpPr>
          <a:xfrm>
            <a:off x="457167" y="256006"/>
            <a:ext cx="1554537" cy="548687"/>
            <a:chOff x="0" y="-1"/>
            <a:chExt cx="1554536" cy="548685"/>
          </a:xfrm>
        </p:grpSpPr>
        <p:sp>
          <p:nvSpPr>
            <p:cNvPr id="445"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446" name="B-3"/>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B-3</a:t>
              </a:r>
            </a:p>
          </p:txBody>
        </p:sp>
      </p:grpSp>
      <p:sp>
        <p:nvSpPr>
          <p:cNvPr id="448"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plan → tasks → analyze</a:t>
            </a:r>
          </a:p>
        </p:txBody>
      </p:sp>
      <p:sp>
        <p:nvSpPr>
          <p:cNvPr id="449" name="TextBox 5"/>
          <p:cNvSpPr txBox="1"/>
          <p:nvPr/>
        </p:nvSpPr>
        <p:spPr>
          <a:xfrm>
            <a:off x="502904" y="1417319"/>
            <a:ext cx="5120673" cy="1682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計画 → タスク分解 → 整合性検証。破壊的変更（例 ..* → ..1）は影響範囲を明記します。</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作られるファイル：</a:t>
            </a:r>
          </a:p>
          <a:p>
            <a:pPr>
              <a:spcBef>
                <a:spcPts val="200"/>
              </a:spcBef>
              <a:defRPr sz="1700">
                <a:solidFill>
                  <a:srgbClr val="222633"/>
                </a:solidFill>
                <a:latin typeface="Meiryo"/>
                <a:ea typeface="Meiryo"/>
                <a:cs typeface="Meiryo"/>
                <a:sym typeface="Meiryo"/>
              </a:defRPr>
            </a:pPr>
            <a:r>
              <a:t>・plan.md ／ tasks.md（analyze は検証のみ）</a:t>
            </a:r>
          </a:p>
        </p:txBody>
      </p:sp>
      <p:sp>
        <p:nvSpPr>
          <p:cNvPr id="450" name="Rounded Rectangle 6"/>
          <p:cNvSpPr/>
          <p:nvPr/>
        </p:nvSpPr>
        <p:spPr>
          <a:xfrm>
            <a:off x="502919" y="32461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51" name="TextBox 7"/>
          <p:cNvSpPr txBox="1"/>
          <p:nvPr/>
        </p:nvSpPr>
        <p:spPr>
          <a:xfrm>
            <a:off x="685785" y="3337559"/>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452" name="TextBox 8"/>
          <p:cNvSpPr txBox="1"/>
          <p:nvPr/>
        </p:nvSpPr>
        <p:spPr>
          <a:xfrm>
            <a:off x="685800" y="3703320"/>
            <a:ext cx="4800600"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/speckit.plan</a:t>
            </a:r>
          </a:p>
          <a:p>
            <a:pPr>
              <a:spcBef>
                <a:spcPts val="200"/>
              </a:spcBef>
              <a:defRPr sz="1300">
                <a:solidFill>
                  <a:srgbClr val="FFFFFF"/>
                </a:solidFill>
                <a:latin typeface="Consolas"/>
                <a:ea typeface="Consolas"/>
                <a:cs typeface="Consolas"/>
                <a:sym typeface="Consolas"/>
              </a:defRPr>
            </a:pPr>
            <a:r>
              <a:t>/speckit.tasks</a:t>
            </a:r>
          </a:p>
          <a:p>
            <a:pPr>
              <a:spcBef>
                <a:spcPts val="200"/>
              </a:spcBef>
              <a:defRPr sz="1300">
                <a:solidFill>
                  <a:srgbClr val="FFFFFF"/>
                </a:solidFill>
                <a:latin typeface="Consolas"/>
                <a:ea typeface="Consolas"/>
                <a:cs typeface="Consolas"/>
                <a:sym typeface="Consolas"/>
              </a:defRPr>
            </a:pPr>
            <a:r>
              <a:t>/speckit.analyze</a:t>
            </a:r>
          </a:p>
        </p:txBody>
      </p:sp>
      <p:sp>
        <p:nvSpPr>
          <p:cNvPr id="453"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54" name="TextBox 10"/>
          <p:cNvSpPr txBox="1"/>
          <p:nvPr/>
        </p:nvSpPr>
        <p:spPr>
          <a:xfrm>
            <a:off x="6126479" y="3400423"/>
            <a:ext cx="5440696" cy="5143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analyze 結果</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455"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456"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57" name="ペーストされたムービー.png" descr="ペーストされたムービー.png"/>
          <p:cNvPicPr>
            <a:picLocks noChangeAspect="1"/>
          </p:cNvPicPr>
          <p:nvPr/>
        </p:nvPicPr>
        <p:blipFill>
          <a:blip r:embed="rId2">
            <a:extLst/>
          </a:blip>
          <a:stretch>
            <a:fillRect/>
          </a:stretch>
        </p:blipFill>
        <p:spPr>
          <a:xfrm>
            <a:off x="6126472" y="1815443"/>
            <a:ext cx="5440696" cy="3523787"/>
          </a:xfrm>
          <a:prstGeom prst="rect">
            <a:avLst/>
          </a:prstGeom>
          <a:ln w="12700">
            <a:miter lim="400000"/>
          </a:ln>
        </p:spPr>
      </p:pic>
      <p:sp>
        <p:nvSpPr>
          <p:cNvPr id="458" name="四角形"/>
          <p:cNvSpPr/>
          <p:nvPr/>
        </p:nvSpPr>
        <p:spPr>
          <a:xfrm>
            <a:off x="6400798" y="4358640"/>
            <a:ext cx="994078" cy="1143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
        <p:nvSpPr>
          <p:cNvPr id="459" name="四角形"/>
          <p:cNvSpPr/>
          <p:nvPr/>
        </p:nvSpPr>
        <p:spPr>
          <a:xfrm>
            <a:off x="6400798" y="4682490"/>
            <a:ext cx="994078" cy="1143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1"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62"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465" name="Rounded Rectangle 3"/>
          <p:cNvGrpSpPr/>
          <p:nvPr/>
        </p:nvGrpSpPr>
        <p:grpSpPr>
          <a:xfrm>
            <a:off x="457167" y="256006"/>
            <a:ext cx="1554537" cy="548687"/>
            <a:chOff x="0" y="-1"/>
            <a:chExt cx="1554536" cy="548685"/>
          </a:xfrm>
        </p:grpSpPr>
        <p:sp>
          <p:nvSpPr>
            <p:cNvPr id="463"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464" name="B-4"/>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B-4</a:t>
              </a:r>
            </a:p>
          </p:txBody>
        </p:sp>
      </p:grpSp>
      <p:sp>
        <p:nvSpPr>
          <p:cNvPr id="466"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implement → build → checklist</a:t>
            </a:r>
          </a:p>
        </p:txBody>
      </p:sp>
      <p:sp>
        <p:nvSpPr>
          <p:cNvPr id="467" name="TextBox 5"/>
          <p:cNvSpPr txBox="1"/>
          <p:nvPr/>
        </p:nvSpPr>
        <p:spPr>
          <a:xfrm>
            <a:off x="502904" y="1417318"/>
            <a:ext cx="5120673" cy="237042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実装 → ビルド検証 → 品質チェックの順に進めます。</a:t>
            </a:r>
          </a:p>
          <a:p>
            <a:pPr>
              <a:spcBef>
                <a:spcPts val="200"/>
              </a:spcBef>
              <a:defRPr sz="1700">
                <a:solidFill>
                  <a:srgbClr val="222633"/>
                </a:solidFill>
                <a:latin typeface="Meiryo"/>
                <a:ea typeface="Meiryo"/>
                <a:cs typeface="Meiryo"/>
                <a:sym typeface="Meiryo"/>
              </a:defRPr>
            </a:pPr>
            <a:br/>
            <a:r>
              <a:t>→ 変更／作られるファイル：</a:t>
            </a:r>
          </a:p>
          <a:p>
            <a:pPr>
              <a:spcBef>
                <a:spcPts val="200"/>
              </a:spcBef>
              <a:defRPr sz="1700">
                <a:solidFill>
                  <a:srgbClr val="222633"/>
                </a:solidFill>
                <a:latin typeface="Meiryo"/>
                <a:ea typeface="Meiryo"/>
                <a:cs typeface="Meiryo"/>
                <a:sym typeface="Meiryo"/>
              </a:defRPr>
            </a:pPr>
            <a:r>
              <a:t>・対象 FSH＋fsh-generated/ 再生成</a:t>
            </a:r>
          </a:p>
          <a:p>
            <a:pPr>
              <a:spcBef>
                <a:spcPts val="200"/>
              </a:spcBef>
              <a:defRPr sz="1700">
                <a:solidFill>
                  <a:srgbClr val="222633"/>
                </a:solidFill>
                <a:latin typeface="Meiryo"/>
                <a:ea typeface="Meiryo"/>
                <a:cs typeface="Meiryo"/>
                <a:sym typeface="Meiryo"/>
              </a:defRPr>
            </a:pPr>
            <a:r>
              <a:t>・ specs/NNN-…/checklists/ 配下の品質チェックリスト（.md）</a:t>
            </a:r>
          </a:p>
        </p:txBody>
      </p:sp>
      <p:sp>
        <p:nvSpPr>
          <p:cNvPr id="468" name="Rounded Rectangle 6"/>
          <p:cNvSpPr/>
          <p:nvPr/>
        </p:nvSpPr>
        <p:spPr>
          <a:xfrm>
            <a:off x="375919" y="3909231"/>
            <a:ext cx="5120643" cy="1799851"/>
          </a:xfrm>
          <a:prstGeom prst="roundRect">
            <a:avLst>
              <a:gd name="adj" fmla="val 22016"/>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69" name="TextBox 7"/>
          <p:cNvSpPr txBox="1"/>
          <p:nvPr/>
        </p:nvSpPr>
        <p:spPr>
          <a:xfrm>
            <a:off x="558785" y="4000670"/>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470" name="TextBox 8"/>
          <p:cNvSpPr txBox="1"/>
          <p:nvPr/>
        </p:nvSpPr>
        <p:spPr>
          <a:xfrm>
            <a:off x="558800" y="4366431"/>
            <a:ext cx="4800600"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/speckit.implement</a:t>
            </a:r>
          </a:p>
          <a:p>
            <a:pPr>
              <a:spcBef>
                <a:spcPts val="200"/>
              </a:spcBef>
              <a:defRPr sz="1300">
                <a:solidFill>
                  <a:srgbClr val="FFFFFF"/>
                </a:solidFill>
                <a:latin typeface="Consolas"/>
                <a:ea typeface="Consolas"/>
                <a:cs typeface="Consolas"/>
                <a:sym typeface="Consolas"/>
              </a:defRPr>
            </a:pPr>
            <a:r>
              <a:t>sushi build</a:t>
            </a:r>
          </a:p>
          <a:p>
            <a:pPr>
              <a:spcBef>
                <a:spcPts val="200"/>
              </a:spcBef>
              <a:defRPr sz="1300">
                <a:solidFill>
                  <a:srgbClr val="FFFFFF"/>
                </a:solidFill>
                <a:latin typeface="Consolas"/>
                <a:ea typeface="Consolas"/>
                <a:cs typeface="Consolas"/>
                <a:sym typeface="Consolas"/>
              </a:defRPr>
            </a:pPr>
            <a:r>
              <a:t>/speckit.checklist</a:t>
            </a:r>
          </a:p>
        </p:txBody>
      </p:sp>
      <p:sp>
        <p:nvSpPr>
          <p:cNvPr id="471"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72" name="TextBox 10"/>
          <p:cNvSpPr txBox="1"/>
          <p:nvPr/>
        </p:nvSpPr>
        <p:spPr>
          <a:xfrm>
            <a:off x="6126479" y="3416298"/>
            <a:ext cx="544069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実装〜チェック</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473"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474" name="スライド番号"/>
          <p:cNvSpPr txBox="1"/>
          <p:nvPr>
            <p:ph type="sldNum" sz="quarter" idx="4294967295"/>
          </p:nvPr>
        </p:nvSpPr>
        <p:spPr>
          <a:xfrm>
            <a:off x="116031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75" name="ペーストされたムービー.png" descr="ペーストされたムービー.png"/>
          <p:cNvPicPr>
            <a:picLocks noChangeAspect="1"/>
          </p:cNvPicPr>
          <p:nvPr/>
        </p:nvPicPr>
        <p:blipFill>
          <a:blip r:embed="rId2">
            <a:extLst/>
          </a:blip>
          <a:stretch>
            <a:fillRect/>
          </a:stretch>
        </p:blipFill>
        <p:spPr>
          <a:xfrm>
            <a:off x="6142528" y="1919078"/>
            <a:ext cx="5368519" cy="3477041"/>
          </a:xfrm>
          <a:prstGeom prst="rect">
            <a:avLst/>
          </a:prstGeom>
          <a:ln w="12700">
            <a:miter lim="400000"/>
          </a:ln>
        </p:spPr>
      </p:pic>
      <p:pic>
        <p:nvPicPr>
          <p:cNvPr id="476" name="ペーストされたムービー.png" descr="ペーストされたムービー.png"/>
          <p:cNvPicPr>
            <a:picLocks noChangeAspect="1"/>
          </p:cNvPicPr>
          <p:nvPr/>
        </p:nvPicPr>
        <p:blipFill>
          <a:blip r:embed="rId3">
            <a:extLst/>
          </a:blip>
          <a:stretch>
            <a:fillRect/>
          </a:stretch>
        </p:blipFill>
        <p:spPr>
          <a:xfrm>
            <a:off x="7149947" y="3890181"/>
            <a:ext cx="1028199" cy="1051567"/>
          </a:xfrm>
          <a:prstGeom prst="rect">
            <a:avLst/>
          </a:prstGeom>
          <a:ln w="12700">
            <a:miter lim="400000"/>
          </a:ln>
        </p:spPr>
      </p:pic>
      <p:sp>
        <p:nvSpPr>
          <p:cNvPr id="477" name="四角形"/>
          <p:cNvSpPr/>
          <p:nvPr/>
        </p:nvSpPr>
        <p:spPr>
          <a:xfrm>
            <a:off x="6353966" y="3298823"/>
            <a:ext cx="770910" cy="717553"/>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
        <p:nvSpPr>
          <p:cNvPr id="478" name="四角形"/>
          <p:cNvSpPr/>
          <p:nvPr/>
        </p:nvSpPr>
        <p:spPr>
          <a:xfrm>
            <a:off x="7160417" y="3864147"/>
            <a:ext cx="1007253" cy="1103635"/>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
        <p:nvSpPr>
          <p:cNvPr id="479" name="確認したら「人間がレビュー → コミット / PR」へ"/>
          <p:cNvSpPr txBox="1"/>
          <p:nvPr/>
        </p:nvSpPr>
        <p:spPr>
          <a:xfrm>
            <a:off x="456123" y="5838766"/>
            <a:ext cx="5214234" cy="34175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1700"/>
            </a:lvl1pPr>
          </a:lstStyle>
          <a:p>
            <a:pPr/>
            <a:r>
              <a:t>確認したら「人間がレビュー → コミット / PR」へ</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1" name="Rectangle 1"/>
          <p:cNvSpPr/>
          <p:nvPr/>
        </p:nvSpPr>
        <p:spPr>
          <a:xfrm>
            <a:off x="-1" y="0"/>
            <a:ext cx="12191697" cy="6858000"/>
          </a:xfrm>
          <a:prstGeom prst="rect">
            <a:avLst/>
          </a:prstGeom>
          <a:solidFill>
            <a:srgbClr val="F2F4F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82" name="Rectangle 2"/>
          <p:cNvSpPr/>
          <p:nvPr/>
        </p:nvSpPr>
        <p:spPr>
          <a:xfrm>
            <a:off x="-1" y="2194559"/>
            <a:ext cx="12191697" cy="2468893"/>
          </a:xfrm>
          <a:prstGeom prst="rect">
            <a:avLst/>
          </a:prstGeom>
          <a:solidFill>
            <a:srgbClr val="B85042"/>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83" name="TextBox 3"/>
          <p:cNvSpPr txBox="1"/>
          <p:nvPr/>
        </p:nvSpPr>
        <p:spPr>
          <a:xfrm>
            <a:off x="914399" y="2468877"/>
            <a:ext cx="10332723"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a:solidFill>
                  <a:srgbClr val="FFFFFF"/>
                </a:solidFill>
                <a:latin typeface="Meiryo"/>
                <a:ea typeface="Meiryo"/>
                <a:cs typeface="Meiryo"/>
                <a:sym typeface="Meiryo"/>
              </a:defRPr>
            </a:lvl1pPr>
          </a:lstStyle>
          <a:p>
            <a:pPr/>
            <a:r>
              <a:t>ケース C（フルパス＋PM判断）</a:t>
            </a:r>
          </a:p>
        </p:txBody>
      </p:sp>
      <p:sp>
        <p:nvSpPr>
          <p:cNvPr id="484" name="TextBox 4"/>
          <p:cNvSpPr txBox="1"/>
          <p:nvPr/>
        </p:nvSpPr>
        <p:spPr>
          <a:xfrm>
            <a:off x="914399" y="3108960"/>
            <a:ext cx="1033272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3200">
                <a:solidFill>
                  <a:srgbClr val="FFFFFF"/>
                </a:solidFill>
                <a:latin typeface="Meiryo"/>
                <a:ea typeface="Meiryo"/>
                <a:cs typeface="Meiryo"/>
                <a:sym typeface="Meiryo"/>
              </a:defRPr>
            </a:lvl1pPr>
          </a:lstStyle>
          <a:p>
            <a:pPr/>
            <a:r>
              <a:t>保険制度などの設計（#947 / #948 / #981 / #982）</a:t>
            </a:r>
          </a:p>
        </p:txBody>
      </p:sp>
      <p:sp>
        <p:nvSpPr>
          <p:cNvPr id="485" name="TextBox 5"/>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486"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8"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89"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492" name="Rounded Rectangle 3"/>
          <p:cNvGrpSpPr/>
          <p:nvPr/>
        </p:nvGrpSpPr>
        <p:grpSpPr>
          <a:xfrm>
            <a:off x="457167" y="256006"/>
            <a:ext cx="1554537" cy="548687"/>
            <a:chOff x="0" y="-1"/>
            <a:chExt cx="1554536" cy="548685"/>
          </a:xfrm>
        </p:grpSpPr>
        <p:sp>
          <p:nvSpPr>
            <p:cNvPr id="490"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491" name="C-1"/>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C-1</a:t>
              </a:r>
            </a:p>
          </p:txBody>
        </p:sp>
      </p:grpSp>
      <p:sp>
        <p:nvSpPr>
          <p:cNvPr id="493"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/speckit.specify（背景を明記）</a:t>
            </a:r>
          </a:p>
        </p:txBody>
      </p:sp>
      <p:sp>
        <p:nvSpPr>
          <p:cNvPr id="494" name="TextBox 5"/>
          <p:cNvSpPr txBox="1"/>
          <p:nvPr/>
        </p:nvSpPr>
        <p:spPr>
          <a:xfrm>
            <a:off x="502904" y="1417318"/>
            <a:ext cx="5120673" cy="23917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制度の背景・対象範囲を記述。関連 Issue との整合も触れます。</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作られるもの：</a:t>
            </a:r>
          </a:p>
          <a:p>
            <a:pPr>
              <a:spcBef>
                <a:spcPts val="200"/>
              </a:spcBef>
              <a:defRPr sz="1700">
                <a:solidFill>
                  <a:srgbClr val="222633"/>
                </a:solidFill>
                <a:latin typeface="Meiryo"/>
                <a:ea typeface="Meiryo"/>
                <a:cs typeface="Meiryo"/>
                <a:sym typeface="Meiryo"/>
              </a:defRPr>
            </a:pPr>
            <a:r>
              <a:t>・作業ブランチ：specify が自動命名（連番 NNN-…）</a:t>
            </a:r>
          </a:p>
          <a:p>
            <a:pPr>
              <a:spcBef>
                <a:spcPts val="200"/>
              </a:spcBef>
              <a:defRPr sz="1700">
                <a:solidFill>
                  <a:srgbClr val="222633"/>
                </a:solidFill>
                <a:latin typeface="Meiryo"/>
                <a:ea typeface="Meiryo"/>
                <a:cs typeface="Meiryo"/>
                <a:sym typeface="Meiryo"/>
              </a:defRPr>
            </a:pPr>
            <a:r>
              <a:t>・仕様書 spec.md（specs/NNN-…/spec.md）</a:t>
            </a:r>
          </a:p>
        </p:txBody>
      </p:sp>
      <p:sp>
        <p:nvSpPr>
          <p:cNvPr id="495" name="Rounded Rectangle 6"/>
          <p:cNvSpPr/>
          <p:nvPr/>
        </p:nvSpPr>
        <p:spPr>
          <a:xfrm>
            <a:off x="337819" y="3939051"/>
            <a:ext cx="5120643" cy="1847919"/>
          </a:xfrm>
          <a:prstGeom prst="roundRect">
            <a:avLst>
              <a:gd name="adj" fmla="val 21443"/>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96" name="TextBox 7"/>
          <p:cNvSpPr txBox="1"/>
          <p:nvPr/>
        </p:nvSpPr>
        <p:spPr>
          <a:xfrm>
            <a:off x="520685" y="4030490"/>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497" name="TextBox 8"/>
          <p:cNvSpPr txBox="1"/>
          <p:nvPr/>
        </p:nvSpPr>
        <p:spPr>
          <a:xfrm>
            <a:off x="520700" y="4396251"/>
            <a:ext cx="4800600"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/speckit.specify</a:t>
            </a:r>
          </a:p>
          <a:p>
            <a:pPr>
              <a:spcBef>
                <a:spcPts val="200"/>
              </a:spcBef>
              <a:defRPr sz="1300">
                <a:solidFill>
                  <a:srgbClr val="FFFFFF"/>
                </a:solidFill>
                <a:latin typeface="Consolas"/>
                <a:ea typeface="Consolas"/>
                <a:cs typeface="Consolas"/>
                <a:sym typeface="Consolas"/>
              </a:defRPr>
            </a:pPr>
            <a:r>
              <a:t>Issue #947: マイナ保険証/オンライン資格確認への対応</a:t>
            </a:r>
          </a:p>
        </p:txBody>
      </p:sp>
      <p:sp>
        <p:nvSpPr>
          <p:cNvPr id="498"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99" name="TextBox 10"/>
          <p:cNvSpPr txBox="1"/>
          <p:nvPr/>
        </p:nvSpPr>
        <p:spPr>
          <a:xfrm>
            <a:off x="6126479" y="3400423"/>
            <a:ext cx="5440696" cy="5143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specify 実行</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500"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501"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02" name="ペーストされたムービー.png" descr="ペーストされたムービー.png"/>
          <p:cNvPicPr>
            <a:picLocks noChangeAspect="1"/>
          </p:cNvPicPr>
          <p:nvPr/>
        </p:nvPicPr>
        <p:blipFill>
          <a:blip r:embed="rId2">
            <a:extLst/>
          </a:blip>
          <a:stretch>
            <a:fillRect/>
          </a:stretch>
        </p:blipFill>
        <p:spPr>
          <a:xfrm>
            <a:off x="6148959" y="1906783"/>
            <a:ext cx="5378858" cy="3481317"/>
          </a:xfrm>
          <a:prstGeom prst="rect">
            <a:avLst/>
          </a:prstGeom>
          <a:ln w="12700">
            <a:miter lim="400000"/>
          </a:ln>
        </p:spPr>
      </p:pic>
      <p:sp>
        <p:nvSpPr>
          <p:cNvPr id="503" name="四角形"/>
          <p:cNvSpPr/>
          <p:nvPr/>
        </p:nvSpPr>
        <p:spPr>
          <a:xfrm>
            <a:off x="6408868" y="3761249"/>
            <a:ext cx="1014466" cy="1397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5"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06"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509" name="Rounded Rectangle 3"/>
          <p:cNvGrpSpPr/>
          <p:nvPr/>
        </p:nvGrpSpPr>
        <p:grpSpPr>
          <a:xfrm>
            <a:off x="457167" y="256006"/>
            <a:ext cx="1554537" cy="548687"/>
            <a:chOff x="0" y="-1"/>
            <a:chExt cx="1554536" cy="548685"/>
          </a:xfrm>
        </p:grpSpPr>
        <p:sp>
          <p:nvSpPr>
            <p:cNvPr id="507"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508" name="C-2"/>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C-2</a:t>
              </a:r>
            </a:p>
          </p:txBody>
        </p:sp>
      </p:grpSp>
      <p:sp>
        <p:nvSpPr>
          <p:cNvPr id="510"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/speckit.clarify ← PM が回答</a:t>
            </a:r>
          </a:p>
        </p:txBody>
      </p:sp>
      <p:sp>
        <p:nvSpPr>
          <p:cNvPr id="511" name="TextBox 5"/>
          <p:cNvSpPr txBox="1"/>
          <p:nvPr/>
        </p:nvSpPr>
        <p:spPr>
          <a:xfrm>
            <a:off x="502904" y="1417319"/>
            <a:ext cx="5120673" cy="2004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『どの制度区分を含めるか』等はPMが回答します。AIに丸投げしないのがポイント。</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反映先：</a:t>
            </a:r>
          </a:p>
          <a:p>
            <a:pPr>
              <a:spcBef>
                <a:spcPts val="200"/>
              </a:spcBef>
              <a:defRPr sz="1700">
                <a:solidFill>
                  <a:srgbClr val="222633"/>
                </a:solidFill>
                <a:latin typeface="Meiryo"/>
                <a:ea typeface="Meiryo"/>
                <a:cs typeface="Meiryo"/>
                <a:sym typeface="Meiryo"/>
              </a:defRPr>
            </a:pPr>
            <a:r>
              <a:t>・spec.md に PM の回答を反映（新規ファイルなし）</a:t>
            </a:r>
          </a:p>
        </p:txBody>
      </p:sp>
      <p:sp>
        <p:nvSpPr>
          <p:cNvPr id="512" name="Rounded Rectangle 6"/>
          <p:cNvSpPr/>
          <p:nvPr/>
        </p:nvSpPr>
        <p:spPr>
          <a:xfrm>
            <a:off x="502919" y="3589020"/>
            <a:ext cx="5120643" cy="2213764"/>
          </a:xfrm>
          <a:prstGeom prst="roundRect">
            <a:avLst>
              <a:gd name="adj" fmla="val 17899"/>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13" name="TextBox 7"/>
          <p:cNvSpPr txBox="1"/>
          <p:nvPr/>
        </p:nvSpPr>
        <p:spPr>
          <a:xfrm>
            <a:off x="685786" y="3680459"/>
            <a:ext cx="484635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514" name="TextBox 8"/>
          <p:cNvSpPr txBox="1"/>
          <p:nvPr/>
        </p:nvSpPr>
        <p:spPr>
          <a:xfrm>
            <a:off x="685800" y="4046220"/>
            <a:ext cx="4800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1300">
                <a:solidFill>
                  <a:srgbClr val="FFFFFF"/>
                </a:solidFill>
                <a:latin typeface="Consolas"/>
                <a:ea typeface="Consolas"/>
                <a:cs typeface="Consolas"/>
                <a:sym typeface="Consolas"/>
              </a:defRPr>
            </a:lvl1pPr>
          </a:lstStyle>
          <a:p>
            <a:pPr/>
            <a:r>
              <a:t>/speckit.clarify</a:t>
            </a:r>
          </a:p>
        </p:txBody>
      </p:sp>
      <p:sp>
        <p:nvSpPr>
          <p:cNvPr id="515"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16" name="TextBox 10"/>
          <p:cNvSpPr txBox="1"/>
          <p:nvPr/>
        </p:nvSpPr>
        <p:spPr>
          <a:xfrm>
            <a:off x="6126479" y="3400423"/>
            <a:ext cx="5440696" cy="5143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clarify に PM が回答</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517"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518"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19" name="ペーストされたムービー.png" descr="ペーストされたムービー.png"/>
          <p:cNvPicPr>
            <a:picLocks noChangeAspect="1"/>
          </p:cNvPicPr>
          <p:nvPr/>
        </p:nvPicPr>
        <p:blipFill>
          <a:blip r:embed="rId2">
            <a:extLst/>
          </a:blip>
          <a:stretch>
            <a:fillRect/>
          </a:stretch>
        </p:blipFill>
        <p:spPr>
          <a:xfrm>
            <a:off x="6138495" y="1891608"/>
            <a:ext cx="5444579" cy="3523855"/>
          </a:xfrm>
          <a:prstGeom prst="rect">
            <a:avLst/>
          </a:prstGeom>
          <a:ln w="12700">
            <a:miter lim="400000"/>
          </a:ln>
        </p:spPr>
      </p:pic>
      <p:sp>
        <p:nvSpPr>
          <p:cNvPr id="520" name="四角形"/>
          <p:cNvSpPr/>
          <p:nvPr/>
        </p:nvSpPr>
        <p:spPr>
          <a:xfrm>
            <a:off x="6408868" y="3761249"/>
            <a:ext cx="1014466" cy="1397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2"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23"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526" name="Rounded Rectangle 3"/>
          <p:cNvGrpSpPr/>
          <p:nvPr/>
        </p:nvGrpSpPr>
        <p:grpSpPr>
          <a:xfrm>
            <a:off x="457167" y="256006"/>
            <a:ext cx="1554537" cy="548687"/>
            <a:chOff x="0" y="-1"/>
            <a:chExt cx="1554536" cy="548685"/>
          </a:xfrm>
        </p:grpSpPr>
        <p:sp>
          <p:nvSpPr>
            <p:cNvPr id="524"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525" name="C-3"/>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C-3</a:t>
              </a:r>
            </a:p>
          </p:txBody>
        </p:sp>
      </p:grpSp>
      <p:sp>
        <p:nvSpPr>
          <p:cNvPr id="527"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plan → tasks → analyze</a:t>
            </a:r>
          </a:p>
        </p:txBody>
      </p:sp>
      <p:sp>
        <p:nvSpPr>
          <p:cNvPr id="528" name="TextBox 5"/>
          <p:cNvSpPr txBox="1"/>
          <p:nvPr/>
        </p:nvSpPr>
        <p:spPr>
          <a:xfrm>
            <a:off x="502904" y="1417319"/>
            <a:ext cx="5120673" cy="12804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明確になった仕様をもとに計画・分解・検証します。</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作られるファイル：</a:t>
            </a:r>
          </a:p>
          <a:p>
            <a:pPr>
              <a:spcBef>
                <a:spcPts val="200"/>
              </a:spcBef>
              <a:defRPr sz="1700">
                <a:solidFill>
                  <a:srgbClr val="222633"/>
                </a:solidFill>
                <a:latin typeface="Meiryo"/>
                <a:ea typeface="Meiryo"/>
                <a:cs typeface="Meiryo"/>
                <a:sym typeface="Meiryo"/>
              </a:defRPr>
            </a:pPr>
            <a:r>
              <a:t>・plan.md ／ tasks.md（analyze は検証のみ）</a:t>
            </a:r>
          </a:p>
        </p:txBody>
      </p:sp>
      <p:sp>
        <p:nvSpPr>
          <p:cNvPr id="529" name="Rounded Rectangle 6"/>
          <p:cNvSpPr/>
          <p:nvPr/>
        </p:nvSpPr>
        <p:spPr>
          <a:xfrm>
            <a:off x="502919" y="32461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30" name="TextBox 7"/>
          <p:cNvSpPr txBox="1"/>
          <p:nvPr/>
        </p:nvSpPr>
        <p:spPr>
          <a:xfrm>
            <a:off x="685785" y="3337559"/>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531" name="TextBox 8"/>
          <p:cNvSpPr txBox="1"/>
          <p:nvPr/>
        </p:nvSpPr>
        <p:spPr>
          <a:xfrm>
            <a:off x="685800" y="3703320"/>
            <a:ext cx="4800600"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/speckit.plan</a:t>
            </a:r>
          </a:p>
          <a:p>
            <a:pPr>
              <a:spcBef>
                <a:spcPts val="200"/>
              </a:spcBef>
              <a:defRPr sz="1300">
                <a:solidFill>
                  <a:srgbClr val="FFFFFF"/>
                </a:solidFill>
                <a:latin typeface="Consolas"/>
                <a:ea typeface="Consolas"/>
                <a:cs typeface="Consolas"/>
                <a:sym typeface="Consolas"/>
              </a:defRPr>
            </a:pPr>
            <a:r>
              <a:t>/speckit.tasks</a:t>
            </a:r>
          </a:p>
          <a:p>
            <a:pPr>
              <a:spcBef>
                <a:spcPts val="200"/>
              </a:spcBef>
              <a:defRPr sz="1300">
                <a:solidFill>
                  <a:srgbClr val="FFFFFF"/>
                </a:solidFill>
                <a:latin typeface="Consolas"/>
                <a:ea typeface="Consolas"/>
                <a:cs typeface="Consolas"/>
                <a:sym typeface="Consolas"/>
              </a:defRPr>
            </a:pPr>
            <a:r>
              <a:t>/speckit.analyze</a:t>
            </a:r>
          </a:p>
        </p:txBody>
      </p:sp>
      <p:sp>
        <p:nvSpPr>
          <p:cNvPr id="532"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33" name="TextBox 10"/>
          <p:cNvSpPr txBox="1"/>
          <p:nvPr/>
        </p:nvSpPr>
        <p:spPr>
          <a:xfrm>
            <a:off x="6126479" y="3416298"/>
            <a:ext cx="544069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計画と検証</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534"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535"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36" name="ペーストされたムービー.png" descr="ペーストされたムービー.png"/>
          <p:cNvPicPr>
            <a:picLocks noChangeAspect="1"/>
          </p:cNvPicPr>
          <p:nvPr/>
        </p:nvPicPr>
        <p:blipFill>
          <a:blip r:embed="rId2">
            <a:extLst/>
          </a:blip>
          <a:stretch>
            <a:fillRect/>
          </a:stretch>
        </p:blipFill>
        <p:spPr>
          <a:xfrm>
            <a:off x="6131695" y="1837848"/>
            <a:ext cx="5453732" cy="3529778"/>
          </a:xfrm>
          <a:prstGeom prst="rect">
            <a:avLst/>
          </a:prstGeom>
          <a:ln w="12700">
            <a:miter lim="400000"/>
          </a:ln>
        </p:spPr>
      </p:pic>
      <p:sp>
        <p:nvSpPr>
          <p:cNvPr id="537" name="四角形"/>
          <p:cNvSpPr/>
          <p:nvPr/>
        </p:nvSpPr>
        <p:spPr>
          <a:xfrm>
            <a:off x="6396168" y="3875549"/>
            <a:ext cx="1014466" cy="1397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
        <p:nvSpPr>
          <p:cNvPr id="538" name="四角形"/>
          <p:cNvSpPr/>
          <p:nvPr/>
        </p:nvSpPr>
        <p:spPr>
          <a:xfrm>
            <a:off x="6396168" y="4214216"/>
            <a:ext cx="1014466" cy="1397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0"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41"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544" name="Rounded Rectangle 3"/>
          <p:cNvGrpSpPr/>
          <p:nvPr/>
        </p:nvGrpSpPr>
        <p:grpSpPr>
          <a:xfrm>
            <a:off x="457167" y="256006"/>
            <a:ext cx="1554537" cy="548687"/>
            <a:chOff x="0" y="-1"/>
            <a:chExt cx="1554536" cy="548685"/>
          </a:xfrm>
        </p:grpSpPr>
        <p:sp>
          <p:nvSpPr>
            <p:cNvPr id="542"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543" name="C-4"/>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C-4</a:t>
              </a:r>
            </a:p>
          </p:txBody>
        </p:sp>
      </p:grpSp>
      <p:sp>
        <p:nvSpPr>
          <p:cNvPr id="545"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implement → build → checklist</a:t>
            </a:r>
          </a:p>
        </p:txBody>
      </p:sp>
      <p:sp>
        <p:nvSpPr>
          <p:cNvPr id="546" name="TextBox 5"/>
          <p:cNvSpPr txBox="1"/>
          <p:nvPr/>
        </p:nvSpPr>
        <p:spPr>
          <a:xfrm>
            <a:off x="502904" y="1417319"/>
            <a:ext cx="5120673" cy="2029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700">
                <a:solidFill>
                  <a:srgbClr val="222633"/>
                </a:solidFill>
                <a:latin typeface="Meiryo"/>
                <a:ea typeface="Meiryo"/>
                <a:cs typeface="Meiryo"/>
                <a:sym typeface="Meiryo"/>
              </a:defRPr>
            </a:pPr>
            <a:r>
              <a:t>実装・ビルド検証・品質チェックを行います。</a:t>
            </a:r>
          </a:p>
          <a:p>
            <a:pPr>
              <a:spcBef>
                <a:spcPts val="200"/>
              </a:spcBef>
              <a:defRPr sz="1700">
                <a:solidFill>
                  <a:srgbClr val="222633"/>
                </a:solidFill>
                <a:latin typeface="Meiryo"/>
                <a:ea typeface="Meiryo"/>
                <a:cs typeface="Meiryo"/>
                <a:sym typeface="Meiryo"/>
              </a:defRPr>
            </a:pPr>
          </a:p>
          <a:p>
            <a:pPr>
              <a:spcBef>
                <a:spcPts val="200"/>
              </a:spcBef>
              <a:defRPr sz="1700">
                <a:solidFill>
                  <a:srgbClr val="222633"/>
                </a:solidFill>
                <a:latin typeface="Meiryo"/>
                <a:ea typeface="Meiryo"/>
                <a:cs typeface="Meiryo"/>
                <a:sym typeface="Meiryo"/>
              </a:defRPr>
            </a:pPr>
            <a:r>
              <a:t>→ 変更／作られるファイル：</a:t>
            </a:r>
          </a:p>
          <a:p>
            <a:pPr>
              <a:spcBef>
                <a:spcPts val="200"/>
              </a:spcBef>
              <a:defRPr sz="1700">
                <a:solidFill>
                  <a:srgbClr val="222633"/>
                </a:solidFill>
                <a:latin typeface="Meiryo"/>
                <a:ea typeface="Meiryo"/>
                <a:cs typeface="Meiryo"/>
                <a:sym typeface="Meiryo"/>
              </a:defRPr>
            </a:pPr>
            <a:r>
              <a:t>・対象 FSH＋fsh-generated/ 再生成</a:t>
            </a:r>
          </a:p>
          <a:p>
            <a:pPr>
              <a:spcBef>
                <a:spcPts val="200"/>
              </a:spcBef>
              <a:defRPr sz="1700">
                <a:solidFill>
                  <a:srgbClr val="222633"/>
                </a:solidFill>
                <a:latin typeface="Meiryo"/>
                <a:ea typeface="Meiryo"/>
                <a:cs typeface="Meiryo"/>
                <a:sym typeface="Meiryo"/>
              </a:defRPr>
            </a:pPr>
            <a:r>
              <a:t>・ specs/NNN-…/checklists/ 配下の品質チェックリスト（.md）</a:t>
            </a:r>
          </a:p>
        </p:txBody>
      </p:sp>
      <p:sp>
        <p:nvSpPr>
          <p:cNvPr id="547" name="Rounded Rectangle 6"/>
          <p:cNvSpPr/>
          <p:nvPr/>
        </p:nvSpPr>
        <p:spPr>
          <a:xfrm>
            <a:off x="502919" y="3601720"/>
            <a:ext cx="5120643" cy="1892963"/>
          </a:xfrm>
          <a:prstGeom prst="roundRect">
            <a:avLst>
              <a:gd name="adj" fmla="val 20933"/>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48" name="TextBox 7"/>
          <p:cNvSpPr txBox="1"/>
          <p:nvPr/>
        </p:nvSpPr>
        <p:spPr>
          <a:xfrm>
            <a:off x="685785" y="3693159"/>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549" name="TextBox 8"/>
          <p:cNvSpPr txBox="1"/>
          <p:nvPr/>
        </p:nvSpPr>
        <p:spPr>
          <a:xfrm>
            <a:off x="685800" y="4058920"/>
            <a:ext cx="4800600"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/speckit.implement</a:t>
            </a:r>
          </a:p>
          <a:p>
            <a:pPr>
              <a:spcBef>
                <a:spcPts val="200"/>
              </a:spcBef>
              <a:defRPr sz="1300">
                <a:solidFill>
                  <a:srgbClr val="FFFFFF"/>
                </a:solidFill>
                <a:latin typeface="Consolas"/>
                <a:ea typeface="Consolas"/>
                <a:cs typeface="Consolas"/>
                <a:sym typeface="Consolas"/>
              </a:defRPr>
            </a:pPr>
            <a:r>
              <a:t>sushi build</a:t>
            </a:r>
          </a:p>
          <a:p>
            <a:pPr>
              <a:spcBef>
                <a:spcPts val="200"/>
              </a:spcBef>
              <a:defRPr sz="1300">
                <a:solidFill>
                  <a:srgbClr val="FFFFFF"/>
                </a:solidFill>
                <a:latin typeface="Consolas"/>
                <a:ea typeface="Consolas"/>
                <a:cs typeface="Consolas"/>
                <a:sym typeface="Consolas"/>
              </a:defRPr>
            </a:pPr>
            <a:r>
              <a:t>/speckit.checklist</a:t>
            </a:r>
          </a:p>
        </p:txBody>
      </p:sp>
      <p:sp>
        <p:nvSpPr>
          <p:cNvPr id="550"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51" name="TextBox 10"/>
          <p:cNvSpPr txBox="1"/>
          <p:nvPr/>
        </p:nvSpPr>
        <p:spPr>
          <a:xfrm>
            <a:off x="6126479" y="3416298"/>
            <a:ext cx="544069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実装〜チェック</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552"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553"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54" name="確認したら「人間がレビュー → コミット / PR」へ"/>
          <p:cNvSpPr txBox="1"/>
          <p:nvPr/>
        </p:nvSpPr>
        <p:spPr>
          <a:xfrm>
            <a:off x="811725" y="5711766"/>
            <a:ext cx="5214231" cy="34175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1700"/>
            </a:lvl1pPr>
          </a:lstStyle>
          <a:p>
            <a:pPr/>
            <a:r>
              <a:t>確認したら「人間がレビュー → コミット / PR」へ</a:t>
            </a:r>
          </a:p>
        </p:txBody>
      </p:sp>
      <p:pic>
        <p:nvPicPr>
          <p:cNvPr id="555" name="ペーストされたムービー.png" descr="ペーストされたムービー.png"/>
          <p:cNvPicPr>
            <a:picLocks noChangeAspect="1"/>
          </p:cNvPicPr>
          <p:nvPr/>
        </p:nvPicPr>
        <p:blipFill>
          <a:blip r:embed="rId2">
            <a:extLst/>
          </a:blip>
          <a:stretch>
            <a:fillRect/>
          </a:stretch>
        </p:blipFill>
        <p:spPr>
          <a:xfrm>
            <a:off x="6076153" y="1847323"/>
            <a:ext cx="5523350" cy="3574835"/>
          </a:xfrm>
          <a:prstGeom prst="rect">
            <a:avLst/>
          </a:prstGeom>
          <a:ln w="12700">
            <a:miter lim="400000"/>
          </a:ln>
        </p:spPr>
      </p:pic>
      <p:pic>
        <p:nvPicPr>
          <p:cNvPr id="556" name="ペーストされたムービー.png" descr="ペーストされたムービー.png"/>
          <p:cNvPicPr>
            <a:picLocks noChangeAspect="1"/>
          </p:cNvPicPr>
          <p:nvPr/>
        </p:nvPicPr>
        <p:blipFill>
          <a:blip r:embed="rId3">
            <a:extLst/>
          </a:blip>
          <a:stretch>
            <a:fillRect/>
          </a:stretch>
        </p:blipFill>
        <p:spPr>
          <a:xfrm>
            <a:off x="7269374" y="3751450"/>
            <a:ext cx="1256564" cy="1366788"/>
          </a:xfrm>
          <a:prstGeom prst="rect">
            <a:avLst/>
          </a:prstGeom>
          <a:ln w="12700">
            <a:miter lim="400000"/>
          </a:ln>
        </p:spPr>
      </p:pic>
      <p:sp>
        <p:nvSpPr>
          <p:cNvPr id="557" name="四角形"/>
          <p:cNvSpPr/>
          <p:nvPr/>
        </p:nvSpPr>
        <p:spPr>
          <a:xfrm>
            <a:off x="6337927" y="3748549"/>
            <a:ext cx="873491" cy="1397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
        <p:nvSpPr>
          <p:cNvPr id="558" name="四角形"/>
          <p:cNvSpPr/>
          <p:nvPr/>
        </p:nvSpPr>
        <p:spPr>
          <a:xfrm>
            <a:off x="7277727" y="3743449"/>
            <a:ext cx="1239863" cy="1357392"/>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0" name="Rectangle 1"/>
          <p:cNvSpPr/>
          <p:nvPr/>
        </p:nvSpPr>
        <p:spPr>
          <a:xfrm>
            <a:off x="-1" y="0"/>
            <a:ext cx="12191697" cy="6858000"/>
          </a:xfrm>
          <a:prstGeom prst="rect">
            <a:avLst/>
          </a:prstGeom>
          <a:solidFill>
            <a:srgbClr val="F2F4F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61" name="Rectangle 2"/>
          <p:cNvSpPr/>
          <p:nvPr/>
        </p:nvSpPr>
        <p:spPr>
          <a:xfrm>
            <a:off x="-1" y="2194559"/>
            <a:ext cx="12191697" cy="2468893"/>
          </a:xfrm>
          <a:prstGeom prst="rect">
            <a:avLst/>
          </a:prstGeom>
          <a:solidFill>
            <a:srgbClr val="B85042"/>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62" name="TextBox 3"/>
          <p:cNvSpPr txBox="1"/>
          <p:nvPr/>
        </p:nvSpPr>
        <p:spPr>
          <a:xfrm>
            <a:off x="914399" y="2468877"/>
            <a:ext cx="10332723"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a:solidFill>
                  <a:srgbClr val="FFFFFF"/>
                </a:solidFill>
                <a:latin typeface="Meiryo"/>
                <a:ea typeface="Meiryo"/>
                <a:cs typeface="Meiryo"/>
                <a:sym typeface="Meiryo"/>
              </a:defRPr>
            </a:lvl1pPr>
          </a:lstStyle>
          <a:p>
            <a:pPr/>
            <a:r>
              <a:t>ケース D</a:t>
            </a:r>
          </a:p>
        </p:txBody>
      </p:sp>
      <p:sp>
        <p:nvSpPr>
          <p:cNvPr id="563" name="TextBox 4"/>
          <p:cNvSpPr txBox="1"/>
          <p:nvPr/>
        </p:nvSpPr>
        <p:spPr>
          <a:xfrm>
            <a:off x="914399" y="3108960"/>
            <a:ext cx="1033272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3200">
                <a:solidFill>
                  <a:srgbClr val="FFFFFF"/>
                </a:solidFill>
                <a:latin typeface="Meiryo"/>
                <a:ea typeface="Meiryo"/>
                <a:cs typeface="Meiryo"/>
                <a:sym typeface="Meiryo"/>
              </a:defRPr>
            </a:lvl1pPr>
          </a:lstStyle>
          <a:p>
            <a:pPr/>
            <a:r>
              <a:t>記述の矛盾・食い違いの解消（#983 / #955）</a:t>
            </a:r>
          </a:p>
        </p:txBody>
      </p:sp>
      <p:sp>
        <p:nvSpPr>
          <p:cNvPr id="564" name="TextBox 5"/>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565"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7"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68"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571" name="Rounded Rectangle 3"/>
          <p:cNvGrpSpPr/>
          <p:nvPr/>
        </p:nvGrpSpPr>
        <p:grpSpPr>
          <a:xfrm>
            <a:off x="457167" y="256006"/>
            <a:ext cx="1554537" cy="548687"/>
            <a:chOff x="0" y="-1"/>
            <a:chExt cx="1554536" cy="548685"/>
          </a:xfrm>
        </p:grpSpPr>
        <p:sp>
          <p:nvSpPr>
            <p:cNvPr id="569"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570" name="D-1"/>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D-1</a:t>
              </a:r>
            </a:p>
          </p:txBody>
        </p:sp>
      </p:grpSp>
      <p:sp>
        <p:nvSpPr>
          <p:cNvPr id="572"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『正』を1つ決める</a:t>
            </a:r>
          </a:p>
        </p:txBody>
      </p:sp>
      <p:sp>
        <p:nvSpPr>
          <p:cNvPr id="573" name="TextBox 5"/>
          <p:cNvSpPr txBox="1"/>
          <p:nvPr/>
        </p:nvSpPr>
        <p:spPr>
          <a:xfrm>
            <a:off x="502904" y="1417318"/>
            <a:ext cx="5120673" cy="31527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222633"/>
                </a:solidFill>
                <a:latin typeface="Meiryo"/>
                <a:ea typeface="Meiryo"/>
                <a:cs typeface="Meiryo"/>
                <a:sym typeface="Meiryo"/>
              </a:defRPr>
            </a:pPr>
            <a:r>
              <a:t>例：Issue #983 — 点数表番号の説明が</a:t>
            </a:r>
            <a:endParaRPr sz="1700"/>
          </a:p>
          <a:p>
            <a:pPr>
              <a:spcBef>
                <a:spcPts val="200"/>
              </a:spcBef>
              <a:defRPr sz="1300">
                <a:solidFill>
                  <a:srgbClr val="222633"/>
                </a:solidFill>
                <a:latin typeface="Meiryo"/>
                <a:ea typeface="Meiryo"/>
                <a:cs typeface="Meiryo"/>
                <a:sym typeface="Meiryo"/>
              </a:defRPr>
            </a:pPr>
            <a:r>
              <a:t>notes / Profile / Extension の 3 箇所で食い違う。</a:t>
            </a:r>
            <a:endParaRPr>
              <a:latin typeface="+mn-lt"/>
              <a:ea typeface="+mn-ea"/>
              <a:cs typeface="+mn-cs"/>
              <a:sym typeface="Helvetica"/>
            </a:endParaRPr>
          </a:p>
          <a:p>
            <a:pPr>
              <a:spcBef>
                <a:spcPts val="200"/>
              </a:spcBef>
              <a:defRPr sz="1300">
                <a:solidFill>
                  <a:srgbClr val="222633"/>
                </a:solidFill>
                <a:latin typeface="Meiryo"/>
                <a:ea typeface="Meiryo"/>
                <a:cs typeface="Meiryo"/>
                <a:sym typeface="Meiryo"/>
              </a:defRPr>
            </a:pPr>
            <a:endParaRPr>
              <a:latin typeface="+mn-lt"/>
              <a:ea typeface="+mn-ea"/>
              <a:cs typeface="+mn-cs"/>
              <a:sym typeface="Helvetica"/>
            </a:endParaRPr>
          </a:p>
          <a:p>
            <a:pPr>
              <a:spcBef>
                <a:spcPts val="200"/>
              </a:spcBef>
              <a:defRPr sz="1300">
                <a:solidFill>
                  <a:srgbClr val="222633"/>
                </a:solidFill>
                <a:latin typeface="Meiryo"/>
                <a:ea typeface="Meiryo"/>
                <a:cs typeface="Meiryo"/>
                <a:sym typeface="Meiryo"/>
              </a:defRPr>
            </a:pPr>
            <a:r>
              <a:t>・notes.md:46 … 1/3/4/6 の 4 種</a:t>
            </a:r>
            <a:endParaRPr>
              <a:latin typeface="+mn-lt"/>
              <a:ea typeface="+mn-ea"/>
              <a:cs typeface="+mn-cs"/>
              <a:sym typeface="Helvetica"/>
            </a:endParaRPr>
          </a:p>
          <a:p>
            <a:pPr>
              <a:spcBef>
                <a:spcPts val="200"/>
              </a:spcBef>
              <a:defRPr sz="1300">
                <a:solidFill>
                  <a:srgbClr val="222633"/>
                </a:solidFill>
                <a:latin typeface="Meiryo"/>
                <a:ea typeface="Meiryo"/>
                <a:cs typeface="Meiryo"/>
                <a:sym typeface="Meiryo"/>
              </a:defRPr>
            </a:pPr>
            <a:r>
              <a:t>・JP_Organization.fsh:24 … +2 非保険検診 の 5 種</a:t>
            </a:r>
            <a:endParaRPr>
              <a:latin typeface="+mn-lt"/>
              <a:ea typeface="+mn-ea"/>
              <a:cs typeface="+mn-cs"/>
              <a:sym typeface="Helvetica"/>
            </a:endParaRPr>
          </a:p>
          <a:p>
            <a:pPr>
              <a:spcBef>
                <a:spcPts val="200"/>
              </a:spcBef>
              <a:defRPr sz="1300">
                <a:solidFill>
                  <a:srgbClr val="222633"/>
                </a:solidFill>
                <a:latin typeface="Meiryo"/>
                <a:ea typeface="Meiryo"/>
                <a:cs typeface="Meiryo"/>
                <a:sym typeface="Meiryo"/>
              </a:defRPr>
            </a:pPr>
            <a:r>
              <a:t>・同 :181（Extension）… 5 老人保健施設(廃止) を含む</a:t>
            </a:r>
            <a:endParaRPr>
              <a:latin typeface="+mn-lt"/>
              <a:ea typeface="+mn-ea"/>
              <a:cs typeface="+mn-cs"/>
              <a:sym typeface="Helvetica"/>
            </a:endParaRPr>
          </a:p>
          <a:p>
            <a:pPr>
              <a:spcBef>
                <a:spcPts val="200"/>
              </a:spcBef>
              <a:defRPr sz="1300">
                <a:solidFill>
                  <a:srgbClr val="222633"/>
                </a:solidFill>
                <a:latin typeface="Meiryo"/>
                <a:ea typeface="Meiryo"/>
                <a:cs typeface="Meiryo"/>
                <a:sym typeface="Meiryo"/>
              </a:defRPr>
            </a:pPr>
            <a:endParaRPr>
              <a:latin typeface="+mn-lt"/>
              <a:ea typeface="+mn-ea"/>
              <a:cs typeface="+mn-cs"/>
              <a:sym typeface="Helvetica"/>
            </a:endParaRPr>
          </a:p>
          <a:p>
            <a:pPr>
              <a:spcBef>
                <a:spcPts val="200"/>
              </a:spcBef>
              <a:defRPr b="1" sz="1300">
                <a:solidFill>
                  <a:srgbClr val="1E2761"/>
                </a:solidFill>
                <a:latin typeface="Meiryo"/>
                <a:ea typeface="Meiryo"/>
                <a:cs typeface="Meiryo"/>
                <a:sym typeface="Meiryo"/>
              </a:defRPr>
            </a:pPr>
            <a:r>
              <a:t>→ 決めること『正』：</a:t>
            </a:r>
            <a:endParaRPr>
              <a:latin typeface="+mn-lt"/>
              <a:ea typeface="+mn-ea"/>
              <a:cs typeface="+mn-cs"/>
              <a:sym typeface="Helvetica"/>
            </a:endParaRPr>
          </a:p>
          <a:p>
            <a:pPr>
              <a:spcBef>
                <a:spcPts val="200"/>
              </a:spcBef>
              <a:defRPr b="1" sz="1300">
                <a:solidFill>
                  <a:srgbClr val="1E2761"/>
                </a:solidFill>
                <a:latin typeface="Meiryo"/>
                <a:ea typeface="Meiryo"/>
                <a:cs typeface="Meiryo"/>
                <a:sym typeface="Meiryo"/>
              </a:defRPr>
            </a:pPr>
            <a:r>
              <a:t>1医科・2非保険検診・3歯科・4調剤・</a:t>
            </a:r>
            <a:endParaRPr>
              <a:latin typeface="+mn-lt"/>
              <a:ea typeface="+mn-ea"/>
              <a:cs typeface="+mn-cs"/>
              <a:sym typeface="Helvetica"/>
            </a:endParaRPr>
          </a:p>
          <a:p>
            <a:pPr>
              <a:spcBef>
                <a:spcPts val="200"/>
              </a:spcBef>
              <a:defRPr b="1" sz="1300">
                <a:solidFill>
                  <a:srgbClr val="1E2761"/>
                </a:solidFill>
                <a:latin typeface="Meiryo"/>
                <a:ea typeface="Meiryo"/>
                <a:cs typeface="Meiryo"/>
                <a:sym typeface="Meiryo"/>
              </a:defRPr>
            </a:pPr>
            <a:r>
              <a:t>6訪問看護・9その他 に統一する</a:t>
            </a:r>
            <a:endParaRPr>
              <a:latin typeface="+mn-lt"/>
              <a:ea typeface="+mn-ea"/>
              <a:cs typeface="+mn-cs"/>
              <a:sym typeface="Helvetica"/>
            </a:endParaRPr>
          </a:p>
          <a:p>
            <a:pPr>
              <a:spcBef>
                <a:spcPts val="200"/>
              </a:spcBef>
              <a:defRPr sz="1300">
                <a:solidFill>
                  <a:srgbClr val="222633"/>
                </a:solidFill>
                <a:latin typeface="Meiryo"/>
                <a:ea typeface="Meiryo"/>
                <a:cs typeface="Meiryo"/>
                <a:sym typeface="Meiryo"/>
              </a:defRPr>
            </a:pPr>
            <a:r>
              <a:t>『5 老人保健施設』(廃止) は Extension から削除</a:t>
            </a:r>
          </a:p>
        </p:txBody>
      </p:sp>
      <p:sp>
        <p:nvSpPr>
          <p:cNvPr id="574" name="Rounded Rectangle 6"/>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75" name="TextBox 7"/>
          <p:cNvSpPr txBox="1"/>
          <p:nvPr/>
        </p:nvSpPr>
        <p:spPr>
          <a:xfrm>
            <a:off x="6126479" y="3416298"/>
            <a:ext cx="544069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食い違いの箇所</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576" name="TextBox 8"/>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577"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78" name="ペーストされたムービー.png" descr="ペーストされたムービー.png"/>
          <p:cNvPicPr>
            <a:picLocks noChangeAspect="1"/>
          </p:cNvPicPr>
          <p:nvPr/>
        </p:nvPicPr>
        <p:blipFill>
          <a:blip r:embed="rId2">
            <a:extLst/>
          </a:blip>
          <a:stretch>
            <a:fillRect/>
          </a:stretch>
        </p:blipFill>
        <p:spPr>
          <a:xfrm>
            <a:off x="6161311" y="1894304"/>
            <a:ext cx="5371020" cy="3480872"/>
          </a:xfrm>
          <a:prstGeom prst="rect">
            <a:avLst/>
          </a:prstGeom>
          <a:ln w="12700">
            <a:miter lim="400000"/>
          </a:ln>
        </p:spPr>
      </p:pic>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0"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81"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584" name="Rounded Rectangle 3"/>
          <p:cNvGrpSpPr/>
          <p:nvPr/>
        </p:nvGrpSpPr>
        <p:grpSpPr>
          <a:xfrm>
            <a:off x="457167" y="256006"/>
            <a:ext cx="1554537" cy="548687"/>
            <a:chOff x="0" y="-1"/>
            <a:chExt cx="1554536" cy="548685"/>
          </a:xfrm>
        </p:grpSpPr>
        <p:sp>
          <p:nvSpPr>
            <p:cNvPr id="582"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583" name="D-2"/>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D-2</a:t>
              </a:r>
            </a:p>
          </p:txBody>
        </p:sp>
      </p:grpSp>
      <p:sp>
        <p:nvSpPr>
          <p:cNvPr id="585"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specify（正を仕様に書く）</a:t>
            </a:r>
          </a:p>
        </p:txBody>
      </p:sp>
      <p:sp>
        <p:nvSpPr>
          <p:cNvPr id="586" name="TextBox 5"/>
          <p:cNvSpPr txBox="1"/>
          <p:nvPr/>
        </p:nvSpPr>
        <p:spPr>
          <a:xfrm>
            <a:off x="502904" y="1417318"/>
            <a:ext cx="5120673" cy="161290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600">
                <a:solidFill>
                  <a:srgbClr val="222633"/>
                </a:solidFill>
                <a:latin typeface="Meiryo"/>
                <a:ea typeface="Meiryo"/>
                <a:cs typeface="Meiryo"/>
                <a:sym typeface="Meiryo"/>
              </a:defRPr>
            </a:pPr>
            <a:r>
              <a:t>D-1で決めた『正』を specify に書いて統一します。</a:t>
            </a:r>
            <a:endParaRPr sz="1700"/>
          </a:p>
          <a:p>
            <a:pPr>
              <a:spcBef>
                <a:spcPts val="200"/>
              </a:spcBef>
              <a:defRPr sz="1600">
                <a:solidFill>
                  <a:srgbClr val="222633"/>
                </a:solidFill>
                <a:latin typeface="Meiryo"/>
                <a:ea typeface="Meiryo"/>
                <a:cs typeface="Meiryo"/>
                <a:sym typeface="Meiryo"/>
              </a:defRPr>
            </a:pPr>
            <a:endParaRPr>
              <a:latin typeface="+mn-lt"/>
              <a:ea typeface="+mn-ea"/>
              <a:cs typeface="+mn-cs"/>
              <a:sym typeface="Helvetica"/>
            </a:endParaRPr>
          </a:p>
          <a:p>
            <a:pPr>
              <a:spcBef>
                <a:spcPts val="200"/>
              </a:spcBef>
              <a:defRPr sz="1600">
                <a:solidFill>
                  <a:srgbClr val="222633"/>
                </a:solidFill>
                <a:latin typeface="Meiryo"/>
                <a:ea typeface="Meiryo"/>
                <a:cs typeface="Meiryo"/>
                <a:sym typeface="Meiryo"/>
              </a:defRPr>
            </a:pPr>
            <a:r>
              <a:t>→ 作られるもの：</a:t>
            </a:r>
            <a:endParaRPr>
              <a:latin typeface="+mn-lt"/>
              <a:ea typeface="+mn-ea"/>
              <a:cs typeface="+mn-cs"/>
              <a:sym typeface="Helvetica"/>
            </a:endParaRPr>
          </a:p>
          <a:p>
            <a:pPr>
              <a:spcBef>
                <a:spcPts val="200"/>
              </a:spcBef>
              <a:defRPr sz="1600">
                <a:solidFill>
                  <a:srgbClr val="222633"/>
                </a:solidFill>
                <a:latin typeface="Meiryo"/>
                <a:ea typeface="Meiryo"/>
                <a:cs typeface="Meiryo"/>
                <a:sym typeface="Meiryo"/>
              </a:defRPr>
            </a:pPr>
            <a:r>
              <a:t>・作業ブランチ：specify が自動命名（連番 NNN-…）</a:t>
            </a:r>
            <a:endParaRPr>
              <a:latin typeface="+mn-lt"/>
              <a:ea typeface="+mn-ea"/>
              <a:cs typeface="+mn-cs"/>
              <a:sym typeface="Helvetica"/>
            </a:endParaRPr>
          </a:p>
          <a:p>
            <a:pPr>
              <a:spcBef>
                <a:spcPts val="200"/>
              </a:spcBef>
              <a:defRPr sz="1600">
                <a:solidFill>
                  <a:srgbClr val="222633"/>
                </a:solidFill>
                <a:latin typeface="Meiryo"/>
                <a:ea typeface="Meiryo"/>
                <a:cs typeface="Meiryo"/>
                <a:sym typeface="Meiryo"/>
              </a:defRPr>
            </a:pPr>
            <a:r>
              <a:t>・spec.md（specs/NNN-…/spec.md）</a:t>
            </a:r>
          </a:p>
        </p:txBody>
      </p:sp>
      <p:sp>
        <p:nvSpPr>
          <p:cNvPr id="587" name="Rounded Rectangle 6"/>
          <p:cNvSpPr/>
          <p:nvPr/>
        </p:nvSpPr>
        <p:spPr>
          <a:xfrm>
            <a:off x="502919" y="32461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88" name="TextBox 7"/>
          <p:cNvSpPr txBox="1"/>
          <p:nvPr/>
        </p:nvSpPr>
        <p:spPr>
          <a:xfrm>
            <a:off x="685785" y="3337559"/>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589" name="TextBox 8"/>
          <p:cNvSpPr txBox="1"/>
          <p:nvPr/>
        </p:nvSpPr>
        <p:spPr>
          <a:xfrm>
            <a:off x="685799" y="3703320"/>
            <a:ext cx="4846322" cy="143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sz="900">
                <a:solidFill>
                  <a:srgbClr val="FFFFFF"/>
                </a:solidFill>
                <a:latin typeface="Consolas"/>
                <a:ea typeface="Consolas"/>
                <a:cs typeface="Consolas"/>
                <a:sym typeface="Consolas"/>
              </a:defRPr>
            </a:pPr>
            <a:r>
              <a:t>/speckit.specify</a:t>
            </a:r>
            <a:endParaRPr sz="1300"/>
          </a:p>
          <a:p>
            <a:pPr>
              <a:spcBef>
                <a:spcPts val="100"/>
              </a:spcBef>
              <a:defRPr sz="900">
                <a:solidFill>
                  <a:srgbClr val="FFFFFF"/>
                </a:solidFill>
                <a:latin typeface="Consolas"/>
                <a:ea typeface="Consolas"/>
                <a:cs typeface="Consolas"/>
                <a:sym typeface="Consolas"/>
              </a:defRPr>
            </a:pPr>
            <a:r>
              <a:t>Issue #983: 点数表番号の説明を3箇所で統一する。</a:t>
            </a:r>
            <a:endParaRPr>
              <a:latin typeface="+mn-lt"/>
              <a:ea typeface="+mn-ea"/>
              <a:cs typeface="+mn-cs"/>
              <a:sym typeface="Helvetica"/>
            </a:endParaRPr>
          </a:p>
          <a:p>
            <a:pPr>
              <a:spcBef>
                <a:spcPts val="100"/>
              </a:spcBef>
              <a:defRPr sz="900">
                <a:solidFill>
                  <a:srgbClr val="FFFFFF"/>
                </a:solidFill>
                <a:latin typeface="Consolas"/>
                <a:ea typeface="Consolas"/>
                <a:cs typeface="Consolas"/>
                <a:sym typeface="Consolas"/>
              </a:defRPr>
            </a:pPr>
            <a:r>
              <a:t>正=1医科/2非保険検診/3歯科/4調剤/6訪問看護/9その他</a:t>
            </a:r>
            <a:endParaRPr>
              <a:latin typeface="+mn-lt"/>
              <a:ea typeface="+mn-ea"/>
              <a:cs typeface="+mn-cs"/>
              <a:sym typeface="Helvetica"/>
            </a:endParaRPr>
          </a:p>
          <a:p>
            <a:pPr>
              <a:spcBef>
                <a:spcPts val="100"/>
              </a:spcBef>
              <a:defRPr sz="900">
                <a:solidFill>
                  <a:srgbClr val="FFFFFF"/>
                </a:solidFill>
                <a:latin typeface="Consolas"/>
                <a:ea typeface="Consolas"/>
                <a:cs typeface="Consolas"/>
                <a:sym typeface="Consolas"/>
              </a:defRPr>
            </a:pPr>
            <a:r>
              <a:t>「5老人保健施設」(廃止)はExtensionから削除</a:t>
            </a:r>
            <a:endParaRPr>
              <a:latin typeface="+mn-lt"/>
              <a:ea typeface="+mn-ea"/>
              <a:cs typeface="+mn-cs"/>
              <a:sym typeface="Helvetica"/>
            </a:endParaRPr>
          </a:p>
          <a:p>
            <a:pPr>
              <a:spcBef>
                <a:spcPts val="100"/>
              </a:spcBef>
              <a:defRPr sz="900">
                <a:solidFill>
                  <a:srgbClr val="FFFFFF"/>
                </a:solidFill>
                <a:latin typeface="Consolas"/>
                <a:ea typeface="Consolas"/>
                <a:cs typeface="Consolas"/>
                <a:sym typeface="Consolas"/>
              </a:defRPr>
            </a:pPr>
            <a:r>
              <a:t>統一する3箇所:</a:t>
            </a:r>
            <a:endParaRPr>
              <a:latin typeface="+mn-lt"/>
              <a:ea typeface="+mn-ea"/>
              <a:cs typeface="+mn-cs"/>
              <a:sym typeface="Helvetica"/>
            </a:endParaRPr>
          </a:p>
          <a:p>
            <a:pPr>
              <a:spcBef>
                <a:spcPts val="100"/>
              </a:spcBef>
              <a:defRPr sz="900">
                <a:solidFill>
                  <a:srgbClr val="FFFFFF"/>
                </a:solidFill>
                <a:latin typeface="Consolas"/>
                <a:ea typeface="Consolas"/>
                <a:cs typeface="Consolas"/>
                <a:sym typeface="Consolas"/>
              </a:defRPr>
            </a:pPr>
            <a:r>
              <a:t> (1) notes.md:46</a:t>
            </a:r>
            <a:endParaRPr>
              <a:latin typeface="+mn-lt"/>
              <a:ea typeface="+mn-ea"/>
              <a:cs typeface="+mn-cs"/>
              <a:sym typeface="Helvetica"/>
            </a:endParaRPr>
          </a:p>
          <a:p>
            <a:pPr>
              <a:spcBef>
                <a:spcPts val="100"/>
              </a:spcBef>
              <a:defRPr sz="900">
                <a:solidFill>
                  <a:srgbClr val="FFFFFF"/>
                </a:solidFill>
                <a:latin typeface="Consolas"/>
                <a:ea typeface="Consolas"/>
                <a:cs typeface="Consolas"/>
                <a:sym typeface="Consolas"/>
              </a:defRPr>
            </a:pPr>
            <a:r>
              <a:t> (2) JP_Organization.fsh:24</a:t>
            </a:r>
            <a:endParaRPr>
              <a:latin typeface="+mn-lt"/>
              <a:ea typeface="+mn-ea"/>
              <a:cs typeface="+mn-cs"/>
              <a:sym typeface="Helvetica"/>
            </a:endParaRPr>
          </a:p>
          <a:p>
            <a:pPr>
              <a:spcBef>
                <a:spcPts val="100"/>
              </a:spcBef>
              <a:defRPr sz="900">
                <a:solidFill>
                  <a:srgbClr val="FFFFFF"/>
                </a:solidFill>
                <a:latin typeface="Consolas"/>
                <a:ea typeface="Consolas"/>
                <a:cs typeface="Consolas"/>
                <a:sym typeface="Consolas"/>
              </a:defRPr>
            </a:pPr>
            <a:r>
              <a:t> (3) JP_Organization.fsh:181（Extension）</a:t>
            </a:r>
          </a:p>
        </p:txBody>
      </p:sp>
      <p:sp>
        <p:nvSpPr>
          <p:cNvPr id="590"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91" name="TextBox 10"/>
          <p:cNvSpPr txBox="1"/>
          <p:nvPr/>
        </p:nvSpPr>
        <p:spPr>
          <a:xfrm>
            <a:off x="6126479" y="3400423"/>
            <a:ext cx="5440696" cy="5143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specify 実行</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592"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593"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94" name="ペーストされたムービー.png" descr="ペーストされたムービー.png"/>
          <p:cNvPicPr>
            <a:picLocks noChangeAspect="1"/>
          </p:cNvPicPr>
          <p:nvPr/>
        </p:nvPicPr>
        <p:blipFill>
          <a:blip r:embed="rId2">
            <a:extLst/>
          </a:blip>
          <a:stretch>
            <a:fillRect/>
          </a:stretch>
        </p:blipFill>
        <p:spPr>
          <a:xfrm>
            <a:off x="6106866" y="1836989"/>
            <a:ext cx="5440696" cy="3526026"/>
          </a:xfrm>
          <a:prstGeom prst="rect">
            <a:avLst/>
          </a:prstGeom>
          <a:ln w="12700">
            <a:miter lim="400000"/>
          </a:ln>
        </p:spPr>
      </p:pic>
      <p:sp>
        <p:nvSpPr>
          <p:cNvPr id="595" name="四角形"/>
          <p:cNvSpPr/>
          <p:nvPr/>
        </p:nvSpPr>
        <p:spPr>
          <a:xfrm>
            <a:off x="6355495" y="3828982"/>
            <a:ext cx="1034077" cy="1397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7"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98"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601" name="Rounded Rectangle 3"/>
          <p:cNvGrpSpPr/>
          <p:nvPr/>
        </p:nvGrpSpPr>
        <p:grpSpPr>
          <a:xfrm>
            <a:off x="457167" y="256006"/>
            <a:ext cx="1554537" cy="548687"/>
            <a:chOff x="0" y="-1"/>
            <a:chExt cx="1554536" cy="548685"/>
          </a:xfrm>
        </p:grpSpPr>
        <p:sp>
          <p:nvSpPr>
            <p:cNvPr id="599"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600" name="D-2"/>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D-3</a:t>
              </a:r>
            </a:p>
          </p:txBody>
        </p:sp>
      </p:grpSp>
      <p:sp>
        <p:nvSpPr>
          <p:cNvPr id="602"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plan → tasks</a:t>
            </a:r>
          </a:p>
        </p:txBody>
      </p:sp>
      <p:sp>
        <p:nvSpPr>
          <p:cNvPr id="603" name="TextBox 5"/>
          <p:cNvSpPr txBox="1"/>
          <p:nvPr/>
        </p:nvSpPr>
        <p:spPr>
          <a:xfrm>
            <a:off x="502904" y="1417318"/>
            <a:ext cx="5120673" cy="120650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600">
                <a:solidFill>
                  <a:srgbClr val="222633"/>
                </a:solidFill>
                <a:latin typeface="Meiryo"/>
                <a:ea typeface="Meiryo"/>
                <a:cs typeface="Meiryo"/>
                <a:sym typeface="Meiryo"/>
              </a:defRPr>
            </a:pPr>
            <a:r>
              <a:t>計画を立て、実行タスクに分解します。</a:t>
            </a:r>
            <a:endParaRPr sz="1700"/>
          </a:p>
          <a:p>
            <a:pPr>
              <a:spcBef>
                <a:spcPts val="200"/>
              </a:spcBef>
              <a:defRPr sz="1600">
                <a:solidFill>
                  <a:srgbClr val="222633"/>
                </a:solidFill>
                <a:latin typeface="Meiryo"/>
                <a:ea typeface="Meiryo"/>
                <a:cs typeface="Meiryo"/>
                <a:sym typeface="Meiryo"/>
              </a:defRPr>
            </a:pPr>
            <a:endParaRPr>
              <a:latin typeface="+mn-lt"/>
              <a:ea typeface="+mn-ea"/>
              <a:cs typeface="+mn-cs"/>
              <a:sym typeface="Helvetica"/>
            </a:endParaRPr>
          </a:p>
          <a:p>
            <a:pPr>
              <a:spcBef>
                <a:spcPts val="200"/>
              </a:spcBef>
              <a:defRPr sz="1600">
                <a:solidFill>
                  <a:srgbClr val="222633"/>
                </a:solidFill>
                <a:latin typeface="Meiryo"/>
                <a:ea typeface="Meiryo"/>
                <a:cs typeface="Meiryo"/>
                <a:sym typeface="Meiryo"/>
              </a:defRPr>
            </a:pPr>
            <a:r>
              <a:t>→ 作られるファイル：</a:t>
            </a:r>
            <a:endParaRPr>
              <a:latin typeface="+mn-lt"/>
              <a:ea typeface="+mn-ea"/>
              <a:cs typeface="+mn-cs"/>
              <a:sym typeface="Helvetica"/>
            </a:endParaRPr>
          </a:p>
          <a:p>
            <a:pPr>
              <a:spcBef>
                <a:spcPts val="200"/>
              </a:spcBef>
              <a:defRPr sz="1600">
                <a:solidFill>
                  <a:srgbClr val="222633"/>
                </a:solidFill>
                <a:latin typeface="Meiryo"/>
                <a:ea typeface="Meiryo"/>
                <a:cs typeface="Meiryo"/>
                <a:sym typeface="Meiryo"/>
              </a:defRPr>
            </a:pPr>
            <a:r>
              <a:t>・plan.md ／ tasks.md</a:t>
            </a:r>
          </a:p>
        </p:txBody>
      </p:sp>
      <p:sp>
        <p:nvSpPr>
          <p:cNvPr id="604" name="Rounded Rectangle 6"/>
          <p:cNvSpPr/>
          <p:nvPr/>
        </p:nvSpPr>
        <p:spPr>
          <a:xfrm>
            <a:off x="502919" y="3246120"/>
            <a:ext cx="5120643" cy="2377448"/>
          </a:xfrm>
          <a:prstGeom prst="roundRect">
            <a:avLst>
              <a:gd name="adj" fmla="val 16667"/>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05" name="TextBox 7"/>
          <p:cNvSpPr txBox="1"/>
          <p:nvPr/>
        </p:nvSpPr>
        <p:spPr>
          <a:xfrm>
            <a:off x="685785" y="3337559"/>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606" name="TextBox 8"/>
          <p:cNvSpPr txBox="1"/>
          <p:nvPr/>
        </p:nvSpPr>
        <p:spPr>
          <a:xfrm>
            <a:off x="685799" y="3703320"/>
            <a:ext cx="4846322"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/speckit.plan</a:t>
            </a:r>
          </a:p>
          <a:p>
            <a:pPr>
              <a:spcBef>
                <a:spcPts val="200"/>
              </a:spcBef>
              <a:defRPr sz="1300">
                <a:solidFill>
                  <a:srgbClr val="FFFFFF"/>
                </a:solidFill>
                <a:latin typeface="Consolas"/>
                <a:ea typeface="Consolas"/>
                <a:cs typeface="Consolas"/>
                <a:sym typeface="Consolas"/>
              </a:defRPr>
            </a:pPr>
            <a:r>
              <a:t>/speckit.tasks</a:t>
            </a:r>
          </a:p>
        </p:txBody>
      </p:sp>
      <p:sp>
        <p:nvSpPr>
          <p:cNvPr id="607"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08" name="TextBox 10"/>
          <p:cNvSpPr txBox="1"/>
          <p:nvPr/>
        </p:nvSpPr>
        <p:spPr>
          <a:xfrm>
            <a:off x="6126479" y="3416298"/>
            <a:ext cx="544069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計画とタスク</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609"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610"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611" name="ペーストされたムービー.png" descr="ペーストされたムービー.png"/>
          <p:cNvPicPr>
            <a:picLocks noChangeAspect="1"/>
          </p:cNvPicPr>
          <p:nvPr/>
        </p:nvPicPr>
        <p:blipFill>
          <a:blip r:embed="rId2">
            <a:extLst/>
          </a:blip>
          <a:stretch>
            <a:fillRect/>
          </a:stretch>
        </p:blipFill>
        <p:spPr>
          <a:xfrm>
            <a:off x="6094393" y="1850936"/>
            <a:ext cx="5504855" cy="3567608"/>
          </a:xfrm>
          <a:prstGeom prst="rect">
            <a:avLst/>
          </a:prstGeom>
          <a:ln w="12700">
            <a:miter lim="400000"/>
          </a:ln>
        </p:spPr>
      </p:pic>
      <p:sp>
        <p:nvSpPr>
          <p:cNvPr id="612" name="四角形"/>
          <p:cNvSpPr/>
          <p:nvPr/>
        </p:nvSpPr>
        <p:spPr>
          <a:xfrm>
            <a:off x="6355495" y="3613082"/>
            <a:ext cx="1034077" cy="1397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
        <p:nvSpPr>
          <p:cNvPr id="613" name="四角形"/>
          <p:cNvSpPr/>
          <p:nvPr/>
        </p:nvSpPr>
        <p:spPr>
          <a:xfrm>
            <a:off x="6355495" y="3943282"/>
            <a:ext cx="1034077" cy="139706"/>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5"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16"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619" name="Rounded Rectangle 3"/>
          <p:cNvGrpSpPr/>
          <p:nvPr/>
        </p:nvGrpSpPr>
        <p:grpSpPr>
          <a:xfrm>
            <a:off x="457167" y="256006"/>
            <a:ext cx="1554537" cy="548687"/>
            <a:chOff x="0" y="-1"/>
            <a:chExt cx="1554536" cy="548685"/>
          </a:xfrm>
        </p:grpSpPr>
        <p:sp>
          <p:nvSpPr>
            <p:cNvPr id="617"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618" name="D-2"/>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D-4</a:t>
              </a:r>
            </a:p>
          </p:txBody>
        </p:sp>
      </p:grpSp>
      <p:sp>
        <p:nvSpPr>
          <p:cNvPr id="620" name="TextBox 4"/>
          <p:cNvSpPr txBox="1"/>
          <p:nvPr/>
        </p:nvSpPr>
        <p:spPr>
          <a:xfrm>
            <a:off x="2240280" y="352551"/>
            <a:ext cx="950976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implement → build</a:t>
            </a:r>
          </a:p>
        </p:txBody>
      </p:sp>
      <p:sp>
        <p:nvSpPr>
          <p:cNvPr id="621" name="TextBox 5"/>
          <p:cNvSpPr txBox="1"/>
          <p:nvPr/>
        </p:nvSpPr>
        <p:spPr>
          <a:xfrm>
            <a:off x="502904" y="1417318"/>
            <a:ext cx="5120673" cy="19494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600">
                <a:solidFill>
                  <a:srgbClr val="222633"/>
                </a:solidFill>
                <a:latin typeface="Meiryo"/>
                <a:ea typeface="Meiryo"/>
                <a:cs typeface="Meiryo"/>
                <a:sym typeface="Meiryo"/>
              </a:defRPr>
            </a:pPr>
            <a:r>
              <a:t>実装・ビルド検証・品質チェックを行います。</a:t>
            </a:r>
            <a:endParaRPr sz="1700"/>
          </a:p>
          <a:p>
            <a:pPr>
              <a:spcBef>
                <a:spcPts val="200"/>
              </a:spcBef>
              <a:defRPr sz="1600">
                <a:solidFill>
                  <a:srgbClr val="222633"/>
                </a:solidFill>
                <a:latin typeface="Meiryo"/>
                <a:ea typeface="Meiryo"/>
                <a:cs typeface="Meiryo"/>
                <a:sym typeface="Meiryo"/>
              </a:defRPr>
            </a:pPr>
            <a:endParaRPr>
              <a:latin typeface="+mn-lt"/>
              <a:ea typeface="+mn-ea"/>
              <a:cs typeface="+mn-cs"/>
              <a:sym typeface="Helvetica"/>
            </a:endParaRPr>
          </a:p>
          <a:p>
            <a:pPr>
              <a:spcBef>
                <a:spcPts val="200"/>
              </a:spcBef>
              <a:defRPr sz="1600">
                <a:solidFill>
                  <a:srgbClr val="222633"/>
                </a:solidFill>
                <a:latin typeface="Meiryo"/>
                <a:ea typeface="Meiryo"/>
                <a:cs typeface="Meiryo"/>
                <a:sym typeface="Meiryo"/>
              </a:defRPr>
            </a:pPr>
            <a:r>
              <a:t>→ 変更されるファイル：</a:t>
            </a:r>
            <a:endParaRPr>
              <a:latin typeface="+mn-lt"/>
              <a:ea typeface="+mn-ea"/>
              <a:cs typeface="+mn-cs"/>
              <a:sym typeface="Helvetica"/>
            </a:endParaRPr>
          </a:p>
          <a:p>
            <a:pPr>
              <a:spcBef>
                <a:spcPts val="200"/>
              </a:spcBef>
              <a:defRPr sz="1600">
                <a:solidFill>
                  <a:srgbClr val="222633"/>
                </a:solidFill>
                <a:latin typeface="Meiryo"/>
                <a:ea typeface="Meiryo"/>
                <a:cs typeface="Meiryo"/>
                <a:sym typeface="Meiryo"/>
              </a:defRPr>
            </a:pPr>
            <a:r>
              <a:t>・対象 FSH＋fsh-generated/ 再生成</a:t>
            </a:r>
          </a:p>
          <a:p>
            <a:pPr>
              <a:spcBef>
                <a:spcPts val="200"/>
              </a:spcBef>
              <a:defRPr sz="1700">
                <a:solidFill>
                  <a:srgbClr val="222633"/>
                </a:solidFill>
                <a:latin typeface="Meiryo"/>
                <a:ea typeface="Meiryo"/>
                <a:cs typeface="Meiryo"/>
                <a:sym typeface="Meiryo"/>
              </a:defRPr>
            </a:pPr>
            <a:r>
              <a:t>・ specs/NNN-…/checklists/ 配下の品質チェックリスト（.md）</a:t>
            </a:r>
          </a:p>
        </p:txBody>
      </p:sp>
      <p:sp>
        <p:nvSpPr>
          <p:cNvPr id="622" name="Rounded Rectangle 6"/>
          <p:cNvSpPr/>
          <p:nvPr/>
        </p:nvSpPr>
        <p:spPr>
          <a:xfrm>
            <a:off x="502919" y="3436620"/>
            <a:ext cx="5120643" cy="2132874"/>
          </a:xfrm>
          <a:prstGeom prst="roundRect">
            <a:avLst>
              <a:gd name="adj" fmla="val 18578"/>
            </a:avLst>
          </a:prstGeom>
          <a:solidFill>
            <a:srgbClr val="12152E"/>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23" name="TextBox 7"/>
          <p:cNvSpPr txBox="1"/>
          <p:nvPr/>
        </p:nvSpPr>
        <p:spPr>
          <a:xfrm>
            <a:off x="685785" y="3528059"/>
            <a:ext cx="48463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1100">
                <a:solidFill>
                  <a:srgbClr val="CADCFC"/>
                </a:solidFill>
                <a:latin typeface="Meiryo"/>
                <a:ea typeface="Meiryo"/>
                <a:cs typeface="Meiryo"/>
                <a:sym typeface="Meiryo"/>
              </a:defRPr>
            </a:lvl1pPr>
          </a:lstStyle>
          <a:p>
            <a:pPr/>
            <a:r>
              <a:t>▌Claude Code</a:t>
            </a:r>
          </a:p>
        </p:txBody>
      </p:sp>
      <p:sp>
        <p:nvSpPr>
          <p:cNvPr id="624" name="TextBox 8"/>
          <p:cNvSpPr txBox="1"/>
          <p:nvPr/>
        </p:nvSpPr>
        <p:spPr>
          <a:xfrm>
            <a:off x="685799" y="3893820"/>
            <a:ext cx="4846322"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sz="1300">
                <a:solidFill>
                  <a:srgbClr val="FFFFFF"/>
                </a:solidFill>
                <a:latin typeface="Consolas"/>
                <a:ea typeface="Consolas"/>
                <a:cs typeface="Consolas"/>
                <a:sym typeface="Consolas"/>
              </a:defRPr>
            </a:pPr>
            <a:r>
              <a:t>/speckit.implement</a:t>
            </a:r>
          </a:p>
          <a:p>
            <a:pPr>
              <a:spcBef>
                <a:spcPts val="200"/>
              </a:spcBef>
              <a:defRPr sz="1300">
                <a:solidFill>
                  <a:srgbClr val="FFFFFF"/>
                </a:solidFill>
                <a:latin typeface="Consolas"/>
                <a:ea typeface="Consolas"/>
                <a:cs typeface="Consolas"/>
                <a:sym typeface="Consolas"/>
              </a:defRPr>
            </a:pPr>
            <a:r>
              <a:t>sushi build</a:t>
            </a:r>
          </a:p>
          <a:p>
            <a:pPr>
              <a:spcBef>
                <a:spcPts val="200"/>
              </a:spcBef>
              <a:defRPr sz="1300">
                <a:solidFill>
                  <a:srgbClr val="FFFFFF"/>
                </a:solidFill>
                <a:latin typeface="Consolas"/>
                <a:ea typeface="Consolas"/>
                <a:cs typeface="Consolas"/>
                <a:sym typeface="Consolas"/>
              </a:defRPr>
            </a:pPr>
            <a:r>
              <a:t>/speckit.checklist</a:t>
            </a:r>
          </a:p>
        </p:txBody>
      </p:sp>
      <p:sp>
        <p:nvSpPr>
          <p:cNvPr id="625" name="Rounded Rectangle 9"/>
          <p:cNvSpPr/>
          <p:nvPr/>
        </p:nvSpPr>
        <p:spPr>
          <a:xfrm>
            <a:off x="5943600" y="1463038"/>
            <a:ext cx="5806441" cy="4343404"/>
          </a:xfrm>
          <a:prstGeom prst="roundRect">
            <a:avLst>
              <a:gd name="adj" fmla="val 16667"/>
            </a:avLst>
          </a:prstGeom>
          <a:solidFill>
            <a:srgbClr val="F2F4F8"/>
          </a:solidFill>
          <a:ln w="19050">
            <a:solidFill>
              <a:srgbClr val="B9C2D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26" name="TextBox 10"/>
          <p:cNvSpPr txBox="1"/>
          <p:nvPr/>
        </p:nvSpPr>
        <p:spPr>
          <a:xfrm>
            <a:off x="6126479" y="3416298"/>
            <a:ext cx="544069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spcBef>
                <a:spcPts val="200"/>
              </a:spcBef>
              <a:defRPr sz="1300">
                <a:solidFill>
                  <a:srgbClr val="6B7280"/>
                </a:solidFill>
                <a:latin typeface="Meiryo"/>
                <a:ea typeface="Meiryo"/>
                <a:cs typeface="Meiryo"/>
                <a:sym typeface="Meiryo"/>
              </a:defRPr>
            </a:pPr>
            <a:r>
              <a:t>実装とビルド</a:t>
            </a:r>
          </a:p>
          <a:p>
            <a:pPr algn="ctr">
              <a:spcBef>
                <a:spcPts val="200"/>
              </a:spcBef>
              <a:defRPr sz="1300">
                <a:solidFill>
                  <a:srgbClr val="6B7280"/>
                </a:solidFill>
                <a:latin typeface="Meiryo"/>
                <a:ea typeface="Meiryo"/>
                <a:cs typeface="Meiryo"/>
                <a:sym typeface="Meiryo"/>
              </a:defRPr>
            </a:pPr>
            <a:r>
              <a:t>［ ここに実際の画面を貼り付け ］</a:t>
            </a:r>
          </a:p>
        </p:txBody>
      </p:sp>
      <p:sp>
        <p:nvSpPr>
          <p:cNvPr id="627"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628"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629" name="ペーストされたムービー.png" descr="ペーストされたムービー.png"/>
          <p:cNvPicPr>
            <a:picLocks noChangeAspect="1"/>
          </p:cNvPicPr>
          <p:nvPr/>
        </p:nvPicPr>
        <p:blipFill>
          <a:blip r:embed="rId2">
            <a:extLst/>
          </a:blip>
          <a:stretch>
            <a:fillRect/>
          </a:stretch>
        </p:blipFill>
        <p:spPr>
          <a:xfrm>
            <a:off x="6126460" y="1871288"/>
            <a:ext cx="5466121" cy="3542504"/>
          </a:xfrm>
          <a:prstGeom prst="rect">
            <a:avLst/>
          </a:prstGeom>
          <a:ln w="12700">
            <a:miter lim="400000"/>
          </a:ln>
        </p:spPr>
      </p:pic>
      <p:sp>
        <p:nvSpPr>
          <p:cNvPr id="630" name="確認したら「人間がレビュー → コミット / PR」へ"/>
          <p:cNvSpPr txBox="1"/>
          <p:nvPr/>
        </p:nvSpPr>
        <p:spPr>
          <a:xfrm>
            <a:off x="811725" y="5711766"/>
            <a:ext cx="5214231" cy="34175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1700"/>
            </a:lvl1pPr>
          </a:lstStyle>
          <a:p>
            <a:pPr/>
            <a:r>
              <a:t>確認したら「人間がレビュー → コミット / PR」へ</a:t>
            </a:r>
          </a:p>
        </p:txBody>
      </p:sp>
      <p:sp>
        <p:nvSpPr>
          <p:cNvPr id="631" name="四角形"/>
          <p:cNvSpPr/>
          <p:nvPr/>
        </p:nvSpPr>
        <p:spPr>
          <a:xfrm>
            <a:off x="6376662" y="3562346"/>
            <a:ext cx="1034076" cy="222902"/>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pic>
        <p:nvPicPr>
          <p:cNvPr id="632" name="ペーストされたムービー.png" descr="ペーストされたムービー.png"/>
          <p:cNvPicPr>
            <a:picLocks noChangeAspect="1"/>
          </p:cNvPicPr>
          <p:nvPr/>
        </p:nvPicPr>
        <p:blipFill>
          <a:blip r:embed="rId3">
            <a:extLst/>
          </a:blip>
          <a:stretch>
            <a:fillRect/>
          </a:stretch>
        </p:blipFill>
        <p:spPr>
          <a:xfrm>
            <a:off x="7104803" y="4341278"/>
            <a:ext cx="744123" cy="139702"/>
          </a:xfrm>
          <a:prstGeom prst="rect">
            <a:avLst/>
          </a:prstGeom>
          <a:ln w="12700">
            <a:miter lim="400000"/>
          </a:ln>
        </p:spPr>
      </p:pic>
      <p:pic>
        <p:nvPicPr>
          <p:cNvPr id="633" name="ペーストされたムービー.png" descr="ペーストされたムービー.png"/>
          <p:cNvPicPr>
            <a:picLocks noChangeAspect="1"/>
          </p:cNvPicPr>
          <p:nvPr/>
        </p:nvPicPr>
        <p:blipFill>
          <a:blip r:embed="rId4">
            <a:extLst/>
          </a:blip>
          <a:stretch>
            <a:fillRect/>
          </a:stretch>
        </p:blipFill>
        <p:spPr>
          <a:xfrm>
            <a:off x="7104803" y="3932028"/>
            <a:ext cx="744123" cy="376121"/>
          </a:xfrm>
          <a:prstGeom prst="rect">
            <a:avLst/>
          </a:prstGeom>
          <a:ln w="12700">
            <a:miter lim="400000"/>
          </a:ln>
        </p:spPr>
      </p:pic>
      <p:sp>
        <p:nvSpPr>
          <p:cNvPr id="634" name="四角形"/>
          <p:cNvSpPr/>
          <p:nvPr/>
        </p:nvSpPr>
        <p:spPr>
          <a:xfrm>
            <a:off x="7062462" y="3919328"/>
            <a:ext cx="718723" cy="609384"/>
          </a:xfrm>
          <a:prstGeom prst="rect">
            <a:avLst/>
          </a:prstGeom>
          <a:ln w="25400">
            <a:solidFill>
              <a:srgbClr val="FF2600"/>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a:defRPr>
            </a:pP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6"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37" name="Rectangle 2"/>
          <p:cNvSpPr/>
          <p:nvPr/>
        </p:nvSpPr>
        <p:spPr>
          <a:xfrm>
            <a:off x="-1" y="-1"/>
            <a:ext cx="12191697" cy="1051562"/>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grpSp>
        <p:nvGrpSpPr>
          <p:cNvPr id="640" name="Rounded Rectangle 3"/>
          <p:cNvGrpSpPr/>
          <p:nvPr/>
        </p:nvGrpSpPr>
        <p:grpSpPr>
          <a:xfrm>
            <a:off x="457167" y="256006"/>
            <a:ext cx="1554537" cy="548687"/>
            <a:chOff x="0" y="-1"/>
            <a:chExt cx="1554536" cy="548685"/>
          </a:xfrm>
        </p:grpSpPr>
        <p:sp>
          <p:nvSpPr>
            <p:cNvPr id="638" name="角丸四角形"/>
            <p:cNvSpPr/>
            <p:nvPr/>
          </p:nvSpPr>
          <p:spPr>
            <a:xfrm>
              <a:off x="-1" y="-2"/>
              <a:ext cx="1554537" cy="548687"/>
            </a:xfrm>
            <a:prstGeom prst="roundRect">
              <a:avLst>
                <a:gd name="adj" fmla="val 16667"/>
              </a:avLst>
            </a:prstGeom>
            <a:solidFill>
              <a:srgbClr val="B85042"/>
            </a:solidFill>
            <a:ln w="12700" cap="flat">
              <a:noFill/>
              <a:miter lim="400000"/>
            </a:ln>
            <a:effectLst>
              <a:outerShdw sx="100000" sy="100000" kx="0" ky="0" algn="b" rotWithShape="0" blurRad="38100" dist="23000" dir="5400000">
                <a:srgbClr val="000000">
                  <a:alpha val="35000"/>
                </a:srgbClr>
              </a:outerShdw>
            </a:effectLst>
          </p:spPr>
          <p:txBody>
            <a:bodyPr wrap="square" lIns="45718" tIns="45718" rIns="45718" bIns="45718" numCol="1" anchor="ctr">
              <a:noAutofit/>
            </a:bodyPr>
            <a:lstStyle/>
            <a:p>
              <a:pPr algn="ctr">
                <a:spcBef>
                  <a:spcPts val="200"/>
                </a:spcBef>
                <a:defRPr>
                  <a:solidFill>
                    <a:srgbClr val="FFFFFF"/>
                  </a:solidFill>
                </a:defRPr>
              </a:pPr>
            </a:p>
          </p:txBody>
        </p:sp>
        <p:sp>
          <p:nvSpPr>
            <p:cNvPr id="639" name="D-3"/>
            <p:cNvSpPr txBox="1"/>
            <p:nvPr/>
          </p:nvSpPr>
          <p:spPr>
            <a:xfrm>
              <a:off x="26788" y="153678"/>
              <a:ext cx="1500956"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spcBef>
                  <a:spcPts val="200"/>
                </a:spcBef>
                <a:defRPr b="1" sz="1600">
                  <a:solidFill>
                    <a:srgbClr val="FFFFFF"/>
                  </a:solidFill>
                  <a:latin typeface="Meiryo"/>
                  <a:ea typeface="Meiryo"/>
                  <a:cs typeface="Meiryo"/>
                  <a:sym typeface="Meiryo"/>
                </a:defRPr>
              </a:lvl1pPr>
            </a:lstStyle>
            <a:p>
              <a:pPr/>
              <a:r>
                <a:t>Appendix</a:t>
              </a:r>
            </a:p>
          </p:txBody>
        </p:sp>
      </p:grpSp>
      <p:sp>
        <p:nvSpPr>
          <p:cNvPr id="641" name="TextBox 4"/>
          <p:cNvSpPr txBox="1"/>
          <p:nvPr/>
        </p:nvSpPr>
        <p:spPr>
          <a:xfrm>
            <a:off x="2240279" y="352549"/>
            <a:ext cx="950976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200"/>
              </a:spcBef>
              <a:defRPr b="1" sz="2300">
                <a:solidFill>
                  <a:srgbClr val="FFFFFF"/>
                </a:solidFill>
                <a:latin typeface="Meiryo"/>
                <a:ea typeface="Meiryo"/>
                <a:cs typeface="Meiryo"/>
                <a:sym typeface="Meiryo"/>
              </a:defRPr>
            </a:lvl1pPr>
          </a:lstStyle>
          <a:p>
            <a:pPr/>
            <a:r>
              <a:t>よく使う Claude Code コマンド早見表</a:t>
            </a:r>
          </a:p>
        </p:txBody>
      </p:sp>
      <p:sp>
        <p:nvSpPr>
          <p:cNvPr id="642" name="TextBox 11"/>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643" name="スライド番号"/>
          <p:cNvSpPr txBox="1"/>
          <p:nvPr>
            <p:ph type="sldNum" sz="quarter" idx="4294967295"/>
          </p:nvPr>
        </p:nvSpPr>
        <p:spPr>
          <a:xfrm>
            <a:off x="116285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644" name="Table 624"/>
          <p:cNvGraphicFramePr/>
          <p:nvPr/>
        </p:nvGraphicFramePr>
        <p:xfrm>
          <a:off x="502919" y="1325880"/>
          <a:ext cx="11201401" cy="425196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743200"/>
                <a:gridCol w="8458200"/>
              </a:tblGrid>
              <a:tr h="386541">
                <a:tc>
                  <a:txBody>
                    <a:bodyPr/>
                    <a:lstStyle/>
                    <a:p>
                      <a:pPr algn="l">
                        <a:defRPr sz="1800"/>
                      </a:pPr>
                      <a:r>
                        <a:rPr b="1" sz="1100">
                          <a:solidFill>
                            <a:srgbClr val="FFFFFF"/>
                          </a:solidFill>
                          <a:latin typeface="Meiryo"/>
                          <a:ea typeface="Meiryo"/>
                          <a:cs typeface="Meiryo"/>
                          <a:sym typeface="Meiryo"/>
                        </a:rPr>
                        <a:t>コマンド</a:t>
                      </a:r>
                    </a:p>
                  </a:txBody>
                  <a:tcPr marL="13716" marR="13716" marT="13716" marB="13716" anchor="ctr" anchorCtr="0" horzOverflow="overflow">
                    <a:solidFill>
                      <a:srgbClr val="1E2761"/>
                    </a:solidFill>
                  </a:tcPr>
                </a:tc>
                <a:tc>
                  <a:txBody>
                    <a:bodyPr/>
                    <a:lstStyle/>
                    <a:p>
                      <a:pPr algn="l">
                        <a:defRPr sz="1800"/>
                      </a:pPr>
                      <a:r>
                        <a:rPr b="1" sz="1100">
                          <a:solidFill>
                            <a:srgbClr val="FFFFFF"/>
                          </a:solidFill>
                          <a:latin typeface="Meiryo"/>
                          <a:ea typeface="Meiryo"/>
                          <a:cs typeface="Meiryo"/>
                          <a:sym typeface="Meiryo"/>
                        </a:rPr>
                        <a:t>用途（作業中によく使う操作）</a:t>
                      </a:r>
                    </a:p>
                  </a:txBody>
                  <a:tcPr marL="13716" marR="13716" marT="13716" marB="13716" anchor="ctr" anchorCtr="0" horzOverflow="overflow">
                    <a:solidFill>
                      <a:srgbClr val="1E2761"/>
                    </a:solidFill>
                  </a:tcPr>
                </a:tc>
              </a:tr>
              <a:tr h="386541">
                <a:tc>
                  <a:txBody>
                    <a:bodyPr/>
                    <a:lstStyle/>
                    <a:p>
                      <a:pPr algn="l">
                        <a:defRPr sz="1800"/>
                      </a:pPr>
                      <a:r>
                        <a:rPr b="1" sz="1100">
                          <a:solidFill>
                            <a:srgbClr val="1E2761"/>
                          </a:solidFill>
                          <a:latin typeface="Consolas"/>
                          <a:ea typeface="Consolas"/>
                          <a:cs typeface="Consolas"/>
                          <a:sym typeface="Consolas"/>
                        </a:rPr>
                        <a:t>/clear</a:t>
                      </a:r>
                    </a:p>
                  </a:txBody>
                  <a:tcPr marL="13716" marR="13716" marT="13716" marB="13716" anchor="ctr" anchorCtr="0" horzOverflow="overflow">
                    <a:solidFill>
                      <a:srgbClr val="FFFFFF"/>
                    </a:solidFill>
                  </a:tcPr>
                </a:tc>
                <a:tc>
                  <a:txBody>
                    <a:bodyPr/>
                    <a:lstStyle/>
                    <a:p>
                      <a:pPr algn="l">
                        <a:defRPr sz="1800"/>
                      </a:pPr>
                      <a:r>
                        <a:rPr sz="1000">
                          <a:solidFill>
                            <a:srgbClr val="222633"/>
                          </a:solidFill>
                          <a:latin typeface="Meiryo"/>
                          <a:ea typeface="Meiryo"/>
                          <a:cs typeface="Meiryo"/>
                          <a:sym typeface="Meiryo"/>
                        </a:rPr>
                        <a:t>会話を新規開始（文脈を空に）。別の作業へ移るとき。別名 /new・/reset</a:t>
                      </a:r>
                    </a:p>
                  </a:txBody>
                  <a:tcPr marL="13716" marR="13716" marT="13716" marB="13716" anchor="ctr" anchorCtr="0" horzOverflow="overflow">
                    <a:solidFill>
                      <a:srgbClr val="FFFFFF"/>
                    </a:solidFill>
                  </a:tcPr>
                </a:tc>
              </a:tr>
              <a:tr h="386541">
                <a:tc>
                  <a:txBody>
                    <a:bodyPr/>
                    <a:lstStyle/>
                    <a:p>
                      <a:pPr algn="l">
                        <a:defRPr sz="1800"/>
                      </a:pPr>
                      <a:r>
                        <a:rPr b="1" sz="1100">
                          <a:solidFill>
                            <a:srgbClr val="1E2761"/>
                          </a:solidFill>
                          <a:latin typeface="Consolas"/>
                          <a:ea typeface="Consolas"/>
                          <a:cs typeface="Consolas"/>
                          <a:sym typeface="Consolas"/>
                        </a:rPr>
                        <a:t>/resume</a:t>
                      </a:r>
                    </a:p>
                  </a:txBody>
                  <a:tcPr marL="13716" marR="13716" marT="13716" marB="13716" anchor="ctr" anchorCtr="0" horzOverflow="overflow">
                    <a:solidFill>
                      <a:srgbClr val="CADCFC"/>
                    </a:solidFill>
                  </a:tcPr>
                </a:tc>
                <a:tc>
                  <a:txBody>
                    <a:bodyPr/>
                    <a:lstStyle/>
                    <a:p>
                      <a:pPr algn="l">
                        <a:defRPr sz="1800"/>
                      </a:pPr>
                      <a:r>
                        <a:rPr sz="1000">
                          <a:solidFill>
                            <a:srgbClr val="222633"/>
                          </a:solidFill>
                          <a:latin typeface="Meiryo"/>
                          <a:ea typeface="Meiryo"/>
                          <a:cs typeface="Meiryo"/>
                          <a:sym typeface="Meiryo"/>
                        </a:rPr>
                        <a:t>過去の会話を再開する（ピッカー表示）。別名 /continue</a:t>
                      </a:r>
                    </a:p>
                  </a:txBody>
                  <a:tcPr marL="13716" marR="13716" marT="13716" marB="13716" anchor="ctr" anchorCtr="0" horzOverflow="overflow">
                    <a:solidFill>
                      <a:srgbClr val="CADCFC"/>
                    </a:solidFill>
                  </a:tcPr>
                </a:tc>
              </a:tr>
              <a:tr h="386541">
                <a:tc>
                  <a:txBody>
                    <a:bodyPr/>
                    <a:lstStyle/>
                    <a:p>
                      <a:pPr algn="l">
                        <a:defRPr sz="1800"/>
                      </a:pPr>
                      <a:r>
                        <a:rPr b="1" sz="1100">
                          <a:solidFill>
                            <a:srgbClr val="1E2761"/>
                          </a:solidFill>
                          <a:latin typeface="Consolas"/>
                          <a:ea typeface="Consolas"/>
                          <a:cs typeface="Consolas"/>
                          <a:sym typeface="Consolas"/>
                        </a:rPr>
                        <a:t>/rewind</a:t>
                      </a:r>
                    </a:p>
                  </a:txBody>
                  <a:tcPr marL="13716" marR="13716" marT="13716" marB="13716" anchor="ctr" anchorCtr="0" horzOverflow="overflow">
                    <a:solidFill>
                      <a:srgbClr val="FFFFFF"/>
                    </a:solidFill>
                  </a:tcPr>
                </a:tc>
                <a:tc>
                  <a:txBody>
                    <a:bodyPr/>
                    <a:lstStyle/>
                    <a:p>
                      <a:pPr algn="l">
                        <a:defRPr sz="1800"/>
                      </a:pPr>
                      <a:r>
                        <a:rPr sz="1000">
                          <a:solidFill>
                            <a:srgbClr val="222633"/>
                          </a:solidFill>
                          <a:latin typeface="Meiryo"/>
                          <a:ea typeface="Meiryo"/>
                          <a:cs typeface="Meiryo"/>
                          <a:sym typeface="Meiryo"/>
                        </a:rPr>
                        <a:t>会話やコードを前の状態へ巻き戻す。別名 /undo</a:t>
                      </a:r>
                    </a:p>
                  </a:txBody>
                  <a:tcPr marL="13716" marR="13716" marT="13716" marB="13716" anchor="ctr" anchorCtr="0" horzOverflow="overflow">
                    <a:solidFill>
                      <a:srgbClr val="FFFFFF"/>
                    </a:solidFill>
                  </a:tcPr>
                </a:tc>
              </a:tr>
              <a:tr h="386541">
                <a:tc>
                  <a:txBody>
                    <a:bodyPr/>
                    <a:lstStyle/>
                    <a:p>
                      <a:pPr algn="l">
                        <a:defRPr sz="1800"/>
                      </a:pPr>
                      <a:r>
                        <a:rPr b="1" sz="1100">
                          <a:solidFill>
                            <a:srgbClr val="1E2761"/>
                          </a:solidFill>
                          <a:latin typeface="Consolas"/>
                          <a:ea typeface="Consolas"/>
                          <a:cs typeface="Consolas"/>
                          <a:sym typeface="Consolas"/>
                        </a:rPr>
                        <a:t>/diff</a:t>
                      </a:r>
                    </a:p>
                  </a:txBody>
                  <a:tcPr marL="13716" marR="13716" marT="13716" marB="13716" anchor="ctr" anchorCtr="0" horzOverflow="overflow">
                    <a:solidFill>
                      <a:srgbClr val="CADCFC"/>
                    </a:solidFill>
                  </a:tcPr>
                </a:tc>
                <a:tc>
                  <a:txBody>
                    <a:bodyPr/>
                    <a:lstStyle/>
                    <a:p>
                      <a:pPr algn="l">
                        <a:defRPr sz="1800"/>
                      </a:pPr>
                      <a:r>
                        <a:rPr sz="1000">
                          <a:solidFill>
                            <a:srgbClr val="222633"/>
                          </a:solidFill>
                          <a:latin typeface="Meiryo"/>
                          <a:ea typeface="Meiryo"/>
                          <a:cs typeface="Meiryo"/>
                          <a:sym typeface="Meiryo"/>
                        </a:rPr>
                        <a:t>未コミットの変更を差分ビューアで確認する</a:t>
                      </a:r>
                    </a:p>
                  </a:txBody>
                  <a:tcPr marL="13716" marR="13716" marT="13716" marB="13716" anchor="ctr" anchorCtr="0" horzOverflow="overflow">
                    <a:solidFill>
                      <a:srgbClr val="CADCFC"/>
                    </a:solidFill>
                  </a:tcPr>
                </a:tc>
              </a:tr>
              <a:tr h="386541">
                <a:tc>
                  <a:txBody>
                    <a:bodyPr/>
                    <a:lstStyle/>
                    <a:p>
                      <a:pPr algn="l">
                        <a:defRPr sz="1800"/>
                      </a:pPr>
                      <a:r>
                        <a:rPr b="1" sz="1100">
                          <a:solidFill>
                            <a:srgbClr val="1E2761"/>
                          </a:solidFill>
                          <a:latin typeface="Consolas"/>
                          <a:ea typeface="Consolas"/>
                          <a:cs typeface="Consolas"/>
                          <a:sym typeface="Consolas"/>
                        </a:rPr>
                        <a:t>/compact</a:t>
                      </a:r>
                    </a:p>
                  </a:txBody>
                  <a:tcPr marL="13716" marR="13716" marT="13716" marB="13716" anchor="ctr" anchorCtr="0" horzOverflow="overflow">
                    <a:solidFill>
                      <a:srgbClr val="FFFFFF"/>
                    </a:solidFill>
                  </a:tcPr>
                </a:tc>
                <a:tc>
                  <a:txBody>
                    <a:bodyPr/>
                    <a:lstStyle/>
                    <a:p>
                      <a:pPr algn="l">
                        <a:defRPr sz="1800"/>
                      </a:pPr>
                      <a:r>
                        <a:rPr sz="1000">
                          <a:solidFill>
                            <a:srgbClr val="222633"/>
                          </a:solidFill>
                          <a:latin typeface="Meiryo"/>
                          <a:ea typeface="Meiryo"/>
                          <a:cs typeface="Meiryo"/>
                          <a:sym typeface="Meiryo"/>
                        </a:rPr>
                        <a:t>会話を要約して文脈を節約する（同じ会話を継続）</a:t>
                      </a:r>
                    </a:p>
                  </a:txBody>
                  <a:tcPr marL="13716" marR="13716" marT="13716" marB="13716" anchor="ctr" anchorCtr="0" horzOverflow="overflow">
                    <a:solidFill>
                      <a:srgbClr val="FFFFFF"/>
                    </a:solidFill>
                  </a:tcPr>
                </a:tc>
              </a:tr>
              <a:tr h="386541">
                <a:tc>
                  <a:txBody>
                    <a:bodyPr/>
                    <a:lstStyle/>
                    <a:p>
                      <a:pPr algn="l">
                        <a:defRPr sz="1800"/>
                      </a:pPr>
                      <a:r>
                        <a:rPr b="1" sz="1100">
                          <a:solidFill>
                            <a:srgbClr val="1E2761"/>
                          </a:solidFill>
                          <a:latin typeface="Consolas"/>
                          <a:ea typeface="Consolas"/>
                          <a:cs typeface="Consolas"/>
                          <a:sym typeface="Consolas"/>
                        </a:rPr>
                        <a:t>/usage</a:t>
                      </a:r>
                    </a:p>
                  </a:txBody>
                  <a:tcPr marL="13716" marR="13716" marT="13716" marB="13716" anchor="ctr" anchorCtr="0" horzOverflow="overflow">
                    <a:solidFill>
                      <a:srgbClr val="CADCFC"/>
                    </a:solidFill>
                  </a:tcPr>
                </a:tc>
                <a:tc>
                  <a:txBody>
                    <a:bodyPr/>
                    <a:lstStyle/>
                    <a:p>
                      <a:pPr algn="l">
                        <a:defRPr sz="1800"/>
                      </a:pPr>
                      <a:r>
                        <a:rPr sz="1000">
                          <a:solidFill>
                            <a:srgbClr val="222633"/>
                          </a:solidFill>
                          <a:latin typeface="Meiryo"/>
                          <a:ea typeface="Meiryo"/>
                          <a:cs typeface="Meiryo"/>
                          <a:sym typeface="Meiryo"/>
                        </a:rPr>
                        <a:t>利用量・週次上限・コストを確認する。別名 /cost</a:t>
                      </a:r>
                    </a:p>
                  </a:txBody>
                  <a:tcPr marL="13716" marR="13716" marT="13716" marB="13716" anchor="ctr" anchorCtr="0" horzOverflow="overflow">
                    <a:solidFill>
                      <a:srgbClr val="CADCFC"/>
                    </a:solidFill>
                  </a:tcPr>
                </a:tc>
              </a:tr>
              <a:tr h="386541">
                <a:tc>
                  <a:txBody>
                    <a:bodyPr/>
                    <a:lstStyle/>
                    <a:p>
                      <a:pPr algn="l">
                        <a:defRPr sz="1800"/>
                      </a:pPr>
                      <a:r>
                        <a:rPr b="1" sz="1100">
                          <a:solidFill>
                            <a:srgbClr val="1E2761"/>
                          </a:solidFill>
                          <a:latin typeface="Consolas"/>
                          <a:ea typeface="Consolas"/>
                          <a:cs typeface="Consolas"/>
                          <a:sym typeface="Consolas"/>
                        </a:rPr>
                        <a:t>/copy</a:t>
                      </a:r>
                    </a:p>
                  </a:txBody>
                  <a:tcPr marL="13716" marR="13716" marT="13716" marB="13716" anchor="ctr" anchorCtr="0" horzOverflow="overflow">
                    <a:solidFill>
                      <a:srgbClr val="FFFFFF"/>
                    </a:solidFill>
                  </a:tcPr>
                </a:tc>
                <a:tc>
                  <a:txBody>
                    <a:bodyPr/>
                    <a:lstStyle/>
                    <a:p>
                      <a:pPr algn="l">
                        <a:defRPr sz="1800"/>
                      </a:pPr>
                      <a:r>
                        <a:rPr sz="1000">
                          <a:solidFill>
                            <a:srgbClr val="222633"/>
                          </a:solidFill>
                          <a:latin typeface="Meiryo"/>
                          <a:ea typeface="Meiryo"/>
                          <a:cs typeface="Meiryo"/>
                          <a:sym typeface="Meiryo"/>
                        </a:rPr>
                        <a:t>直前の回答をコピー（要約やレビュー結果を貼り付け）</a:t>
                      </a:r>
                    </a:p>
                  </a:txBody>
                  <a:tcPr marL="13716" marR="13716" marT="13716" marB="13716" anchor="ctr" anchorCtr="0" horzOverflow="overflow">
                    <a:solidFill>
                      <a:srgbClr val="FFFFFF"/>
                    </a:solidFill>
                  </a:tcPr>
                </a:tc>
              </a:tr>
              <a:tr h="386541">
                <a:tc>
                  <a:txBody>
                    <a:bodyPr/>
                    <a:lstStyle/>
                    <a:p>
                      <a:pPr algn="l">
                        <a:defRPr sz="1800"/>
                      </a:pPr>
                      <a:r>
                        <a:rPr b="1" sz="1100">
                          <a:solidFill>
                            <a:srgbClr val="1E2761"/>
                          </a:solidFill>
                          <a:latin typeface="Consolas"/>
                          <a:ea typeface="Consolas"/>
                          <a:cs typeface="Consolas"/>
                          <a:sym typeface="Consolas"/>
                        </a:rPr>
                        <a:t>/config</a:t>
                      </a:r>
                    </a:p>
                  </a:txBody>
                  <a:tcPr marL="13716" marR="13716" marT="13716" marB="13716" anchor="ctr" anchorCtr="0" horzOverflow="overflow">
                    <a:solidFill>
                      <a:srgbClr val="CADCFC"/>
                    </a:solidFill>
                  </a:tcPr>
                </a:tc>
                <a:tc>
                  <a:txBody>
                    <a:bodyPr/>
                    <a:lstStyle/>
                    <a:p>
                      <a:pPr algn="l">
                        <a:defRPr sz="1800"/>
                      </a:pPr>
                      <a:r>
                        <a:rPr sz="1000">
                          <a:solidFill>
                            <a:srgbClr val="222633"/>
                          </a:solidFill>
                          <a:latin typeface="Meiryo"/>
                          <a:ea typeface="Meiryo"/>
                          <a:cs typeface="Meiryo"/>
                          <a:sym typeface="Meiryo"/>
                        </a:rPr>
                        <a:t>設定（テーマ・モデル・表示）。別名 /settings</a:t>
                      </a:r>
                    </a:p>
                  </a:txBody>
                  <a:tcPr marL="13716" marR="13716" marT="13716" marB="13716" anchor="ctr" anchorCtr="0" horzOverflow="overflow">
                    <a:solidFill>
                      <a:srgbClr val="CADCFC"/>
                    </a:solidFill>
                  </a:tcPr>
                </a:tc>
              </a:tr>
              <a:tr h="386541">
                <a:tc>
                  <a:txBody>
                    <a:bodyPr/>
                    <a:lstStyle/>
                    <a:p>
                      <a:pPr algn="l">
                        <a:defRPr sz="1800"/>
                      </a:pPr>
                      <a:r>
                        <a:rPr b="1" sz="1100">
                          <a:solidFill>
                            <a:srgbClr val="1E2761"/>
                          </a:solidFill>
                          <a:latin typeface="Consolas"/>
                          <a:ea typeface="Consolas"/>
                          <a:cs typeface="Consolas"/>
                          <a:sym typeface="Consolas"/>
                        </a:rPr>
                        <a:t>/login</a:t>
                      </a:r>
                    </a:p>
                  </a:txBody>
                  <a:tcPr marL="13716" marR="13716" marT="13716" marB="13716" anchor="ctr" anchorCtr="0" horzOverflow="overflow">
                    <a:solidFill>
                      <a:srgbClr val="FFFFFF"/>
                    </a:solidFill>
                  </a:tcPr>
                </a:tc>
                <a:tc>
                  <a:txBody>
                    <a:bodyPr/>
                    <a:lstStyle/>
                    <a:p>
                      <a:pPr algn="l">
                        <a:defRPr sz="1800"/>
                      </a:pPr>
                      <a:r>
                        <a:rPr sz="1000">
                          <a:solidFill>
                            <a:srgbClr val="222633"/>
                          </a:solidFill>
                          <a:latin typeface="Meiryo"/>
                          <a:ea typeface="Meiryo"/>
                          <a:cs typeface="Meiryo"/>
                          <a:sym typeface="Meiryo"/>
                        </a:rPr>
                        <a:t>サインインする（/logout でサインアウト）</a:t>
                      </a:r>
                    </a:p>
                  </a:txBody>
                  <a:tcPr marL="13716" marR="13716" marT="13716" marB="13716" anchor="ctr" anchorCtr="0" horzOverflow="overflow">
                    <a:solidFill>
                      <a:srgbClr val="FFFFFF"/>
                    </a:solidFill>
                  </a:tcPr>
                </a:tc>
              </a:tr>
              <a:tr h="386550">
                <a:tc>
                  <a:txBody>
                    <a:bodyPr/>
                    <a:lstStyle/>
                    <a:p>
                      <a:pPr algn="l">
                        <a:defRPr sz="1800"/>
                      </a:pPr>
                      <a:r>
                        <a:rPr b="1" sz="1100">
                          <a:solidFill>
                            <a:srgbClr val="1E2761"/>
                          </a:solidFill>
                          <a:latin typeface="Consolas"/>
                          <a:ea typeface="Consolas"/>
                          <a:cs typeface="Consolas"/>
                          <a:sym typeface="Consolas"/>
                        </a:rPr>
                        <a:t>/help</a:t>
                      </a:r>
                    </a:p>
                  </a:txBody>
                  <a:tcPr marL="13716" marR="13716" marT="13716" marB="13716" anchor="ctr" anchorCtr="0" horzOverflow="overflow">
                    <a:solidFill>
                      <a:srgbClr val="CADCFC"/>
                    </a:solidFill>
                  </a:tcPr>
                </a:tc>
                <a:tc>
                  <a:txBody>
                    <a:bodyPr/>
                    <a:lstStyle/>
                    <a:p>
                      <a:pPr algn="l">
                        <a:defRPr sz="1800"/>
                      </a:pPr>
                      <a:r>
                        <a:rPr sz="1000">
                          <a:solidFill>
                            <a:srgbClr val="222633"/>
                          </a:solidFill>
                          <a:latin typeface="Meiryo"/>
                          <a:ea typeface="Meiryo"/>
                          <a:cs typeface="Meiryo"/>
                          <a:sym typeface="Meiryo"/>
                        </a:rPr>
                        <a:t>コマンド一覧を表示する</a:t>
                      </a:r>
                    </a:p>
                  </a:txBody>
                  <a:tcPr marL="13716" marR="13716" marT="13716" marB="13716" anchor="ctr" anchorCtr="0" horzOverflow="overflow">
                    <a:solidFill>
                      <a:srgbClr val="CADCFC"/>
                    </a:solidFill>
                  </a:tcPr>
                </a:tc>
              </a:tr>
            </a:tbl>
          </a:graphicData>
        </a:graphic>
      </p:graphicFrame>
      <p:sp>
        <p:nvSpPr>
          <p:cNvPr id="645" name="TextBox 625"/>
          <p:cNvSpPr txBox="1"/>
          <p:nvPr/>
        </p:nvSpPr>
        <p:spPr>
          <a:xfrm>
            <a:off x="548639" y="5715000"/>
            <a:ext cx="1110996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555B6E"/>
                </a:solidFill>
                <a:latin typeface="Meiryo"/>
                <a:ea typeface="Meiryo"/>
                <a:cs typeface="Meiryo"/>
                <a:sym typeface="Meiryo"/>
              </a:defRPr>
            </a:lvl1pPr>
          </a:lstStyle>
          <a:p>
            <a:pPr/>
            <a:r>
              <a:t>※ Esc=実行を中断 ／ Shift+Enter=改行（複数行）／ @ファイル名=ファイル参照 ／ 画像を貼り付けて質問も可</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7" name="Rectangle 1"/>
          <p:cNvSpPr/>
          <p:nvPr/>
        </p:nvSpPr>
        <p:spPr>
          <a:xfrm>
            <a:off x="-1" y="0"/>
            <a:ext cx="12191697" cy="6858000"/>
          </a:xfrm>
          <a:prstGeom prst="rect">
            <a:avLst/>
          </a:prstGeom>
          <a:solidFill>
            <a:srgbClr val="1E2761"/>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48" name="Rectangle 2"/>
          <p:cNvSpPr/>
          <p:nvPr/>
        </p:nvSpPr>
        <p:spPr>
          <a:xfrm>
            <a:off x="-1" y="-2"/>
            <a:ext cx="12191697" cy="411484"/>
          </a:xfrm>
          <a:prstGeom prst="rect">
            <a:avLst/>
          </a:prstGeom>
          <a:solidFill>
            <a:srgbClr val="B85042"/>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49" name="TextBox 3"/>
          <p:cNvSpPr txBox="1"/>
          <p:nvPr/>
        </p:nvSpPr>
        <p:spPr>
          <a:xfrm>
            <a:off x="822960" y="914399"/>
            <a:ext cx="10515601"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b="1" sz="3200">
                <a:solidFill>
                  <a:srgbClr val="FFFFFF"/>
                </a:solidFill>
                <a:latin typeface="Meiryo"/>
                <a:ea typeface="Meiryo"/>
                <a:cs typeface="Meiryo"/>
                <a:sym typeface="Meiryo"/>
              </a:defRPr>
            </a:lvl1pPr>
          </a:lstStyle>
          <a:p>
            <a:pPr/>
            <a:r>
              <a:t>ケース別 手順の まとめ</a:t>
            </a:r>
          </a:p>
        </p:txBody>
      </p:sp>
      <p:sp>
        <p:nvSpPr>
          <p:cNvPr id="650" name="TextBox 4"/>
          <p:cNvSpPr txBox="1"/>
          <p:nvPr/>
        </p:nvSpPr>
        <p:spPr>
          <a:xfrm>
            <a:off x="822960" y="2285998"/>
            <a:ext cx="10515601" cy="195580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a:solidFill>
                  <a:srgbClr val="CADCFC"/>
                </a:solidFill>
                <a:latin typeface="Meiryo"/>
                <a:ea typeface="Meiryo"/>
                <a:cs typeface="Meiryo"/>
                <a:sym typeface="Meiryo"/>
              </a:defRPr>
            </a:pPr>
            <a:r>
              <a:t>✓ 軽量 = clarify / analyze を省略、フル = 全工程</a:t>
            </a:r>
          </a:p>
          <a:p>
            <a:pPr>
              <a:spcBef>
                <a:spcPts val="200"/>
              </a:spcBef>
              <a:defRPr>
                <a:solidFill>
                  <a:srgbClr val="CADCFC"/>
                </a:solidFill>
                <a:latin typeface="Meiryo"/>
                <a:ea typeface="Meiryo"/>
                <a:cs typeface="Meiryo"/>
                <a:sym typeface="Meiryo"/>
              </a:defRPr>
            </a:pPr>
            <a:r>
              <a:t>✓ 作業ブランチは specify が自動命名（連番 NNN-…）</a:t>
            </a:r>
          </a:p>
          <a:p>
            <a:pPr>
              <a:spcBef>
                <a:spcPts val="200"/>
              </a:spcBef>
              <a:defRPr>
                <a:solidFill>
                  <a:srgbClr val="CADCFC"/>
                </a:solidFill>
                <a:latin typeface="Meiryo"/>
                <a:ea typeface="Meiryo"/>
                <a:cs typeface="Meiryo"/>
                <a:sym typeface="Meiryo"/>
              </a:defRPr>
            </a:pPr>
            <a:r>
              <a:t>✓ 制度設計は clarify で PM が判断する</a:t>
            </a:r>
          </a:p>
          <a:p>
            <a:pPr>
              <a:spcBef>
                <a:spcPts val="200"/>
              </a:spcBef>
              <a:defRPr>
                <a:solidFill>
                  <a:srgbClr val="CADCFC"/>
                </a:solidFill>
                <a:latin typeface="Meiryo"/>
                <a:ea typeface="Meiryo"/>
                <a:cs typeface="Meiryo"/>
                <a:sym typeface="Meiryo"/>
              </a:defRPr>
            </a:pPr>
            <a:r>
              <a:t>✓ 破壊的変更は全体WGの確認を経る</a:t>
            </a:r>
          </a:p>
          <a:p>
            <a:pPr>
              <a:spcBef>
                <a:spcPts val="200"/>
              </a:spcBef>
              <a:defRPr>
                <a:solidFill>
                  <a:srgbClr val="CADCFC"/>
                </a:solidFill>
                <a:latin typeface="Meiryo"/>
                <a:ea typeface="Meiryo"/>
                <a:cs typeface="Meiryo"/>
                <a:sym typeface="Meiryo"/>
              </a:defRPr>
            </a:pPr>
            <a:r>
              <a:t>✓ コミット／PR／マージは人間がレビュー後に実施</a:t>
            </a:r>
          </a:p>
        </p:txBody>
      </p:sp>
      <p:sp>
        <p:nvSpPr>
          <p:cNvPr id="651" name="TextBox 5"/>
          <p:cNvSpPr txBox="1"/>
          <p:nvPr/>
        </p:nvSpPr>
        <p:spPr>
          <a:xfrm>
            <a:off x="457200" y="6446520"/>
            <a:ext cx="82296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200"/>
              </a:spcBef>
              <a:defRPr sz="900">
                <a:solidFill>
                  <a:srgbClr val="6B7280"/>
                </a:solidFill>
                <a:latin typeface="Meiryo"/>
                <a:ea typeface="Meiryo"/>
                <a:cs typeface="Meiryo"/>
                <a:sym typeface="Meiryo"/>
              </a:defRPr>
            </a:lvl1pPr>
          </a:lstStyle>
          <a:p>
            <a:pPr/>
            <a:r>
              <a:t>JP Core / アドミニストレーションWG  —  Issue の手動改善 手順書（ケース別）</a:t>
            </a:r>
          </a:p>
        </p:txBody>
      </p:sp>
      <p:sp>
        <p:nvSpPr>
          <p:cNvPr id="652" name="スライド番号"/>
          <p:cNvSpPr txBox="1"/>
          <p:nvPr>
            <p:ph type="sldNum" sz="quarter" idx="4294967295"/>
          </p:nvPr>
        </p:nvSpPr>
        <p:spPr>
          <a:xfrm>
            <a:off x="11615880" y="6392219"/>
            <a:ext cx="258620" cy="2483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